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2" r:id="rId2"/>
    <p:sldId id="290" r:id="rId3"/>
    <p:sldId id="257" r:id="rId4"/>
    <p:sldId id="306" r:id="rId5"/>
    <p:sldId id="299" r:id="rId6"/>
    <p:sldId id="301" r:id="rId7"/>
    <p:sldId id="307" r:id="rId8"/>
    <p:sldId id="308" r:id="rId9"/>
    <p:sldId id="309" r:id="rId10"/>
    <p:sldId id="305" r:id="rId11"/>
    <p:sldId id="287" r:id="rId12"/>
    <p:sldId id="288" r:id="rId13"/>
  </p:sldIdLst>
  <p:sldSz cx="12192000" cy="6858000"/>
  <p:notesSz cx="6858000" cy="9144000"/>
  <p:defaultTextStyle>
    <a:defPPr>
      <a:defRPr lang="zh-S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2C2C2"/>
    <a:srgbClr val="453E3C"/>
    <a:srgbClr val="FCFCFC"/>
    <a:srgbClr val="F8F8F8"/>
    <a:srgbClr val="7788A5"/>
    <a:srgbClr val="616F87"/>
    <a:srgbClr val="1364A7"/>
    <a:srgbClr val="0074E8"/>
    <a:srgbClr val="005B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31"/>
    <p:restoredTop sz="96274"/>
  </p:normalViewPr>
  <p:slideViewPr>
    <p:cSldViewPr snapToGrid="0">
      <p:cViewPr varScale="1">
        <p:scale>
          <a:sx n="136" d="100"/>
          <a:sy n="136" d="100"/>
        </p:scale>
        <p:origin x="68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SG"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SG" altLang="en-US"/>
          </a:p>
        </p:txBody>
      </p:sp>
      <p:sp>
        <p:nvSpPr>
          <p:cNvPr id="4" name="日期占位符 3"/>
          <p:cNvSpPr>
            <a:spLocks noGrp="1"/>
          </p:cNvSpPr>
          <p:nvPr>
            <p:ph type="dt" sz="half" idx="10"/>
          </p:nvPr>
        </p:nvSpPr>
        <p:spPr/>
        <p:txBody>
          <a:bodyPr/>
          <a:lstStyle/>
          <a:p>
            <a:fld id="{25ACB278-04E9-FD4B-A45C-EC9071BCB1B7}" type="datetimeFigureOut">
              <a:rPr kumimoji="1" lang="zh-SG" altLang="en-US" smtClean="0"/>
              <a:t>09/03/26</a:t>
            </a:fld>
            <a:endParaRPr kumimoji="1" lang="zh-SG" altLang="en-US"/>
          </a:p>
        </p:txBody>
      </p:sp>
      <p:sp>
        <p:nvSpPr>
          <p:cNvPr id="5" name="页脚占位符 4"/>
          <p:cNvSpPr>
            <a:spLocks noGrp="1"/>
          </p:cNvSpPr>
          <p:nvPr>
            <p:ph type="ftr" sz="quarter" idx="11"/>
          </p:nvPr>
        </p:nvSpPr>
        <p:spPr/>
        <p:txBody>
          <a:bodyPr/>
          <a:lstStyle/>
          <a:p>
            <a:endParaRPr kumimoji="1" lang="zh-SG" altLang="en-US"/>
          </a:p>
        </p:txBody>
      </p:sp>
      <p:sp>
        <p:nvSpPr>
          <p:cNvPr id="6" name="灯片编号占位符 5"/>
          <p:cNvSpPr>
            <a:spLocks noGrp="1"/>
          </p:cNvSpPr>
          <p:nvPr>
            <p:ph type="sldNum" sz="quarter" idx="12"/>
          </p:nvPr>
        </p:nvSpPr>
        <p:spPr/>
        <p:txBody>
          <a:bodyPr/>
          <a:lstStyle/>
          <a:p>
            <a:fld id="{C8C45091-6023-7B4F-B352-2A2AD8608C8F}" type="slidenum">
              <a:rPr kumimoji="1" lang="zh-SG" altLang="en-US" smtClean="0"/>
              <a:t>‹#›</a:t>
            </a:fld>
            <a:endParaRPr kumimoji="1" lang="zh-SG"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SG" altLang="en-US"/>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SG" altLang="en-US"/>
          </a:p>
        </p:txBody>
      </p:sp>
      <p:sp>
        <p:nvSpPr>
          <p:cNvPr id="4" name="日期占位符 3"/>
          <p:cNvSpPr>
            <a:spLocks noGrp="1"/>
          </p:cNvSpPr>
          <p:nvPr>
            <p:ph type="dt" sz="half" idx="10"/>
          </p:nvPr>
        </p:nvSpPr>
        <p:spPr/>
        <p:txBody>
          <a:bodyPr/>
          <a:lstStyle/>
          <a:p>
            <a:fld id="{25ACB278-04E9-FD4B-A45C-EC9071BCB1B7}" type="datetimeFigureOut">
              <a:rPr kumimoji="1" lang="zh-SG" altLang="en-US" smtClean="0"/>
              <a:t>09/03/26</a:t>
            </a:fld>
            <a:endParaRPr kumimoji="1" lang="zh-SG" altLang="en-US"/>
          </a:p>
        </p:txBody>
      </p:sp>
      <p:sp>
        <p:nvSpPr>
          <p:cNvPr id="5" name="页脚占位符 4"/>
          <p:cNvSpPr>
            <a:spLocks noGrp="1"/>
          </p:cNvSpPr>
          <p:nvPr>
            <p:ph type="ftr" sz="quarter" idx="11"/>
          </p:nvPr>
        </p:nvSpPr>
        <p:spPr/>
        <p:txBody>
          <a:bodyPr/>
          <a:lstStyle/>
          <a:p>
            <a:endParaRPr kumimoji="1" lang="zh-SG" altLang="en-US"/>
          </a:p>
        </p:txBody>
      </p:sp>
      <p:sp>
        <p:nvSpPr>
          <p:cNvPr id="6" name="灯片编号占位符 5"/>
          <p:cNvSpPr>
            <a:spLocks noGrp="1"/>
          </p:cNvSpPr>
          <p:nvPr>
            <p:ph type="sldNum" sz="quarter" idx="12"/>
          </p:nvPr>
        </p:nvSpPr>
        <p:spPr/>
        <p:txBody>
          <a:bodyPr/>
          <a:lstStyle/>
          <a:p>
            <a:fld id="{C8C45091-6023-7B4F-B352-2A2AD8608C8F}" type="slidenum">
              <a:rPr kumimoji="1" lang="zh-SG" altLang="en-US" smtClean="0"/>
              <a:t>‹#›</a:t>
            </a:fld>
            <a:endParaRPr kumimoji="1" lang="zh-SG"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SG"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25ACB278-04E9-FD4B-A45C-EC9071BCB1B7}" type="datetimeFigureOut">
              <a:rPr kumimoji="1" lang="zh-SG" altLang="en-US" smtClean="0"/>
              <a:t>09/03/26</a:t>
            </a:fld>
            <a:endParaRPr kumimoji="1" lang="zh-SG" altLang="en-US"/>
          </a:p>
        </p:txBody>
      </p:sp>
      <p:sp>
        <p:nvSpPr>
          <p:cNvPr id="5" name="页脚占位符 4"/>
          <p:cNvSpPr>
            <a:spLocks noGrp="1"/>
          </p:cNvSpPr>
          <p:nvPr>
            <p:ph type="ftr" sz="quarter" idx="11"/>
          </p:nvPr>
        </p:nvSpPr>
        <p:spPr/>
        <p:txBody>
          <a:bodyPr/>
          <a:lstStyle/>
          <a:p>
            <a:endParaRPr kumimoji="1" lang="zh-SG" altLang="en-US"/>
          </a:p>
        </p:txBody>
      </p:sp>
      <p:sp>
        <p:nvSpPr>
          <p:cNvPr id="6" name="灯片编号占位符 5"/>
          <p:cNvSpPr>
            <a:spLocks noGrp="1"/>
          </p:cNvSpPr>
          <p:nvPr>
            <p:ph type="sldNum" sz="quarter" idx="12"/>
          </p:nvPr>
        </p:nvSpPr>
        <p:spPr/>
        <p:txBody>
          <a:bodyPr/>
          <a:lstStyle/>
          <a:p>
            <a:fld id="{C8C45091-6023-7B4F-B352-2A2AD8608C8F}" type="slidenum">
              <a:rPr kumimoji="1" lang="zh-SG" altLang="en-US" smtClean="0"/>
              <a:t>‹#›</a:t>
            </a:fld>
            <a:endParaRPr kumimoji="1" lang="zh-SG"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SG"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SG"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SG" altLang="en-US"/>
          </a:p>
        </p:txBody>
      </p:sp>
      <p:sp>
        <p:nvSpPr>
          <p:cNvPr id="5" name="日期占位符 4"/>
          <p:cNvSpPr>
            <a:spLocks noGrp="1"/>
          </p:cNvSpPr>
          <p:nvPr>
            <p:ph type="dt" sz="half" idx="10"/>
          </p:nvPr>
        </p:nvSpPr>
        <p:spPr/>
        <p:txBody>
          <a:bodyPr/>
          <a:lstStyle/>
          <a:p>
            <a:fld id="{25ACB278-04E9-FD4B-A45C-EC9071BCB1B7}" type="datetimeFigureOut">
              <a:rPr kumimoji="1" lang="zh-SG" altLang="en-US" smtClean="0"/>
              <a:t>09/03/26</a:t>
            </a:fld>
            <a:endParaRPr kumimoji="1" lang="zh-SG" altLang="en-US"/>
          </a:p>
        </p:txBody>
      </p:sp>
      <p:sp>
        <p:nvSpPr>
          <p:cNvPr id="6" name="页脚占位符 5"/>
          <p:cNvSpPr>
            <a:spLocks noGrp="1"/>
          </p:cNvSpPr>
          <p:nvPr>
            <p:ph type="ftr" sz="quarter" idx="11"/>
          </p:nvPr>
        </p:nvSpPr>
        <p:spPr/>
        <p:txBody>
          <a:bodyPr/>
          <a:lstStyle/>
          <a:p>
            <a:endParaRPr kumimoji="1" lang="zh-SG" altLang="en-US"/>
          </a:p>
        </p:txBody>
      </p:sp>
      <p:sp>
        <p:nvSpPr>
          <p:cNvPr id="7" name="灯片编号占位符 6"/>
          <p:cNvSpPr>
            <a:spLocks noGrp="1"/>
          </p:cNvSpPr>
          <p:nvPr>
            <p:ph type="sldNum" sz="quarter" idx="12"/>
          </p:nvPr>
        </p:nvSpPr>
        <p:spPr/>
        <p:txBody>
          <a:bodyPr/>
          <a:lstStyle/>
          <a:p>
            <a:fld id="{C8C45091-6023-7B4F-B352-2A2AD8608C8F}" type="slidenum">
              <a:rPr kumimoji="1" lang="zh-SG" altLang="en-US" smtClean="0"/>
              <a:t>‹#›</a:t>
            </a:fld>
            <a:endParaRPr kumimoji="1" lang="zh-SG"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SG"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SG"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SG" altLang="en-US"/>
          </a:p>
        </p:txBody>
      </p:sp>
      <p:sp>
        <p:nvSpPr>
          <p:cNvPr id="7" name="日期占位符 6"/>
          <p:cNvSpPr>
            <a:spLocks noGrp="1"/>
          </p:cNvSpPr>
          <p:nvPr>
            <p:ph type="dt" sz="half" idx="10"/>
          </p:nvPr>
        </p:nvSpPr>
        <p:spPr/>
        <p:txBody>
          <a:bodyPr/>
          <a:lstStyle/>
          <a:p>
            <a:fld id="{25ACB278-04E9-FD4B-A45C-EC9071BCB1B7}" type="datetimeFigureOut">
              <a:rPr kumimoji="1" lang="zh-SG" altLang="en-US" smtClean="0"/>
              <a:t>09/03/26</a:t>
            </a:fld>
            <a:endParaRPr kumimoji="1" lang="zh-SG" altLang="en-US"/>
          </a:p>
        </p:txBody>
      </p:sp>
      <p:sp>
        <p:nvSpPr>
          <p:cNvPr id="8" name="页脚占位符 7"/>
          <p:cNvSpPr>
            <a:spLocks noGrp="1"/>
          </p:cNvSpPr>
          <p:nvPr>
            <p:ph type="ftr" sz="quarter" idx="11"/>
          </p:nvPr>
        </p:nvSpPr>
        <p:spPr/>
        <p:txBody>
          <a:bodyPr/>
          <a:lstStyle/>
          <a:p>
            <a:endParaRPr kumimoji="1" lang="zh-SG" altLang="en-US"/>
          </a:p>
        </p:txBody>
      </p:sp>
      <p:sp>
        <p:nvSpPr>
          <p:cNvPr id="9" name="灯片编号占位符 8"/>
          <p:cNvSpPr>
            <a:spLocks noGrp="1"/>
          </p:cNvSpPr>
          <p:nvPr>
            <p:ph type="sldNum" sz="quarter" idx="12"/>
          </p:nvPr>
        </p:nvSpPr>
        <p:spPr/>
        <p:txBody>
          <a:bodyPr/>
          <a:lstStyle/>
          <a:p>
            <a:fld id="{C8C45091-6023-7B4F-B352-2A2AD8608C8F}" type="slidenum">
              <a:rPr kumimoji="1" lang="zh-SG" altLang="en-US" smtClean="0"/>
              <a:t>‹#›</a:t>
            </a:fld>
            <a:endParaRPr kumimoji="1" lang="zh-SG"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SG" altLang="en-US"/>
          </a:p>
        </p:txBody>
      </p:sp>
      <p:sp>
        <p:nvSpPr>
          <p:cNvPr id="3" name="日期占位符 2"/>
          <p:cNvSpPr>
            <a:spLocks noGrp="1"/>
          </p:cNvSpPr>
          <p:nvPr>
            <p:ph type="dt" sz="half" idx="10"/>
          </p:nvPr>
        </p:nvSpPr>
        <p:spPr/>
        <p:txBody>
          <a:bodyPr/>
          <a:lstStyle/>
          <a:p>
            <a:fld id="{25ACB278-04E9-FD4B-A45C-EC9071BCB1B7}" type="datetimeFigureOut">
              <a:rPr kumimoji="1" lang="zh-SG" altLang="en-US" smtClean="0"/>
              <a:t>09/03/26</a:t>
            </a:fld>
            <a:endParaRPr kumimoji="1" lang="zh-SG" altLang="en-US"/>
          </a:p>
        </p:txBody>
      </p:sp>
      <p:sp>
        <p:nvSpPr>
          <p:cNvPr id="4" name="页脚占位符 3"/>
          <p:cNvSpPr>
            <a:spLocks noGrp="1"/>
          </p:cNvSpPr>
          <p:nvPr>
            <p:ph type="ftr" sz="quarter" idx="11"/>
          </p:nvPr>
        </p:nvSpPr>
        <p:spPr/>
        <p:txBody>
          <a:bodyPr/>
          <a:lstStyle/>
          <a:p>
            <a:endParaRPr kumimoji="1" lang="zh-SG" altLang="en-US"/>
          </a:p>
        </p:txBody>
      </p:sp>
      <p:sp>
        <p:nvSpPr>
          <p:cNvPr id="5" name="灯片编号占位符 4"/>
          <p:cNvSpPr>
            <a:spLocks noGrp="1"/>
          </p:cNvSpPr>
          <p:nvPr>
            <p:ph type="sldNum" sz="quarter" idx="12"/>
          </p:nvPr>
        </p:nvSpPr>
        <p:spPr/>
        <p:txBody>
          <a:bodyPr/>
          <a:lstStyle/>
          <a:p>
            <a:fld id="{C8C45091-6023-7B4F-B352-2A2AD8608C8F}" type="slidenum">
              <a:rPr kumimoji="1" lang="zh-SG" altLang="en-US" smtClean="0"/>
              <a:t>‹#›</a:t>
            </a:fld>
            <a:endParaRPr kumimoji="1" lang="zh-SG"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5ACB278-04E9-FD4B-A45C-EC9071BCB1B7}" type="datetimeFigureOut">
              <a:rPr kumimoji="1" lang="zh-SG" altLang="en-US" smtClean="0"/>
              <a:t>09/03/26</a:t>
            </a:fld>
            <a:endParaRPr kumimoji="1" lang="zh-SG" altLang="en-US"/>
          </a:p>
        </p:txBody>
      </p:sp>
      <p:sp>
        <p:nvSpPr>
          <p:cNvPr id="3" name="页脚占位符 2"/>
          <p:cNvSpPr>
            <a:spLocks noGrp="1"/>
          </p:cNvSpPr>
          <p:nvPr>
            <p:ph type="ftr" sz="quarter" idx="11"/>
          </p:nvPr>
        </p:nvSpPr>
        <p:spPr/>
        <p:txBody>
          <a:bodyPr/>
          <a:lstStyle/>
          <a:p>
            <a:endParaRPr kumimoji="1" lang="zh-SG" altLang="en-US"/>
          </a:p>
        </p:txBody>
      </p:sp>
      <p:sp>
        <p:nvSpPr>
          <p:cNvPr id="4" name="灯片编号占位符 3"/>
          <p:cNvSpPr>
            <a:spLocks noGrp="1"/>
          </p:cNvSpPr>
          <p:nvPr>
            <p:ph type="sldNum" sz="quarter" idx="12"/>
          </p:nvPr>
        </p:nvSpPr>
        <p:spPr/>
        <p:txBody>
          <a:bodyPr/>
          <a:lstStyle/>
          <a:p>
            <a:fld id="{C8C45091-6023-7B4F-B352-2A2AD8608C8F}" type="slidenum">
              <a:rPr kumimoji="1" lang="zh-SG" altLang="en-US" smtClean="0"/>
              <a:t>‹#›</a:t>
            </a:fld>
            <a:endParaRPr kumimoji="1" lang="zh-SG"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SG"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SG"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25ACB278-04E9-FD4B-A45C-EC9071BCB1B7}" type="datetimeFigureOut">
              <a:rPr kumimoji="1" lang="zh-SG" altLang="en-US" smtClean="0"/>
              <a:t>09/03/26</a:t>
            </a:fld>
            <a:endParaRPr kumimoji="1" lang="zh-SG" altLang="en-US"/>
          </a:p>
        </p:txBody>
      </p:sp>
      <p:sp>
        <p:nvSpPr>
          <p:cNvPr id="6" name="页脚占位符 5"/>
          <p:cNvSpPr>
            <a:spLocks noGrp="1"/>
          </p:cNvSpPr>
          <p:nvPr>
            <p:ph type="ftr" sz="quarter" idx="11"/>
          </p:nvPr>
        </p:nvSpPr>
        <p:spPr/>
        <p:txBody>
          <a:bodyPr/>
          <a:lstStyle/>
          <a:p>
            <a:endParaRPr kumimoji="1" lang="zh-SG" altLang="en-US"/>
          </a:p>
        </p:txBody>
      </p:sp>
      <p:sp>
        <p:nvSpPr>
          <p:cNvPr id="7" name="灯片编号占位符 6"/>
          <p:cNvSpPr>
            <a:spLocks noGrp="1"/>
          </p:cNvSpPr>
          <p:nvPr>
            <p:ph type="sldNum" sz="quarter" idx="12"/>
          </p:nvPr>
        </p:nvSpPr>
        <p:spPr/>
        <p:txBody>
          <a:bodyPr/>
          <a:lstStyle/>
          <a:p>
            <a:fld id="{C8C45091-6023-7B4F-B352-2A2AD8608C8F}" type="slidenum">
              <a:rPr kumimoji="1" lang="zh-SG" altLang="en-US" smtClean="0"/>
              <a:t>‹#›</a:t>
            </a:fld>
            <a:endParaRPr kumimoji="1" lang="zh-SG"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SG"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SG"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25ACB278-04E9-FD4B-A45C-EC9071BCB1B7}" type="datetimeFigureOut">
              <a:rPr kumimoji="1" lang="zh-SG" altLang="en-US" smtClean="0"/>
              <a:t>09/03/26</a:t>
            </a:fld>
            <a:endParaRPr kumimoji="1" lang="zh-SG" altLang="en-US"/>
          </a:p>
        </p:txBody>
      </p:sp>
      <p:sp>
        <p:nvSpPr>
          <p:cNvPr id="6" name="页脚占位符 5"/>
          <p:cNvSpPr>
            <a:spLocks noGrp="1"/>
          </p:cNvSpPr>
          <p:nvPr>
            <p:ph type="ftr" sz="quarter" idx="11"/>
          </p:nvPr>
        </p:nvSpPr>
        <p:spPr/>
        <p:txBody>
          <a:bodyPr/>
          <a:lstStyle/>
          <a:p>
            <a:endParaRPr kumimoji="1" lang="zh-SG" altLang="en-US"/>
          </a:p>
        </p:txBody>
      </p:sp>
      <p:sp>
        <p:nvSpPr>
          <p:cNvPr id="7" name="灯片编号占位符 6"/>
          <p:cNvSpPr>
            <a:spLocks noGrp="1"/>
          </p:cNvSpPr>
          <p:nvPr>
            <p:ph type="sldNum" sz="quarter" idx="12"/>
          </p:nvPr>
        </p:nvSpPr>
        <p:spPr/>
        <p:txBody>
          <a:bodyPr/>
          <a:lstStyle/>
          <a:p>
            <a:fld id="{C8C45091-6023-7B4F-B352-2A2AD8608C8F}" type="slidenum">
              <a:rPr kumimoji="1" lang="zh-SG" altLang="en-US" smtClean="0"/>
              <a:t>‹#›</a:t>
            </a:fld>
            <a:endParaRPr kumimoji="1" lang="zh-SG"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SG" altLang="en-US"/>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SG" altLang="en-US"/>
          </a:p>
        </p:txBody>
      </p:sp>
      <p:sp>
        <p:nvSpPr>
          <p:cNvPr id="4" name="日期占位符 3"/>
          <p:cNvSpPr>
            <a:spLocks noGrp="1"/>
          </p:cNvSpPr>
          <p:nvPr>
            <p:ph type="dt" sz="half" idx="10"/>
          </p:nvPr>
        </p:nvSpPr>
        <p:spPr/>
        <p:txBody>
          <a:bodyPr/>
          <a:lstStyle/>
          <a:p>
            <a:fld id="{25ACB278-04E9-FD4B-A45C-EC9071BCB1B7}" type="datetimeFigureOut">
              <a:rPr kumimoji="1" lang="zh-SG" altLang="en-US" smtClean="0"/>
              <a:t>09/03/26</a:t>
            </a:fld>
            <a:endParaRPr kumimoji="1" lang="zh-SG" altLang="en-US"/>
          </a:p>
        </p:txBody>
      </p:sp>
      <p:sp>
        <p:nvSpPr>
          <p:cNvPr id="5" name="页脚占位符 4"/>
          <p:cNvSpPr>
            <a:spLocks noGrp="1"/>
          </p:cNvSpPr>
          <p:nvPr>
            <p:ph type="ftr" sz="quarter" idx="11"/>
          </p:nvPr>
        </p:nvSpPr>
        <p:spPr/>
        <p:txBody>
          <a:bodyPr/>
          <a:lstStyle/>
          <a:p>
            <a:endParaRPr kumimoji="1" lang="zh-SG" altLang="en-US"/>
          </a:p>
        </p:txBody>
      </p:sp>
      <p:sp>
        <p:nvSpPr>
          <p:cNvPr id="6" name="灯片编号占位符 5"/>
          <p:cNvSpPr>
            <a:spLocks noGrp="1"/>
          </p:cNvSpPr>
          <p:nvPr>
            <p:ph type="sldNum" sz="quarter" idx="12"/>
          </p:nvPr>
        </p:nvSpPr>
        <p:spPr/>
        <p:txBody>
          <a:bodyPr/>
          <a:lstStyle/>
          <a:p>
            <a:fld id="{C8C45091-6023-7B4F-B352-2A2AD8608C8F}" type="slidenum">
              <a:rPr kumimoji="1" lang="zh-SG" altLang="en-US" smtClean="0"/>
              <a:t>‹#›</a:t>
            </a:fld>
            <a:endParaRPr kumimoji="1" lang="zh-SG"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SG"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SG" altLang="en-US"/>
          </a:p>
        </p:txBody>
      </p:sp>
      <p:sp>
        <p:nvSpPr>
          <p:cNvPr id="4" name="日期占位符 3"/>
          <p:cNvSpPr>
            <a:spLocks noGrp="1"/>
          </p:cNvSpPr>
          <p:nvPr>
            <p:ph type="dt" sz="half" idx="10"/>
          </p:nvPr>
        </p:nvSpPr>
        <p:spPr/>
        <p:txBody>
          <a:bodyPr/>
          <a:lstStyle/>
          <a:p>
            <a:fld id="{25ACB278-04E9-FD4B-A45C-EC9071BCB1B7}" type="datetimeFigureOut">
              <a:rPr kumimoji="1" lang="zh-SG" altLang="en-US" smtClean="0"/>
              <a:t>09/03/26</a:t>
            </a:fld>
            <a:endParaRPr kumimoji="1" lang="zh-SG" altLang="en-US"/>
          </a:p>
        </p:txBody>
      </p:sp>
      <p:sp>
        <p:nvSpPr>
          <p:cNvPr id="5" name="页脚占位符 4"/>
          <p:cNvSpPr>
            <a:spLocks noGrp="1"/>
          </p:cNvSpPr>
          <p:nvPr>
            <p:ph type="ftr" sz="quarter" idx="11"/>
          </p:nvPr>
        </p:nvSpPr>
        <p:spPr/>
        <p:txBody>
          <a:bodyPr/>
          <a:lstStyle/>
          <a:p>
            <a:endParaRPr kumimoji="1" lang="zh-SG" altLang="en-US"/>
          </a:p>
        </p:txBody>
      </p:sp>
      <p:sp>
        <p:nvSpPr>
          <p:cNvPr id="6" name="灯片编号占位符 5"/>
          <p:cNvSpPr>
            <a:spLocks noGrp="1"/>
          </p:cNvSpPr>
          <p:nvPr>
            <p:ph type="sldNum" sz="quarter" idx="12"/>
          </p:nvPr>
        </p:nvSpPr>
        <p:spPr/>
        <p:txBody>
          <a:bodyPr/>
          <a:lstStyle/>
          <a:p>
            <a:fld id="{C8C45091-6023-7B4F-B352-2A2AD8608C8F}" type="slidenum">
              <a:rPr kumimoji="1" lang="zh-SG" altLang="en-US" smtClean="0"/>
              <a:t>‹#›</a:t>
            </a:fld>
            <a:endParaRPr kumimoji="1" lang="zh-SG"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SG"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SG"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ACB278-04E9-FD4B-A45C-EC9071BCB1B7}" type="datetimeFigureOut">
              <a:rPr kumimoji="1" lang="zh-SG" altLang="en-US" smtClean="0"/>
              <a:t>09/03/26</a:t>
            </a:fld>
            <a:endParaRPr kumimoji="1" lang="zh-SG"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SG"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C45091-6023-7B4F-B352-2A2AD8608C8F}" type="slidenum">
              <a:rPr kumimoji="1" lang="zh-SG" altLang="en-US" smtClean="0"/>
              <a:t>‹#›</a:t>
            </a:fld>
            <a:endParaRPr kumimoji="1" lang="zh-SG"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S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3" Type="http://schemas.openxmlformats.org/officeDocument/2006/relationships/tags" Target="../tags/tag4.xml"/><Relationship Id="rId21" Type="http://schemas.openxmlformats.org/officeDocument/2006/relationships/tags" Target="../tags/tag22.xml"/><Relationship Id="rId34" Type="http://schemas.openxmlformats.org/officeDocument/2006/relationships/image" Target="../media/image2.png"/><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33" Type="http://schemas.openxmlformats.org/officeDocument/2006/relationships/image" Target="../media/image4.png"/><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tags" Target="../tags/tag30.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32" Type="http://schemas.openxmlformats.org/officeDocument/2006/relationships/slideLayout" Target="../slideLayouts/slideLayout2.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10" Type="http://schemas.openxmlformats.org/officeDocument/2006/relationships/tags" Target="../tags/tag11.xml"/><Relationship Id="rId19" Type="http://schemas.openxmlformats.org/officeDocument/2006/relationships/tags" Target="../tags/tag20.xml"/><Relationship Id="rId31" Type="http://schemas.openxmlformats.org/officeDocument/2006/relationships/tags" Target="../tags/tag32.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tags" Target="../tags/tag31.xml"/><Relationship Id="rId35" Type="http://schemas.openxmlformats.org/officeDocument/2006/relationships/image" Target="../media/image3.png"/><Relationship Id="rId8"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uilding with a lawn and a lawn&#10;&#10;AI-generated content may be incorrect."/>
          <p:cNvPicPr>
            <a:picLocks noChangeAspect="1"/>
          </p:cNvPicPr>
          <p:nvPr/>
        </p:nvPicPr>
        <p:blipFill>
          <a:blip r:embed="rId2"/>
          <a:srcRect l="45129"/>
          <a:stretch>
            <a:fillRect/>
          </a:stretch>
        </p:blipFill>
        <p:spPr>
          <a:xfrm>
            <a:off x="-1" y="0"/>
            <a:ext cx="7526155" cy="6858000"/>
          </a:xfrm>
          <a:prstGeom prst="rect">
            <a:avLst/>
          </a:prstGeom>
        </p:spPr>
      </p:pic>
      <p:sp>
        <p:nvSpPr>
          <p:cNvPr id="14" name="椭圆 13"/>
          <p:cNvSpPr/>
          <p:nvPr/>
        </p:nvSpPr>
        <p:spPr>
          <a:xfrm>
            <a:off x="4169514" y="-1577564"/>
            <a:ext cx="10671859" cy="9448097"/>
          </a:xfrm>
          <a:prstGeom prst="ellipse">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dirty="0"/>
          </a:p>
        </p:txBody>
      </p:sp>
      <p:sp>
        <p:nvSpPr>
          <p:cNvPr id="13" name="椭圆 12"/>
          <p:cNvSpPr/>
          <p:nvPr/>
        </p:nvSpPr>
        <p:spPr>
          <a:xfrm>
            <a:off x="4774636" y="-1984607"/>
            <a:ext cx="10671859" cy="9448097"/>
          </a:xfrm>
          <a:prstGeom prst="ellipse">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sp>
        <p:nvSpPr>
          <p:cNvPr id="3" name="副标题 2"/>
          <p:cNvSpPr>
            <a:spLocks noGrp="1"/>
          </p:cNvSpPr>
          <p:nvPr>
            <p:ph type="subTitle" idx="1"/>
          </p:nvPr>
        </p:nvSpPr>
        <p:spPr>
          <a:xfrm>
            <a:off x="5991086" y="3620106"/>
            <a:ext cx="5662650" cy="1655762"/>
          </a:xfrm>
        </p:spPr>
        <p:txBody>
          <a:bodyPr>
            <a:normAutofit/>
          </a:bodyPr>
          <a:lstStyle/>
          <a:p>
            <a:pPr algn="l"/>
            <a:r>
              <a:rPr kumimoji="1" lang="en-US" altLang="zh-SG" b="1" dirty="0">
                <a:solidFill>
                  <a:schemeClr val="bg1"/>
                </a:solidFill>
              </a:rPr>
              <a:t>Group 1</a:t>
            </a:r>
          </a:p>
          <a:p>
            <a:pPr algn="l"/>
            <a:endParaRPr kumimoji="1" lang="zh-SG" altLang="en-US" dirty="0">
              <a:solidFill>
                <a:schemeClr val="bg1"/>
              </a:solidFill>
            </a:endParaRPr>
          </a:p>
        </p:txBody>
      </p:sp>
      <p:grpSp>
        <p:nvGrpSpPr>
          <p:cNvPr id="15" name="Group 14"/>
          <p:cNvGrpSpPr/>
          <p:nvPr/>
        </p:nvGrpSpPr>
        <p:grpSpPr>
          <a:xfrm>
            <a:off x="9639635" y="-646"/>
            <a:ext cx="2801744" cy="639751"/>
            <a:chOff x="109411" y="4326"/>
            <a:chExt cx="2801744" cy="639751"/>
          </a:xfrm>
          <a:effectLst>
            <a:glow rad="63500">
              <a:schemeClr val="bg1">
                <a:alpha val="70000"/>
              </a:schemeClr>
            </a:glow>
          </a:effectLst>
        </p:grpSpPr>
        <p:pic>
          <p:nvPicPr>
            <p:cNvPr id="8" name="Picture 7" descr="A blue and black logo&#10;&#10;AI-generated content may be incorrect."/>
            <p:cNvPicPr>
              <a:picLocks noChangeAspect="1"/>
            </p:cNvPicPr>
            <p:nvPr/>
          </p:nvPicPr>
          <p:blipFill>
            <a:blip r:embed="rId3"/>
            <a:stretch>
              <a:fillRect/>
            </a:stretch>
          </p:blipFill>
          <p:spPr>
            <a:xfrm>
              <a:off x="1411738" y="4326"/>
              <a:ext cx="1499417" cy="639751"/>
            </a:xfrm>
            <a:prstGeom prst="rect">
              <a:avLst/>
            </a:prstGeom>
          </p:spPr>
        </p:pic>
        <p:pic>
          <p:nvPicPr>
            <p:cNvPr id="10" name="Picture 9" descr="A blue and white logo with a black background&#10;&#10;AI-generated content may be incorrect."/>
            <p:cNvPicPr>
              <a:picLocks noChangeAspect="1"/>
            </p:cNvPicPr>
            <p:nvPr/>
          </p:nvPicPr>
          <p:blipFill>
            <a:blip r:embed="rId4"/>
            <a:stretch>
              <a:fillRect/>
            </a:stretch>
          </p:blipFill>
          <p:spPr>
            <a:xfrm>
              <a:off x="109411" y="102746"/>
              <a:ext cx="1211828" cy="513623"/>
            </a:xfrm>
            <a:prstGeom prst="rect">
              <a:avLst/>
            </a:prstGeom>
          </p:spPr>
        </p:pic>
        <p:cxnSp>
          <p:nvCxnSpPr>
            <p:cNvPr id="12" name="Straight Connector 11"/>
            <p:cNvCxnSpPr/>
            <p:nvPr/>
          </p:nvCxnSpPr>
          <p:spPr>
            <a:xfrm flipV="1">
              <a:off x="1365994" y="55416"/>
              <a:ext cx="0" cy="513623"/>
            </a:xfrm>
            <a:prstGeom prst="line">
              <a:avLst/>
            </a:prstGeom>
          </p:spPr>
          <p:style>
            <a:lnRef idx="2">
              <a:schemeClr val="accent1"/>
            </a:lnRef>
            <a:fillRef idx="0">
              <a:schemeClr val="accent1"/>
            </a:fillRef>
            <a:effectRef idx="1">
              <a:schemeClr val="accent1"/>
            </a:effectRef>
            <a:fontRef idx="minor">
              <a:schemeClr val="tx1"/>
            </a:fontRef>
          </p:style>
        </p:cxnSp>
      </p:grpSp>
      <p:sp>
        <p:nvSpPr>
          <p:cNvPr id="16" name="标题 1"/>
          <p:cNvSpPr txBox="1"/>
          <p:nvPr/>
        </p:nvSpPr>
        <p:spPr>
          <a:xfrm>
            <a:off x="4690745" y="2146935"/>
            <a:ext cx="7630160" cy="7937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kumimoji="1" lang="en-US" altLang="zh-CN" sz="2800" b="1" dirty="0">
                <a:solidFill>
                  <a:schemeClr val="bg1"/>
                </a:solidFill>
              </a:rPr>
              <a:t>Fake News Detection and Analysis System for Online News and Social Media</a:t>
            </a:r>
          </a:p>
        </p:txBody>
      </p:sp>
      <p:graphicFrame>
        <p:nvGraphicFramePr>
          <p:cNvPr id="4" name="Table 3"/>
          <p:cNvGraphicFramePr>
            <a:graphicFrameLocks noGrp="1"/>
          </p:cNvGraphicFramePr>
          <p:nvPr/>
        </p:nvGraphicFramePr>
        <p:xfrm>
          <a:off x="7687584" y="3620106"/>
          <a:ext cx="4845962" cy="1463040"/>
        </p:xfrm>
        <a:graphic>
          <a:graphicData uri="http://schemas.openxmlformats.org/drawingml/2006/table">
            <a:tbl>
              <a:tblPr firstRow="1" bandRow="1">
                <a:tableStyleId>{5C22544A-7EE6-4342-B048-85BDC9FD1C3A}</a:tableStyleId>
              </a:tblPr>
              <a:tblGrid>
                <a:gridCol w="2422981">
                  <a:extLst>
                    <a:ext uri="{9D8B030D-6E8A-4147-A177-3AD203B41FA5}">
                      <a16:colId xmlns:a16="http://schemas.microsoft.com/office/drawing/2014/main" val="20000"/>
                    </a:ext>
                  </a:extLst>
                </a:gridCol>
                <a:gridCol w="2422981">
                  <a:extLst>
                    <a:ext uri="{9D8B030D-6E8A-4147-A177-3AD203B41FA5}">
                      <a16:colId xmlns:a16="http://schemas.microsoft.com/office/drawing/2014/main" val="20001"/>
                    </a:ext>
                  </a:extLst>
                </a:gridCol>
              </a:tblGrid>
              <a:tr h="354398">
                <a:tc>
                  <a:txBody>
                    <a:bodyPr/>
                    <a:lstStyle/>
                    <a:p>
                      <a:r>
                        <a:rPr lang="en-US" dirty="0">
                          <a:solidFill>
                            <a:schemeClr val="bg1"/>
                          </a:solidFill>
                        </a:rPr>
                        <a:t>Member 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dirty="0">
                          <a:solidFill>
                            <a:schemeClr val="bg1"/>
                          </a:solidFill>
                        </a:rPr>
                        <a:t>Matric No.</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54398">
                <a:tc>
                  <a:txBody>
                    <a:bodyPr/>
                    <a:lstStyle/>
                    <a:p>
                      <a:r>
                        <a:rPr lang="en-US" dirty="0">
                          <a:solidFill>
                            <a:schemeClr val="bg1"/>
                          </a:solidFill>
                        </a:rPr>
                        <a:t>Sun Yuchen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dirty="0">
                          <a:solidFill>
                            <a:schemeClr val="bg1"/>
                          </a:solidFill>
                        </a:rPr>
                        <a:t>A0326248B</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54398">
                <a:tc>
                  <a:txBody>
                    <a:bodyPr/>
                    <a:lstStyle/>
                    <a:p>
                      <a:r>
                        <a:rPr lang="en-US" dirty="0">
                          <a:solidFill>
                            <a:schemeClr val="bg1"/>
                          </a:solidFill>
                        </a:rPr>
                        <a:t>Zhang Yuxuan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dirty="0">
                          <a:solidFill>
                            <a:schemeClr val="bg1"/>
                          </a:solidFill>
                        </a:rPr>
                        <a:t>A0285664N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54398">
                <a:tc>
                  <a:txBody>
                    <a:bodyPr/>
                    <a:lstStyle/>
                    <a:p>
                      <a:r>
                        <a:rPr lang="en-US" dirty="0">
                          <a:solidFill>
                            <a:schemeClr val="bg1"/>
                          </a:solidFill>
                        </a:rPr>
                        <a:t>Zhao </a:t>
                      </a:r>
                      <a:r>
                        <a:rPr lang="en-US" dirty="0" err="1">
                          <a:solidFill>
                            <a:schemeClr val="bg1"/>
                          </a:solidFill>
                        </a:rPr>
                        <a:t>Jiahui</a:t>
                      </a:r>
                      <a:endParaRPr lang="en-US" dirty="0">
                        <a:solidFill>
                          <a:schemeClr val="bg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bg1"/>
                          </a:solidFill>
                        </a:rPr>
                        <a:t>A0329852U</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uilding with a lawn and a lawn&#10;&#10;AI-generated content may be incorrect."/>
          <p:cNvPicPr>
            <a:picLocks noChangeAspect="1"/>
          </p:cNvPicPr>
          <p:nvPr/>
        </p:nvPicPr>
        <p:blipFill>
          <a:blip r:embed="rId2"/>
          <a:srcRect l="45129"/>
          <a:stretch>
            <a:fillRect/>
          </a:stretch>
        </p:blipFill>
        <p:spPr>
          <a:xfrm>
            <a:off x="-1" y="0"/>
            <a:ext cx="7526155" cy="6858000"/>
          </a:xfrm>
          <a:prstGeom prst="rect">
            <a:avLst/>
          </a:prstGeom>
        </p:spPr>
      </p:pic>
      <p:sp>
        <p:nvSpPr>
          <p:cNvPr id="14" name="椭圆 13"/>
          <p:cNvSpPr/>
          <p:nvPr/>
        </p:nvSpPr>
        <p:spPr>
          <a:xfrm>
            <a:off x="4169514" y="-1577564"/>
            <a:ext cx="10671859" cy="9448097"/>
          </a:xfrm>
          <a:prstGeom prst="ellipse">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dirty="0"/>
          </a:p>
        </p:txBody>
      </p:sp>
      <p:sp>
        <p:nvSpPr>
          <p:cNvPr id="13" name="椭圆 12"/>
          <p:cNvSpPr/>
          <p:nvPr/>
        </p:nvSpPr>
        <p:spPr>
          <a:xfrm>
            <a:off x="4774636" y="-1984607"/>
            <a:ext cx="10671859" cy="9448097"/>
          </a:xfrm>
          <a:prstGeom prst="ellipse">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grpSp>
        <p:nvGrpSpPr>
          <p:cNvPr id="15" name="Group 14"/>
          <p:cNvGrpSpPr/>
          <p:nvPr/>
        </p:nvGrpSpPr>
        <p:grpSpPr>
          <a:xfrm>
            <a:off x="9639635" y="-646"/>
            <a:ext cx="2801744" cy="639751"/>
            <a:chOff x="109411" y="4326"/>
            <a:chExt cx="2801744" cy="639751"/>
          </a:xfrm>
          <a:effectLst>
            <a:glow rad="63500">
              <a:schemeClr val="bg1">
                <a:alpha val="70000"/>
              </a:schemeClr>
            </a:glow>
          </a:effectLst>
        </p:grpSpPr>
        <p:pic>
          <p:nvPicPr>
            <p:cNvPr id="8" name="Picture 7" descr="A blue and black logo&#10;&#10;AI-generated content may be incorrect."/>
            <p:cNvPicPr>
              <a:picLocks noChangeAspect="1"/>
            </p:cNvPicPr>
            <p:nvPr/>
          </p:nvPicPr>
          <p:blipFill>
            <a:blip r:embed="rId3"/>
            <a:stretch>
              <a:fillRect/>
            </a:stretch>
          </p:blipFill>
          <p:spPr>
            <a:xfrm>
              <a:off x="1411738" y="4326"/>
              <a:ext cx="1499417" cy="639751"/>
            </a:xfrm>
            <a:prstGeom prst="rect">
              <a:avLst/>
            </a:prstGeom>
          </p:spPr>
        </p:pic>
        <p:pic>
          <p:nvPicPr>
            <p:cNvPr id="10" name="Picture 9" descr="A blue and white logo with a black background&#10;&#10;AI-generated content may be incorrect."/>
            <p:cNvPicPr>
              <a:picLocks noChangeAspect="1"/>
            </p:cNvPicPr>
            <p:nvPr/>
          </p:nvPicPr>
          <p:blipFill>
            <a:blip r:embed="rId4"/>
            <a:stretch>
              <a:fillRect/>
            </a:stretch>
          </p:blipFill>
          <p:spPr>
            <a:xfrm>
              <a:off x="109411" y="102746"/>
              <a:ext cx="1211828" cy="513623"/>
            </a:xfrm>
            <a:prstGeom prst="rect">
              <a:avLst/>
            </a:prstGeom>
          </p:spPr>
        </p:pic>
        <p:cxnSp>
          <p:nvCxnSpPr>
            <p:cNvPr id="12" name="Straight Connector 11"/>
            <p:cNvCxnSpPr/>
            <p:nvPr/>
          </p:nvCxnSpPr>
          <p:spPr>
            <a:xfrm flipV="1">
              <a:off x="1365994" y="55416"/>
              <a:ext cx="0" cy="513623"/>
            </a:xfrm>
            <a:prstGeom prst="line">
              <a:avLst/>
            </a:prstGeom>
          </p:spPr>
          <p:style>
            <a:lnRef idx="2">
              <a:schemeClr val="accent1"/>
            </a:lnRef>
            <a:fillRef idx="0">
              <a:schemeClr val="accent1"/>
            </a:fillRef>
            <a:effectRef idx="1">
              <a:schemeClr val="accent1"/>
            </a:effectRef>
            <a:fontRef idx="minor">
              <a:schemeClr val="tx1"/>
            </a:fontRef>
          </p:style>
        </p:cxnSp>
      </p:grpSp>
      <p:sp>
        <p:nvSpPr>
          <p:cNvPr id="16" name="标题 1"/>
          <p:cNvSpPr txBox="1"/>
          <p:nvPr/>
        </p:nvSpPr>
        <p:spPr>
          <a:xfrm>
            <a:off x="5991085" y="1647930"/>
            <a:ext cx="5997709" cy="358005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2800" b="1" dirty="0">
                <a:solidFill>
                  <a:schemeClr val="bg1"/>
                </a:solidFill>
                <a:sym typeface="+mn-ea"/>
              </a:rPr>
              <a:t>1. Project Objectives</a:t>
            </a:r>
          </a:p>
          <a:p>
            <a:pPr algn="l"/>
            <a:endParaRPr kumimoji="1" lang="en-US" altLang="zh-SG" sz="2800" b="1" dirty="0">
              <a:solidFill>
                <a:schemeClr val="bg1"/>
              </a:solidFill>
              <a:sym typeface="+mn-ea"/>
            </a:endParaRPr>
          </a:p>
          <a:p>
            <a:pPr algn="l"/>
            <a:r>
              <a:rPr kumimoji="1" lang="en-US" altLang="zh-SG" sz="2800" b="1" dirty="0">
                <a:solidFill>
                  <a:schemeClr val="bg1"/>
                </a:solidFill>
                <a:sym typeface="+mn-ea"/>
              </a:rPr>
              <a:t>2. Project Scope</a:t>
            </a:r>
          </a:p>
          <a:p>
            <a:pPr algn="l"/>
            <a:endParaRPr kumimoji="1" lang="en-US" altLang="zh-SG" sz="2800" b="1" dirty="0">
              <a:solidFill>
                <a:schemeClr val="bg1"/>
              </a:solidFill>
              <a:sym typeface="+mn-ea"/>
            </a:endParaRPr>
          </a:p>
          <a:p>
            <a:pPr algn="l"/>
            <a:r>
              <a:rPr kumimoji="1" lang="en-US" altLang="zh-SG" sz="2800" b="1" dirty="0">
                <a:solidFill>
                  <a:schemeClr val="bg1"/>
                </a:solidFill>
                <a:sym typeface="+mn-ea"/>
              </a:rPr>
              <a:t>3. Data Available</a:t>
            </a:r>
          </a:p>
          <a:p>
            <a:pPr algn="l"/>
            <a:endParaRPr kumimoji="1" lang="en-US" altLang="zh-SG" sz="2800" b="1" dirty="0">
              <a:solidFill>
                <a:schemeClr val="bg1"/>
              </a:solidFill>
              <a:sym typeface="+mn-ea"/>
            </a:endParaRPr>
          </a:p>
          <a:p>
            <a:pPr algn="l"/>
            <a:r>
              <a:rPr kumimoji="1" lang="en-US" altLang="zh-SG" sz="2800" b="1" dirty="0">
                <a:solidFill>
                  <a:schemeClr val="bg1"/>
                </a:solidFill>
                <a:sym typeface="+mn-ea"/>
              </a:rPr>
              <a:t>4. Technical Approaches</a:t>
            </a:r>
          </a:p>
          <a:p>
            <a:pPr algn="l"/>
            <a:endParaRPr kumimoji="1" lang="en-US" altLang="zh-SG" sz="2800" b="1" dirty="0">
              <a:solidFill>
                <a:schemeClr val="bg1"/>
              </a:solidFill>
              <a:sym typeface="+mn-ea"/>
            </a:endParaRPr>
          </a:p>
          <a:p>
            <a:pPr algn="l"/>
            <a:r>
              <a:rPr kumimoji="1" lang="en-US" altLang="zh-SG" sz="2800" b="1" dirty="0">
                <a:solidFill>
                  <a:schemeClr val="bg1"/>
                </a:solidFill>
                <a:sym typeface="+mn-ea"/>
              </a:rPr>
              <a:t>5. Conclusion</a:t>
            </a:r>
            <a:endParaRPr kumimoji="1" lang="zh-SG" altLang="en-US" sz="280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40"/>
          <p:cNvGrpSpPr/>
          <p:nvPr/>
        </p:nvGrpSpPr>
        <p:grpSpPr>
          <a:xfrm>
            <a:off x="6916808" y="63686"/>
            <a:ext cx="2240393" cy="761523"/>
            <a:chOff x="1607742" y="61757"/>
            <a:chExt cx="2240393" cy="761523"/>
          </a:xfrm>
        </p:grpSpPr>
        <p:pic>
          <p:nvPicPr>
            <p:cNvPr id="12"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3" name="文本框 139"/>
            <p:cNvSpPr txBox="1"/>
            <p:nvPr/>
          </p:nvSpPr>
          <p:spPr>
            <a:xfrm>
              <a:off x="1912132" y="119352"/>
              <a:ext cx="1553630"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Final </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Conclusion</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8" name="组合 140"/>
          <p:cNvGrpSpPr/>
          <p:nvPr/>
        </p:nvGrpSpPr>
        <p:grpSpPr>
          <a:xfrm>
            <a:off x="5169785" y="63686"/>
            <a:ext cx="2240393" cy="761523"/>
            <a:chOff x="1607742" y="61757"/>
            <a:chExt cx="2240393" cy="761523"/>
          </a:xfrm>
        </p:grpSpPr>
        <p:pic>
          <p:nvPicPr>
            <p:cNvPr id="9"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0" name="文本框 139"/>
            <p:cNvSpPr txBox="1"/>
            <p:nvPr/>
          </p:nvSpPr>
          <p:spPr>
            <a:xfrm>
              <a:off x="1912132" y="119352"/>
              <a:ext cx="1672253"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Technical</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Approaches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5" name="组合 140"/>
          <p:cNvGrpSpPr/>
          <p:nvPr/>
        </p:nvGrpSpPr>
        <p:grpSpPr>
          <a:xfrm>
            <a:off x="3422762" y="63686"/>
            <a:ext cx="2240393" cy="761523"/>
            <a:chOff x="1607742" y="61757"/>
            <a:chExt cx="2240393" cy="761523"/>
          </a:xfrm>
        </p:grpSpPr>
        <p:pic>
          <p:nvPicPr>
            <p:cNvPr id="6"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7" name="文本框 139"/>
            <p:cNvSpPr txBox="1"/>
            <p:nvPr/>
          </p:nvSpPr>
          <p:spPr>
            <a:xfrm>
              <a:off x="1912132" y="119352"/>
              <a:ext cx="130035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Data</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Available</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 name="组合 140"/>
          <p:cNvGrpSpPr/>
          <p:nvPr/>
        </p:nvGrpSpPr>
        <p:grpSpPr>
          <a:xfrm>
            <a:off x="1675739" y="64201"/>
            <a:ext cx="2240393" cy="761523"/>
            <a:chOff x="1607742" y="61757"/>
            <a:chExt cx="2240393" cy="761523"/>
          </a:xfrm>
        </p:grpSpPr>
        <p:pic>
          <p:nvPicPr>
            <p:cNvPr id="3"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4" name="文本框 139"/>
            <p:cNvSpPr txBox="1"/>
            <p:nvPr/>
          </p:nvSpPr>
          <p:spPr>
            <a:xfrm>
              <a:off x="1912132" y="119352"/>
              <a:ext cx="110799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Scopes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141" name="组合 140"/>
          <p:cNvGrpSpPr/>
          <p:nvPr/>
        </p:nvGrpSpPr>
        <p:grpSpPr>
          <a:xfrm>
            <a:off x="-71284" y="63686"/>
            <a:ext cx="2240393" cy="761523"/>
            <a:chOff x="1607742" y="61757"/>
            <a:chExt cx="2240393" cy="761523"/>
          </a:xfrm>
        </p:grpSpPr>
        <p:pic>
          <p:nvPicPr>
            <p:cNvPr id="139" name="图片 138" descr="电脑截图&#10;&#10;描述已自动生成"/>
            <p:cNvPicPr>
              <a:picLocks noChangeAspect="1"/>
            </p:cNvPicPr>
            <p:nvPr/>
          </p:nvPicPr>
          <p:blipFill rotWithShape="1">
            <a:blip r:embed="rId2"/>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40" name="文本框 139"/>
            <p:cNvSpPr txBox="1"/>
            <p:nvPr/>
          </p:nvSpPr>
          <p:spPr>
            <a:xfrm>
              <a:off x="1912132" y="119352"/>
              <a:ext cx="1487908"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Objectives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3" name="组合 22"/>
          <p:cNvGrpSpPr/>
          <p:nvPr/>
        </p:nvGrpSpPr>
        <p:grpSpPr>
          <a:xfrm>
            <a:off x="-5338" y="816353"/>
            <a:ext cx="10076425" cy="36000"/>
            <a:chOff x="0" y="640081"/>
            <a:chExt cx="10076425" cy="36000"/>
          </a:xfrm>
        </p:grpSpPr>
        <p:sp>
          <p:nvSpPr>
            <p:cNvPr id="21" name="矩形 20"/>
            <p:cNvSpPr/>
            <p:nvPr/>
          </p:nvSpPr>
          <p:spPr>
            <a:xfrm>
              <a:off x="0" y="640081"/>
              <a:ext cx="10004425" cy="36000"/>
            </a:xfrm>
            <a:prstGeom prst="rect">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sp>
          <p:nvSpPr>
            <p:cNvPr id="22" name="三角形 21"/>
            <p:cNvSpPr/>
            <p:nvPr/>
          </p:nvSpPr>
          <p:spPr>
            <a:xfrm>
              <a:off x="10004425" y="640081"/>
              <a:ext cx="72000" cy="36000"/>
            </a:xfrm>
            <a:prstGeom prst="triangle">
              <a:avLst>
                <a:gd name="adj" fmla="val 0"/>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grpSp>
      <p:grpSp>
        <p:nvGrpSpPr>
          <p:cNvPr id="16" name="Group 15"/>
          <p:cNvGrpSpPr/>
          <p:nvPr/>
        </p:nvGrpSpPr>
        <p:grpSpPr>
          <a:xfrm>
            <a:off x="9639635" y="-646"/>
            <a:ext cx="2801744" cy="639751"/>
            <a:chOff x="109411" y="4326"/>
            <a:chExt cx="2801744" cy="639751"/>
          </a:xfrm>
        </p:grpSpPr>
        <p:pic>
          <p:nvPicPr>
            <p:cNvPr id="17" name="Picture 16" descr="A blue and black logo&#10;&#10;AI-generated content may be incorrect."/>
            <p:cNvPicPr>
              <a:picLocks noChangeAspect="1"/>
            </p:cNvPicPr>
            <p:nvPr/>
          </p:nvPicPr>
          <p:blipFill>
            <a:blip r:embed="rId3"/>
            <a:stretch>
              <a:fillRect/>
            </a:stretch>
          </p:blipFill>
          <p:spPr>
            <a:xfrm>
              <a:off x="1411738" y="4326"/>
              <a:ext cx="1499417" cy="639751"/>
            </a:xfrm>
            <a:prstGeom prst="rect">
              <a:avLst/>
            </a:prstGeom>
          </p:spPr>
        </p:pic>
        <p:pic>
          <p:nvPicPr>
            <p:cNvPr id="18" name="Picture 17" descr="A blue and white logo with a black background&#10;&#10;AI-generated content may be incorrect."/>
            <p:cNvPicPr>
              <a:picLocks noChangeAspect="1"/>
            </p:cNvPicPr>
            <p:nvPr/>
          </p:nvPicPr>
          <p:blipFill>
            <a:blip r:embed="rId4"/>
            <a:stretch>
              <a:fillRect/>
            </a:stretch>
          </p:blipFill>
          <p:spPr>
            <a:xfrm>
              <a:off x="109411" y="102746"/>
              <a:ext cx="1211828" cy="513623"/>
            </a:xfrm>
            <a:prstGeom prst="rect">
              <a:avLst/>
            </a:prstGeom>
          </p:spPr>
        </p:pic>
        <p:cxnSp>
          <p:nvCxnSpPr>
            <p:cNvPr id="19" name="Straight Connector 18"/>
            <p:cNvCxnSpPr/>
            <p:nvPr/>
          </p:nvCxnSpPr>
          <p:spPr>
            <a:xfrm flipV="1">
              <a:off x="1365994" y="55416"/>
              <a:ext cx="0" cy="513623"/>
            </a:xfrm>
            <a:prstGeom prst="line">
              <a:avLst/>
            </a:prstGeom>
          </p:spPr>
          <p:style>
            <a:lnRef idx="2">
              <a:schemeClr val="accent1"/>
            </a:lnRef>
            <a:fillRef idx="0">
              <a:schemeClr val="accent1"/>
            </a:fillRef>
            <a:effectRef idx="1">
              <a:schemeClr val="accent1"/>
            </a:effectRef>
            <a:fontRef idx="minor">
              <a:schemeClr val="tx1"/>
            </a:fontRef>
          </p:style>
        </p:cxnSp>
      </p:grpSp>
      <p:sp>
        <p:nvSpPr>
          <p:cNvPr id="14" name="文本框 139"/>
          <p:cNvSpPr txBox="1"/>
          <p:nvPr/>
        </p:nvSpPr>
        <p:spPr>
          <a:xfrm>
            <a:off x="849406" y="1254600"/>
            <a:ext cx="4522271" cy="369332"/>
          </a:xfrm>
          <a:prstGeom prst="rect">
            <a:avLst/>
          </a:prstGeom>
          <a:noFill/>
        </p:spPr>
        <p:txBody>
          <a:bodyPr wrap="square" rtlCol="0">
            <a:spAutoFit/>
          </a:bodyPr>
          <a:lstStyle/>
          <a:p>
            <a:pPr algn="ctr"/>
            <a:r>
              <a:rPr kumimoji="1" lang="en-US" altLang="zh-SG" b="1" dirty="0">
                <a:latin typeface="Lantinghei SC Demibold" panose="02000000000000000000" pitchFamily="2" charset="-122"/>
                <a:ea typeface="Lantinghei SC Demibold" panose="02000000000000000000" pitchFamily="2" charset="-122"/>
              </a:rPr>
              <a:t>Background</a:t>
            </a:r>
            <a:endParaRPr kumimoji="1" lang="zh-SG" altLang="en-US" b="1" dirty="0">
              <a:latin typeface="Lantinghei SC Demibold" panose="02000000000000000000" pitchFamily="2" charset="-122"/>
              <a:ea typeface="Lantinghei SC Demibold" panose="02000000000000000000" pitchFamily="2" charset="-122"/>
            </a:endParaRPr>
          </a:p>
        </p:txBody>
      </p:sp>
      <p:sp>
        <p:nvSpPr>
          <p:cNvPr id="26" name="Rounded Rectangle 25"/>
          <p:cNvSpPr/>
          <p:nvPr/>
        </p:nvSpPr>
        <p:spPr>
          <a:xfrm>
            <a:off x="333169" y="1150432"/>
            <a:ext cx="5554745" cy="5435433"/>
          </a:xfrm>
          <a:prstGeom prst="roundRect">
            <a:avLst/>
          </a:prstGeom>
          <a:noFill/>
          <a:ln w="28575">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139"/>
          <p:cNvSpPr txBox="1"/>
          <p:nvPr/>
        </p:nvSpPr>
        <p:spPr>
          <a:xfrm>
            <a:off x="6820323" y="1254052"/>
            <a:ext cx="4522271" cy="369332"/>
          </a:xfrm>
          <a:prstGeom prst="rect">
            <a:avLst/>
          </a:prstGeom>
          <a:noFill/>
        </p:spPr>
        <p:txBody>
          <a:bodyPr wrap="square" rtlCol="0">
            <a:spAutoFit/>
          </a:bodyPr>
          <a:lstStyle/>
          <a:p>
            <a:pPr algn="ctr"/>
            <a:r>
              <a:rPr kumimoji="1" lang="en-US" altLang="zh-SG" b="1" dirty="0">
                <a:solidFill>
                  <a:srgbClr val="C2C2C2"/>
                </a:solidFill>
                <a:latin typeface="Lantinghei SC Demibold" panose="02000000000000000000" pitchFamily="2" charset="-122"/>
                <a:ea typeface="Lantinghei SC Demibold" panose="02000000000000000000" pitchFamily="2" charset="-122"/>
              </a:rPr>
              <a:t>Objectives</a:t>
            </a:r>
            <a:endParaRPr kumimoji="1" lang="zh-SG" altLang="en-US" b="1" dirty="0">
              <a:solidFill>
                <a:srgbClr val="C2C2C2"/>
              </a:solidFill>
              <a:latin typeface="Lantinghei SC Demibold" panose="02000000000000000000" pitchFamily="2" charset="-122"/>
              <a:ea typeface="Lantinghei SC Demibold" panose="02000000000000000000" pitchFamily="2" charset="-122"/>
            </a:endParaRPr>
          </a:p>
        </p:txBody>
      </p:sp>
      <p:sp>
        <p:nvSpPr>
          <p:cNvPr id="28" name="Rounded Rectangle 27"/>
          <p:cNvSpPr/>
          <p:nvPr/>
        </p:nvSpPr>
        <p:spPr>
          <a:xfrm>
            <a:off x="6304087" y="1150432"/>
            <a:ext cx="5554745" cy="5435433"/>
          </a:xfrm>
          <a:prstGeom prst="roundRect">
            <a:avLst/>
          </a:prstGeom>
          <a:noFill/>
          <a:ln w="28575">
            <a:solidFill>
              <a:srgbClr val="C2C2C2"/>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50000"/>
                </a:schemeClr>
              </a:solidFill>
            </a:endParaRPr>
          </a:p>
        </p:txBody>
      </p:sp>
      <p:sp>
        <p:nvSpPr>
          <p:cNvPr id="29" name="Rectangle 4"/>
          <p:cNvSpPr>
            <a:spLocks noChangeArrowheads="1"/>
          </p:cNvSpPr>
          <p:nvPr/>
        </p:nvSpPr>
        <p:spPr bwMode="auto">
          <a:xfrm>
            <a:off x="651794" y="1993401"/>
            <a:ext cx="4917497" cy="3291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gn="l">
              <a:buNone/>
            </a:pPr>
            <a:r>
              <a:rPr lang="en-US" sz="1600" dirty="0">
                <a:solidFill>
                  <a:srgbClr val="1A1A1A"/>
                </a:solidFill>
                <a:ea typeface="Calibri" panose="020F0502020204030204" pitchFamily="34" charset="-122"/>
                <a:cs typeface="Arial" panose="020B0604020202020204" pitchFamily="34" charset="0"/>
                <a:sym typeface="+mn-ea"/>
              </a:rPr>
              <a:t>With the rapid growth of social media and online news platforms, information spreads faster than ever. This has led to widespread dissemination of fake news, which misleads the public, influences political opinions, and damages the credibility of legitimate media sources.</a:t>
            </a:r>
            <a:endParaRPr lang="en-US" sz="1600" dirty="0">
              <a:cs typeface="Arial" panose="020B0604020202020204" pitchFamily="34" charset="0"/>
            </a:endParaRPr>
          </a:p>
          <a:p>
            <a:pPr marL="0" indent="0" algn="l">
              <a:buNone/>
            </a:pPr>
            <a:endParaRPr lang="en-US" sz="1600" dirty="0">
              <a:cs typeface="Arial" panose="020B0604020202020204" pitchFamily="34" charset="0"/>
            </a:endParaRPr>
          </a:p>
          <a:p>
            <a:pPr marL="0" indent="0" algn="l">
              <a:buNone/>
            </a:pPr>
            <a:r>
              <a:rPr lang="en-US" sz="1600" dirty="0">
                <a:solidFill>
                  <a:srgbClr val="1A1A1A"/>
                </a:solidFill>
                <a:ea typeface="Calibri" panose="020F0502020204030204" pitchFamily="34" charset="-122"/>
                <a:cs typeface="Arial" panose="020B0604020202020204" pitchFamily="34" charset="0"/>
                <a:sym typeface="+mn-ea"/>
              </a:rPr>
              <a:t>For media companies, government agencies, and online platforms, manually verifying news authenticity is time-consuming and inefficient. There is a strong need for automated NLP-based systems that can analyze textual content and identify potentially false or misleading information.</a:t>
            </a:r>
            <a:endParaRPr kumimoji="0" lang="en-US" altLang="en-US" sz="1600" b="0" i="0" u="none" strike="noStrike" cap="none" normalizeH="0" baseline="0" dirty="0">
              <a:ln>
                <a:noFill/>
              </a:ln>
              <a:solidFill>
                <a:schemeClr val="tx1"/>
              </a:solidFill>
              <a:effectLst/>
              <a:cs typeface="Arial" panose="020B0604020202020204" pitchFamily="34" charset="0"/>
            </a:endParaRPr>
          </a:p>
        </p:txBody>
      </p:sp>
      <p:sp>
        <p:nvSpPr>
          <p:cNvPr id="30" name="Rectangle 5"/>
          <p:cNvSpPr>
            <a:spLocks noChangeArrowheads="1"/>
          </p:cNvSpPr>
          <p:nvPr/>
        </p:nvSpPr>
        <p:spPr bwMode="auto">
          <a:xfrm>
            <a:off x="6622415" y="1993265"/>
            <a:ext cx="5134610" cy="3538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gn="l">
              <a:buNone/>
            </a:pPr>
            <a:r>
              <a:rPr lang="en-US" sz="1600" dirty="0">
                <a:solidFill>
                  <a:srgbClr val="AAAAAA"/>
                </a:solidFill>
                <a:ea typeface="Calibri" panose="020F0502020204030204" pitchFamily="34" charset="-122"/>
                <a:cs typeface="Arial" panose="020B0604020202020204" pitchFamily="34" charset="0"/>
                <a:sym typeface="+mn-ea"/>
              </a:rPr>
              <a:t>The goal is to develop a Fake News Detection and Analysis System that automatically analyzes news articles and determines whether they are likely to be fake or real.</a:t>
            </a:r>
            <a:endParaRPr lang="en-US" sz="1600" dirty="0">
              <a:cs typeface="Arial" panose="020B0604020202020204" pitchFamily="34" charset="0"/>
            </a:endParaRPr>
          </a:p>
          <a:p>
            <a:pPr marL="0" indent="0" algn="l">
              <a:buNone/>
            </a:pPr>
            <a:endParaRPr lang="en-US" sz="1600" dirty="0">
              <a:cs typeface="Arial" panose="020B0604020202020204" pitchFamily="34" charset="0"/>
            </a:endParaRPr>
          </a:p>
          <a:p>
            <a:pPr marL="0" indent="0" algn="l">
              <a:buNone/>
            </a:pPr>
            <a:r>
              <a:rPr lang="en-US" sz="1600" dirty="0">
                <a:solidFill>
                  <a:srgbClr val="AAAAAA"/>
                </a:solidFill>
                <a:ea typeface="Calibri" panose="020F0502020204030204" pitchFamily="34" charset="-122"/>
                <a:cs typeface="Arial" panose="020B0604020202020204" pitchFamily="34" charset="0"/>
                <a:sym typeface="+mn-ea"/>
              </a:rPr>
              <a:t>The system aims to:</a:t>
            </a:r>
            <a:endParaRPr lang="en-US" sz="1600" dirty="0">
              <a:cs typeface="Arial" panose="020B0604020202020204" pitchFamily="34" charset="0"/>
            </a:endParaRPr>
          </a:p>
          <a:p>
            <a:pPr marL="285750" indent="-285750" algn="l">
              <a:buFont typeface="Arial" panose="020B0604020202020204" pitchFamily="34" charset="0"/>
              <a:buChar char="•"/>
            </a:pPr>
            <a:r>
              <a:rPr lang="en-US" sz="1600" dirty="0">
                <a:solidFill>
                  <a:srgbClr val="AAAAAA"/>
                </a:solidFill>
                <a:ea typeface="Calibri" panose="020F0502020204030204" pitchFamily="34" charset="-122"/>
                <a:cs typeface="Arial" panose="020B0604020202020204" pitchFamily="34" charset="0"/>
                <a:sym typeface="+mn-ea"/>
              </a:rPr>
              <a:t> Automatically classify news as fake or real (BERT)</a:t>
            </a:r>
            <a:endParaRPr lang="en-US" sz="1600" dirty="0">
              <a:cs typeface="Arial" panose="020B0604020202020204" pitchFamily="34" charset="0"/>
            </a:endParaRPr>
          </a:p>
          <a:p>
            <a:pPr marL="285750" indent="-285750" algn="l">
              <a:buFont typeface="Arial" panose="020B0604020202020204" pitchFamily="34" charset="0"/>
              <a:buChar char="•"/>
            </a:pPr>
            <a:r>
              <a:rPr lang="en-US" sz="1600" dirty="0">
                <a:solidFill>
                  <a:srgbClr val="AAAAAA"/>
                </a:solidFill>
                <a:ea typeface="Calibri" panose="020F0502020204030204" pitchFamily="34" charset="-122"/>
                <a:cs typeface="Arial" panose="020B0604020202020204" pitchFamily="34" charset="0"/>
                <a:sym typeface="+mn-ea"/>
              </a:rPr>
              <a:t> Identify article topic / category (LDA / BERTopic)</a:t>
            </a:r>
            <a:endParaRPr lang="en-US" sz="1600" dirty="0">
              <a:cs typeface="Arial" panose="020B0604020202020204" pitchFamily="34" charset="0"/>
            </a:endParaRPr>
          </a:p>
          <a:p>
            <a:pPr marL="285750" indent="-285750" algn="l">
              <a:buFont typeface="Arial" panose="020B0604020202020204" pitchFamily="34" charset="0"/>
              <a:buChar char="•"/>
            </a:pPr>
            <a:r>
              <a:rPr lang="en-US" sz="1600" dirty="0">
                <a:solidFill>
                  <a:srgbClr val="AAAAAA"/>
                </a:solidFill>
                <a:ea typeface="Calibri" panose="020F0502020204030204" pitchFamily="34" charset="-122"/>
                <a:cs typeface="Arial" panose="020B0604020202020204" pitchFamily="34" charset="0"/>
                <a:sym typeface="+mn-ea"/>
              </a:rPr>
              <a:t> Analyze sentiment: positive, negative, or neutral</a:t>
            </a:r>
            <a:endParaRPr lang="en-US" sz="1600" dirty="0">
              <a:cs typeface="Arial" panose="020B0604020202020204" pitchFamily="34" charset="0"/>
            </a:endParaRPr>
          </a:p>
          <a:p>
            <a:pPr marL="285750" indent="-285750" algn="l">
              <a:buFont typeface="Arial" panose="020B0604020202020204" pitchFamily="34" charset="0"/>
              <a:buChar char="•"/>
            </a:pPr>
            <a:r>
              <a:rPr lang="en-US" sz="1600" dirty="0">
                <a:solidFill>
                  <a:srgbClr val="AAAAAA"/>
                </a:solidFill>
                <a:ea typeface="Calibri" panose="020F0502020204030204" pitchFamily="34" charset="-122"/>
                <a:cs typeface="Arial" panose="020B0604020202020204" pitchFamily="34" charset="0"/>
                <a:sym typeface="+mn-ea"/>
              </a:rPr>
              <a:t> Present results through a Streamlit web interface</a:t>
            </a:r>
            <a:endParaRPr lang="en-US" sz="1600" dirty="0">
              <a:cs typeface="Arial" panose="020B0604020202020204" pitchFamily="34" charset="0"/>
            </a:endParaRPr>
          </a:p>
          <a:p>
            <a:pPr marL="0" indent="0" algn="l">
              <a:buNone/>
            </a:pPr>
            <a:endParaRPr lang="en-US" sz="1600" dirty="0">
              <a:cs typeface="Arial" panose="020B0604020202020204" pitchFamily="34" charset="0"/>
            </a:endParaRPr>
          </a:p>
          <a:p>
            <a:pPr marL="0" indent="0" algn="l">
              <a:buNone/>
            </a:pPr>
            <a:r>
              <a:rPr lang="en-US" sz="1600" dirty="0">
                <a:solidFill>
                  <a:srgbClr val="AAAAAA"/>
                </a:solidFill>
                <a:ea typeface="Calibri" panose="020F0502020204030204" pitchFamily="34" charset="-122"/>
                <a:cs typeface="Arial" panose="020B0604020202020204" pitchFamily="34" charset="0"/>
                <a:sym typeface="+mn-ea"/>
              </a:rPr>
              <a:t>Such a system supports decision-making by enabling users to quickly evaluate the credibility of information circulating online.</a:t>
            </a:r>
            <a:endParaRPr kumimoji="0" lang="en-US" altLang="en-US" sz="1600" b="0" i="0" u="none" strike="noStrike" cap="none" normalizeH="0" baseline="0" dirty="0">
              <a:ln>
                <a:noFill/>
              </a:ln>
              <a:solidFill>
                <a:srgbClr val="C2C2C2"/>
              </a:solidFill>
              <a:effectLst/>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40"/>
          <p:cNvGrpSpPr/>
          <p:nvPr/>
        </p:nvGrpSpPr>
        <p:grpSpPr>
          <a:xfrm>
            <a:off x="6916808" y="63686"/>
            <a:ext cx="2240393" cy="761523"/>
            <a:chOff x="1607742" y="61757"/>
            <a:chExt cx="2240393" cy="761523"/>
          </a:xfrm>
        </p:grpSpPr>
        <p:pic>
          <p:nvPicPr>
            <p:cNvPr id="12"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3" name="文本框 139"/>
            <p:cNvSpPr txBox="1"/>
            <p:nvPr/>
          </p:nvSpPr>
          <p:spPr>
            <a:xfrm>
              <a:off x="1912132" y="119352"/>
              <a:ext cx="1553630"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Final </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Conclusion</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8" name="组合 140"/>
          <p:cNvGrpSpPr/>
          <p:nvPr/>
        </p:nvGrpSpPr>
        <p:grpSpPr>
          <a:xfrm>
            <a:off x="5169785" y="63686"/>
            <a:ext cx="2240393" cy="761523"/>
            <a:chOff x="1607742" y="61757"/>
            <a:chExt cx="2240393" cy="761523"/>
          </a:xfrm>
        </p:grpSpPr>
        <p:pic>
          <p:nvPicPr>
            <p:cNvPr id="9"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0" name="文本框 139"/>
            <p:cNvSpPr txBox="1"/>
            <p:nvPr/>
          </p:nvSpPr>
          <p:spPr>
            <a:xfrm>
              <a:off x="1912132" y="119352"/>
              <a:ext cx="1672253"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Technical</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Approaches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5" name="组合 140"/>
          <p:cNvGrpSpPr/>
          <p:nvPr/>
        </p:nvGrpSpPr>
        <p:grpSpPr>
          <a:xfrm>
            <a:off x="3422762" y="63686"/>
            <a:ext cx="2240393" cy="761523"/>
            <a:chOff x="1607742" y="61757"/>
            <a:chExt cx="2240393" cy="761523"/>
          </a:xfrm>
        </p:grpSpPr>
        <p:pic>
          <p:nvPicPr>
            <p:cNvPr id="6"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7" name="文本框 139"/>
            <p:cNvSpPr txBox="1"/>
            <p:nvPr/>
          </p:nvSpPr>
          <p:spPr>
            <a:xfrm>
              <a:off x="1912132" y="119352"/>
              <a:ext cx="130035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Data</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Available</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 name="组合 140"/>
          <p:cNvGrpSpPr/>
          <p:nvPr/>
        </p:nvGrpSpPr>
        <p:grpSpPr>
          <a:xfrm>
            <a:off x="1675739" y="64201"/>
            <a:ext cx="2240393" cy="761523"/>
            <a:chOff x="1607742" y="61757"/>
            <a:chExt cx="2240393" cy="761523"/>
          </a:xfrm>
        </p:grpSpPr>
        <p:pic>
          <p:nvPicPr>
            <p:cNvPr id="3"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4" name="文本框 139"/>
            <p:cNvSpPr txBox="1"/>
            <p:nvPr/>
          </p:nvSpPr>
          <p:spPr>
            <a:xfrm>
              <a:off x="1912132" y="119352"/>
              <a:ext cx="110799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Scopes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141" name="组合 140"/>
          <p:cNvGrpSpPr/>
          <p:nvPr/>
        </p:nvGrpSpPr>
        <p:grpSpPr>
          <a:xfrm>
            <a:off x="-71284" y="63686"/>
            <a:ext cx="2240393" cy="761523"/>
            <a:chOff x="1607742" y="61757"/>
            <a:chExt cx="2240393" cy="761523"/>
          </a:xfrm>
        </p:grpSpPr>
        <p:pic>
          <p:nvPicPr>
            <p:cNvPr id="139" name="图片 138" descr="电脑截图&#10;&#10;描述已自动生成"/>
            <p:cNvPicPr>
              <a:picLocks noChangeAspect="1"/>
            </p:cNvPicPr>
            <p:nvPr/>
          </p:nvPicPr>
          <p:blipFill rotWithShape="1">
            <a:blip r:embed="rId2"/>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40" name="文本框 139"/>
            <p:cNvSpPr txBox="1"/>
            <p:nvPr/>
          </p:nvSpPr>
          <p:spPr>
            <a:xfrm>
              <a:off x="1912132" y="119352"/>
              <a:ext cx="1487908"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Objectives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3" name="组合 22"/>
          <p:cNvGrpSpPr/>
          <p:nvPr/>
        </p:nvGrpSpPr>
        <p:grpSpPr>
          <a:xfrm>
            <a:off x="-5338" y="816353"/>
            <a:ext cx="10076425" cy="36000"/>
            <a:chOff x="0" y="640081"/>
            <a:chExt cx="10076425" cy="36000"/>
          </a:xfrm>
        </p:grpSpPr>
        <p:sp>
          <p:nvSpPr>
            <p:cNvPr id="21" name="矩形 20"/>
            <p:cNvSpPr/>
            <p:nvPr/>
          </p:nvSpPr>
          <p:spPr>
            <a:xfrm>
              <a:off x="0" y="640081"/>
              <a:ext cx="10004425" cy="36000"/>
            </a:xfrm>
            <a:prstGeom prst="rect">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sp>
          <p:nvSpPr>
            <p:cNvPr id="22" name="三角形 21"/>
            <p:cNvSpPr/>
            <p:nvPr/>
          </p:nvSpPr>
          <p:spPr>
            <a:xfrm>
              <a:off x="10004425" y="640081"/>
              <a:ext cx="72000" cy="36000"/>
            </a:xfrm>
            <a:prstGeom prst="triangle">
              <a:avLst>
                <a:gd name="adj" fmla="val 0"/>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grpSp>
      <p:grpSp>
        <p:nvGrpSpPr>
          <p:cNvPr id="16" name="Group 15"/>
          <p:cNvGrpSpPr/>
          <p:nvPr/>
        </p:nvGrpSpPr>
        <p:grpSpPr>
          <a:xfrm>
            <a:off x="9639635" y="-646"/>
            <a:ext cx="2801744" cy="639751"/>
            <a:chOff x="109411" y="4326"/>
            <a:chExt cx="2801744" cy="639751"/>
          </a:xfrm>
        </p:grpSpPr>
        <p:pic>
          <p:nvPicPr>
            <p:cNvPr id="17" name="Picture 16" descr="A blue and black logo&#10;&#10;AI-generated content may be incorrect."/>
            <p:cNvPicPr>
              <a:picLocks noChangeAspect="1"/>
            </p:cNvPicPr>
            <p:nvPr/>
          </p:nvPicPr>
          <p:blipFill>
            <a:blip r:embed="rId3"/>
            <a:stretch>
              <a:fillRect/>
            </a:stretch>
          </p:blipFill>
          <p:spPr>
            <a:xfrm>
              <a:off x="1411738" y="4326"/>
              <a:ext cx="1499417" cy="639751"/>
            </a:xfrm>
            <a:prstGeom prst="rect">
              <a:avLst/>
            </a:prstGeom>
          </p:spPr>
        </p:pic>
        <p:pic>
          <p:nvPicPr>
            <p:cNvPr id="18" name="Picture 17" descr="A blue and white logo with a black background&#10;&#10;AI-generated content may be incorrect."/>
            <p:cNvPicPr>
              <a:picLocks noChangeAspect="1"/>
            </p:cNvPicPr>
            <p:nvPr/>
          </p:nvPicPr>
          <p:blipFill>
            <a:blip r:embed="rId4"/>
            <a:stretch>
              <a:fillRect/>
            </a:stretch>
          </p:blipFill>
          <p:spPr>
            <a:xfrm>
              <a:off x="109411" y="102746"/>
              <a:ext cx="1211828" cy="513623"/>
            </a:xfrm>
            <a:prstGeom prst="rect">
              <a:avLst/>
            </a:prstGeom>
          </p:spPr>
        </p:pic>
        <p:cxnSp>
          <p:nvCxnSpPr>
            <p:cNvPr id="19" name="Straight Connector 18"/>
            <p:cNvCxnSpPr/>
            <p:nvPr/>
          </p:nvCxnSpPr>
          <p:spPr>
            <a:xfrm flipV="1">
              <a:off x="1365994" y="55416"/>
              <a:ext cx="0" cy="513623"/>
            </a:xfrm>
            <a:prstGeom prst="line">
              <a:avLst/>
            </a:prstGeom>
          </p:spPr>
          <p:style>
            <a:lnRef idx="2">
              <a:schemeClr val="accent1"/>
            </a:lnRef>
            <a:fillRef idx="0">
              <a:schemeClr val="accent1"/>
            </a:fillRef>
            <a:effectRef idx="1">
              <a:schemeClr val="accent1"/>
            </a:effectRef>
            <a:fontRef idx="minor">
              <a:schemeClr val="tx1"/>
            </a:fontRef>
          </p:style>
        </p:cxnSp>
      </p:grpSp>
      <p:sp>
        <p:nvSpPr>
          <p:cNvPr id="14" name="文本框 139"/>
          <p:cNvSpPr txBox="1"/>
          <p:nvPr/>
        </p:nvSpPr>
        <p:spPr>
          <a:xfrm>
            <a:off x="849406" y="1254600"/>
            <a:ext cx="4522271" cy="369332"/>
          </a:xfrm>
          <a:prstGeom prst="rect">
            <a:avLst/>
          </a:prstGeom>
          <a:noFill/>
        </p:spPr>
        <p:txBody>
          <a:bodyPr wrap="square" rtlCol="0">
            <a:spAutoFit/>
          </a:bodyPr>
          <a:lstStyle/>
          <a:p>
            <a:pPr algn="ctr"/>
            <a:r>
              <a:rPr kumimoji="1" lang="en-US" altLang="zh-SG" b="1" dirty="0">
                <a:solidFill>
                  <a:srgbClr val="C2C2C2"/>
                </a:solidFill>
                <a:latin typeface="Lantinghei SC Demibold" panose="02000000000000000000" pitchFamily="2" charset="-122"/>
                <a:ea typeface="Lantinghei SC Demibold" panose="02000000000000000000" pitchFamily="2" charset="-122"/>
              </a:rPr>
              <a:t>Background</a:t>
            </a:r>
            <a:endParaRPr kumimoji="1" lang="zh-SG" altLang="en-US" b="1" dirty="0">
              <a:solidFill>
                <a:srgbClr val="C2C2C2"/>
              </a:solidFill>
              <a:latin typeface="Lantinghei SC Demibold" panose="02000000000000000000" pitchFamily="2" charset="-122"/>
              <a:ea typeface="Lantinghei SC Demibold" panose="02000000000000000000" pitchFamily="2" charset="-122"/>
            </a:endParaRPr>
          </a:p>
        </p:txBody>
      </p:sp>
      <p:sp>
        <p:nvSpPr>
          <p:cNvPr id="26" name="Rounded Rectangle 25"/>
          <p:cNvSpPr/>
          <p:nvPr/>
        </p:nvSpPr>
        <p:spPr>
          <a:xfrm>
            <a:off x="333169" y="1150432"/>
            <a:ext cx="5554745" cy="5435433"/>
          </a:xfrm>
          <a:prstGeom prst="roundRect">
            <a:avLst/>
          </a:prstGeom>
          <a:noFill/>
          <a:ln w="28575">
            <a:solidFill>
              <a:srgbClr val="C2C2C2"/>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139"/>
          <p:cNvSpPr txBox="1"/>
          <p:nvPr/>
        </p:nvSpPr>
        <p:spPr>
          <a:xfrm>
            <a:off x="6820323" y="1254052"/>
            <a:ext cx="4522271" cy="369332"/>
          </a:xfrm>
          <a:prstGeom prst="rect">
            <a:avLst/>
          </a:prstGeom>
          <a:noFill/>
        </p:spPr>
        <p:txBody>
          <a:bodyPr wrap="square" rtlCol="0">
            <a:spAutoFit/>
          </a:bodyPr>
          <a:lstStyle/>
          <a:p>
            <a:pPr algn="ctr"/>
            <a:r>
              <a:rPr kumimoji="1" lang="en-US" altLang="zh-SG" b="1" dirty="0">
                <a:latin typeface="Lantinghei SC Demibold" panose="02000000000000000000" pitchFamily="2" charset="-122"/>
                <a:ea typeface="Lantinghei SC Demibold" panose="02000000000000000000" pitchFamily="2" charset="-122"/>
              </a:rPr>
              <a:t>Objectives</a:t>
            </a:r>
            <a:endParaRPr kumimoji="1" lang="zh-SG" altLang="en-US" b="1" dirty="0">
              <a:latin typeface="Lantinghei SC Demibold" panose="02000000000000000000" pitchFamily="2" charset="-122"/>
              <a:ea typeface="Lantinghei SC Demibold" panose="02000000000000000000" pitchFamily="2" charset="-122"/>
            </a:endParaRPr>
          </a:p>
        </p:txBody>
      </p:sp>
      <p:sp>
        <p:nvSpPr>
          <p:cNvPr id="28" name="Rounded Rectangle 27"/>
          <p:cNvSpPr/>
          <p:nvPr/>
        </p:nvSpPr>
        <p:spPr>
          <a:xfrm>
            <a:off x="6304087" y="1150432"/>
            <a:ext cx="5554745" cy="5435433"/>
          </a:xfrm>
          <a:prstGeom prst="roundRect">
            <a:avLst/>
          </a:prstGeom>
          <a:noFill/>
          <a:ln w="28575">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50000"/>
                </a:schemeClr>
              </a:solidFill>
            </a:endParaRPr>
          </a:p>
        </p:txBody>
      </p:sp>
      <p:sp>
        <p:nvSpPr>
          <p:cNvPr id="15" name="Rectangle 4"/>
          <p:cNvSpPr>
            <a:spLocks noChangeArrowheads="1"/>
          </p:cNvSpPr>
          <p:nvPr/>
        </p:nvSpPr>
        <p:spPr bwMode="auto">
          <a:xfrm>
            <a:off x="651794" y="1993401"/>
            <a:ext cx="4917497" cy="3291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gn="l">
              <a:buNone/>
            </a:pPr>
            <a:r>
              <a:rPr lang="en-US" sz="1600" dirty="0">
                <a:solidFill>
                  <a:srgbClr val="AAAAAA"/>
                </a:solidFill>
                <a:ea typeface="Calibri" panose="020F0502020204030204" pitchFamily="34" charset="-122"/>
                <a:cs typeface="Arial" panose="020B0604020202020204" pitchFamily="34" charset="0"/>
                <a:sym typeface="+mn-ea"/>
              </a:rPr>
              <a:t>With the rapid growth of social media and online news platforms, information spreads faster than ever. This has led to widespread dissemination of fake news, which misleads the public, influences political opinions, and damages the credibility of legitimate media sources.</a:t>
            </a:r>
            <a:endParaRPr lang="en-US" sz="1600" dirty="0">
              <a:solidFill>
                <a:srgbClr val="AAAAAA"/>
              </a:solidFill>
              <a:ea typeface="Calibri" panose="020F0502020204030204" pitchFamily="34" charset="-122"/>
              <a:cs typeface="Arial" panose="020B0604020202020204" pitchFamily="34" charset="0"/>
            </a:endParaRPr>
          </a:p>
          <a:p>
            <a:pPr marL="0" indent="0" algn="l">
              <a:buNone/>
            </a:pPr>
            <a:endParaRPr lang="en-US" sz="1600" dirty="0">
              <a:solidFill>
                <a:srgbClr val="AAAAAA"/>
              </a:solidFill>
              <a:ea typeface="Calibri" panose="020F0502020204030204" pitchFamily="34" charset="-122"/>
              <a:cs typeface="Arial" panose="020B0604020202020204" pitchFamily="34" charset="0"/>
            </a:endParaRPr>
          </a:p>
          <a:p>
            <a:pPr marL="0" indent="0" algn="l">
              <a:buNone/>
            </a:pPr>
            <a:r>
              <a:rPr lang="en-US" sz="1600" dirty="0">
                <a:solidFill>
                  <a:srgbClr val="AAAAAA"/>
                </a:solidFill>
                <a:ea typeface="Calibri" panose="020F0502020204030204" pitchFamily="34" charset="-122"/>
                <a:cs typeface="Arial" panose="020B0604020202020204" pitchFamily="34" charset="0"/>
                <a:sym typeface="+mn-ea"/>
              </a:rPr>
              <a:t>For media companies, government agencies, and online platforms, manually verifying news authenticity is time-consuming and inefficient. There is a strong need for automated NLP-based systems that can analyze textual content and identify potentially false or misleading information.</a:t>
            </a:r>
            <a:endParaRPr kumimoji="0" lang="en-US" sz="1600" b="0" i="0" u="none" strike="noStrike" cap="none" normalizeH="0" baseline="0" dirty="0">
              <a:solidFill>
                <a:srgbClr val="AAAAAA"/>
              </a:solidFill>
              <a:ea typeface="Calibri" panose="020F0502020204030204" pitchFamily="34" charset="-122"/>
              <a:cs typeface="Arial" panose="020B0604020202020204" pitchFamily="34" charset="0"/>
            </a:endParaRPr>
          </a:p>
        </p:txBody>
      </p:sp>
      <p:sp>
        <p:nvSpPr>
          <p:cNvPr id="20" name="Rectangle 5"/>
          <p:cNvSpPr>
            <a:spLocks noChangeArrowheads="1"/>
          </p:cNvSpPr>
          <p:nvPr/>
        </p:nvSpPr>
        <p:spPr bwMode="auto">
          <a:xfrm>
            <a:off x="6626275" y="1993401"/>
            <a:ext cx="5065395" cy="3538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gn="l">
              <a:buNone/>
            </a:pPr>
            <a:r>
              <a:rPr lang="en-US" sz="1600" dirty="0">
                <a:solidFill>
                  <a:schemeClr val="tx1"/>
                </a:solidFill>
                <a:ea typeface="Calibri" panose="020F0502020204030204" pitchFamily="34" charset="-122"/>
                <a:cs typeface="Arial" panose="020B0604020202020204" pitchFamily="34" charset="0"/>
                <a:sym typeface="+mn-ea"/>
              </a:rPr>
              <a:t>The goal is to develop a Fake News Detection and Analysis System that automatically analyzes news articles and determines whether they are likely to be fake or real.</a:t>
            </a:r>
            <a:endParaRPr lang="en-US" sz="1600" dirty="0">
              <a:solidFill>
                <a:schemeClr val="tx1"/>
              </a:solidFill>
              <a:cs typeface="Arial" panose="020B0604020202020204" pitchFamily="34" charset="0"/>
            </a:endParaRPr>
          </a:p>
          <a:p>
            <a:pPr marL="0" indent="0" algn="l">
              <a:buNone/>
            </a:pPr>
            <a:endParaRPr lang="en-US" sz="1600" dirty="0">
              <a:solidFill>
                <a:schemeClr val="tx1"/>
              </a:solidFill>
              <a:cs typeface="Arial" panose="020B0604020202020204" pitchFamily="34" charset="0"/>
            </a:endParaRPr>
          </a:p>
          <a:p>
            <a:pPr marL="0" indent="0" algn="l">
              <a:buNone/>
            </a:pPr>
            <a:r>
              <a:rPr lang="en-US" sz="1600" dirty="0">
                <a:solidFill>
                  <a:schemeClr val="tx1"/>
                </a:solidFill>
                <a:ea typeface="Calibri" panose="020F0502020204030204" pitchFamily="34" charset="-122"/>
                <a:cs typeface="Arial" panose="020B0604020202020204" pitchFamily="34" charset="0"/>
                <a:sym typeface="+mn-ea"/>
              </a:rPr>
              <a:t>The system aims to:</a:t>
            </a:r>
            <a:endParaRPr lang="en-US" sz="1600" dirty="0">
              <a:solidFill>
                <a:schemeClr val="tx1"/>
              </a:solidFill>
              <a:cs typeface="Arial" panose="020B0604020202020204" pitchFamily="34" charset="0"/>
            </a:endParaRPr>
          </a:p>
          <a:p>
            <a:pPr marL="285750" indent="-285750" algn="l">
              <a:buFont typeface="Arial" panose="020B0604020202020204" pitchFamily="34" charset="0"/>
              <a:buChar char="•"/>
            </a:pPr>
            <a:r>
              <a:rPr lang="en-US" sz="1600" dirty="0">
                <a:solidFill>
                  <a:schemeClr val="tx1"/>
                </a:solidFill>
                <a:ea typeface="Calibri" panose="020F0502020204030204" pitchFamily="34" charset="-122"/>
                <a:cs typeface="Arial" panose="020B0604020202020204" pitchFamily="34" charset="0"/>
                <a:sym typeface="+mn-ea"/>
              </a:rPr>
              <a:t> Automatically classify news as fake or real (BERT)</a:t>
            </a:r>
            <a:endParaRPr lang="en-US" sz="1600" dirty="0">
              <a:solidFill>
                <a:schemeClr val="tx1"/>
              </a:solidFill>
              <a:cs typeface="Arial" panose="020B0604020202020204" pitchFamily="34" charset="0"/>
            </a:endParaRPr>
          </a:p>
          <a:p>
            <a:pPr marL="285750" indent="-285750" algn="l">
              <a:buFont typeface="Arial" panose="020B0604020202020204" pitchFamily="34" charset="0"/>
              <a:buChar char="•"/>
            </a:pPr>
            <a:r>
              <a:rPr lang="en-US" sz="1600" dirty="0">
                <a:solidFill>
                  <a:schemeClr val="tx1"/>
                </a:solidFill>
                <a:ea typeface="Calibri" panose="020F0502020204030204" pitchFamily="34" charset="-122"/>
                <a:cs typeface="Arial" panose="020B0604020202020204" pitchFamily="34" charset="0"/>
                <a:sym typeface="+mn-ea"/>
              </a:rPr>
              <a:t> Identify article topic / category (LDA / BERTopic)</a:t>
            </a:r>
            <a:endParaRPr lang="en-US" sz="1600" dirty="0">
              <a:solidFill>
                <a:schemeClr val="tx1"/>
              </a:solidFill>
              <a:cs typeface="Arial" panose="020B0604020202020204" pitchFamily="34" charset="0"/>
            </a:endParaRPr>
          </a:p>
          <a:p>
            <a:pPr marL="285750" indent="-285750" algn="l">
              <a:buFont typeface="Arial" panose="020B0604020202020204" pitchFamily="34" charset="0"/>
              <a:buChar char="•"/>
            </a:pPr>
            <a:r>
              <a:rPr lang="en-US" sz="1600" dirty="0">
                <a:solidFill>
                  <a:schemeClr val="tx1"/>
                </a:solidFill>
                <a:ea typeface="Calibri" panose="020F0502020204030204" pitchFamily="34" charset="-122"/>
                <a:cs typeface="Arial" panose="020B0604020202020204" pitchFamily="34" charset="0"/>
                <a:sym typeface="+mn-ea"/>
              </a:rPr>
              <a:t> Analyze sentiment: positive, negative, or neutral</a:t>
            </a:r>
            <a:endParaRPr lang="en-US" sz="1600" dirty="0">
              <a:solidFill>
                <a:schemeClr val="tx1"/>
              </a:solidFill>
              <a:cs typeface="Arial" panose="020B0604020202020204" pitchFamily="34" charset="0"/>
            </a:endParaRPr>
          </a:p>
          <a:p>
            <a:pPr marL="285750" indent="-285750" algn="l">
              <a:buFont typeface="Arial" panose="020B0604020202020204" pitchFamily="34" charset="0"/>
              <a:buChar char="•"/>
            </a:pPr>
            <a:r>
              <a:rPr lang="en-US" sz="1600" dirty="0">
                <a:solidFill>
                  <a:schemeClr val="tx1"/>
                </a:solidFill>
                <a:ea typeface="Calibri" panose="020F0502020204030204" pitchFamily="34" charset="-122"/>
                <a:cs typeface="Arial" panose="020B0604020202020204" pitchFamily="34" charset="0"/>
                <a:sym typeface="+mn-ea"/>
              </a:rPr>
              <a:t> Present results through a Streamlit web interface</a:t>
            </a:r>
            <a:endParaRPr lang="en-US" sz="1600" dirty="0">
              <a:solidFill>
                <a:schemeClr val="tx1"/>
              </a:solidFill>
              <a:cs typeface="Arial" panose="020B0604020202020204" pitchFamily="34" charset="0"/>
            </a:endParaRPr>
          </a:p>
          <a:p>
            <a:pPr marL="0" indent="0" algn="l">
              <a:buNone/>
            </a:pPr>
            <a:endParaRPr lang="en-US" sz="1600" dirty="0">
              <a:solidFill>
                <a:schemeClr val="tx1"/>
              </a:solidFill>
              <a:cs typeface="Arial" panose="020B0604020202020204" pitchFamily="34" charset="0"/>
            </a:endParaRPr>
          </a:p>
          <a:p>
            <a:pPr marL="0" indent="0" algn="l">
              <a:buNone/>
            </a:pPr>
            <a:r>
              <a:rPr lang="en-US" sz="1600" dirty="0">
                <a:solidFill>
                  <a:schemeClr val="tx1"/>
                </a:solidFill>
                <a:ea typeface="Calibri" panose="020F0502020204030204" pitchFamily="34" charset="-122"/>
                <a:cs typeface="Arial" panose="020B0604020202020204" pitchFamily="34" charset="0"/>
                <a:sym typeface="+mn-ea"/>
              </a:rPr>
              <a:t>Such a system supports decision-making by enabling users to quickly evaluate the credibility of information circulating online.</a:t>
            </a:r>
            <a:endParaRPr kumimoji="0" lang="en-US" altLang="en-US" sz="1600" b="0" i="0" u="none" strike="noStrike" cap="none" normalizeH="0" baseline="0" dirty="0">
              <a:ln>
                <a:noFill/>
              </a:ln>
              <a:solidFill>
                <a:schemeClr val="tx1"/>
              </a:solidFill>
              <a:effectLst/>
              <a:latin typeface="Calibri" panose="020F0502020204030204" charset="0"/>
              <a:ea typeface="Calibri" panose="020F0502020204030204" pitchFamily="34" charset="-122"/>
              <a:cs typeface="Arial" panose="020B0604020202020204" pitchFamily="3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4"/>
          <p:cNvSpPr>
            <a:spLocks noChangeArrowheads="1"/>
          </p:cNvSpPr>
          <p:nvPr/>
        </p:nvSpPr>
        <p:spPr bwMode="auto">
          <a:xfrm>
            <a:off x="881380" y="1057275"/>
            <a:ext cx="95377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buNone/>
            </a:pPr>
            <a:r>
              <a:rPr lang="en-US" sz="1600" dirty="0">
                <a:solidFill>
                  <a:srgbClr val="1A1A1A"/>
                </a:solidFill>
                <a:ea typeface="Calibri" panose="020F0502020204030204" pitchFamily="34" charset="-122"/>
                <a:cs typeface="Arial" panose="020B0604020202020204" pitchFamily="34" charset="0"/>
                <a:sym typeface="+mn-ea"/>
              </a:rPr>
              <a:t>This project develops an NLP-based fake news detection system using a hybrid dataset. The scope includes data collection, preprocessing, model training, and system integration:</a:t>
            </a:r>
            <a:endParaRPr kumimoji="0" lang="en-US" altLang="en-US" sz="1600" b="0" i="0" u="none" strike="noStrike" cap="none" normalizeH="0" baseline="0" dirty="0">
              <a:ln>
                <a:noFill/>
              </a:ln>
              <a:solidFill>
                <a:schemeClr val="tx1"/>
              </a:solidFill>
              <a:effectLst/>
              <a:cs typeface="Arial" panose="020B0604020202020204" pitchFamily="34" charset="0"/>
            </a:endParaRPr>
          </a:p>
        </p:txBody>
      </p:sp>
      <p:grpSp>
        <p:nvGrpSpPr>
          <p:cNvPr id="11" name="组合 140"/>
          <p:cNvGrpSpPr/>
          <p:nvPr/>
        </p:nvGrpSpPr>
        <p:grpSpPr>
          <a:xfrm>
            <a:off x="6916808" y="63686"/>
            <a:ext cx="2240393" cy="761523"/>
            <a:chOff x="1607742" y="61757"/>
            <a:chExt cx="2240393" cy="761523"/>
          </a:xfrm>
        </p:grpSpPr>
        <p:pic>
          <p:nvPicPr>
            <p:cNvPr id="12" name="图片 138" descr="电脑截图&#10;&#10;描述已自动生成"/>
            <p:cNvPicPr>
              <a:picLocks noChangeAspect="1"/>
            </p:cNvPicPr>
            <p:nvPr/>
          </p:nvPicPr>
          <p:blipFill rotWithShape="1">
            <a:blip r:embed="rId3">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3" name="文本框 139"/>
            <p:cNvSpPr txBox="1"/>
            <p:nvPr/>
          </p:nvSpPr>
          <p:spPr>
            <a:xfrm>
              <a:off x="1912132" y="119352"/>
              <a:ext cx="1553630"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Final </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Conclusion</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8" name="组合 140"/>
          <p:cNvGrpSpPr/>
          <p:nvPr/>
        </p:nvGrpSpPr>
        <p:grpSpPr>
          <a:xfrm>
            <a:off x="5169785" y="63686"/>
            <a:ext cx="2240393" cy="761523"/>
            <a:chOff x="1607742" y="61757"/>
            <a:chExt cx="2240393" cy="761523"/>
          </a:xfrm>
        </p:grpSpPr>
        <p:pic>
          <p:nvPicPr>
            <p:cNvPr id="9" name="图片 138" descr="电脑截图&#10;&#10;描述已自动生成"/>
            <p:cNvPicPr>
              <a:picLocks noChangeAspect="1"/>
            </p:cNvPicPr>
            <p:nvPr/>
          </p:nvPicPr>
          <p:blipFill rotWithShape="1">
            <a:blip r:embed="rId3">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0" name="文本框 139"/>
            <p:cNvSpPr txBox="1"/>
            <p:nvPr/>
          </p:nvSpPr>
          <p:spPr>
            <a:xfrm>
              <a:off x="1912132" y="119352"/>
              <a:ext cx="1672253"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Technical</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Approaches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5" name="组合 140"/>
          <p:cNvGrpSpPr/>
          <p:nvPr/>
        </p:nvGrpSpPr>
        <p:grpSpPr>
          <a:xfrm>
            <a:off x="3422762" y="63686"/>
            <a:ext cx="2240393" cy="761523"/>
            <a:chOff x="1607742" y="61757"/>
            <a:chExt cx="2240393" cy="761523"/>
          </a:xfrm>
        </p:grpSpPr>
        <p:pic>
          <p:nvPicPr>
            <p:cNvPr id="6" name="图片 138" descr="电脑截图&#10;&#10;描述已自动生成"/>
            <p:cNvPicPr>
              <a:picLocks noChangeAspect="1"/>
            </p:cNvPicPr>
            <p:nvPr/>
          </p:nvPicPr>
          <p:blipFill rotWithShape="1">
            <a:blip r:embed="rId3">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7" name="文本框 139"/>
            <p:cNvSpPr txBox="1"/>
            <p:nvPr/>
          </p:nvSpPr>
          <p:spPr>
            <a:xfrm>
              <a:off x="1912132" y="119352"/>
              <a:ext cx="130035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Data</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Available</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 name="组合 140"/>
          <p:cNvGrpSpPr/>
          <p:nvPr/>
        </p:nvGrpSpPr>
        <p:grpSpPr>
          <a:xfrm>
            <a:off x="1675739" y="64201"/>
            <a:ext cx="2240393" cy="761523"/>
            <a:chOff x="1607742" y="61757"/>
            <a:chExt cx="2240393" cy="761523"/>
          </a:xfrm>
        </p:grpSpPr>
        <p:pic>
          <p:nvPicPr>
            <p:cNvPr id="3" name="图片 138" descr="电脑截图&#10;&#10;描述已自动生成"/>
            <p:cNvPicPr>
              <a:picLocks noChangeAspect="1"/>
            </p:cNvPicPr>
            <p:nvPr/>
          </p:nvPicPr>
          <p:blipFill rotWithShape="1">
            <a:blip r:embed="rId3"/>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4" name="文本框 139"/>
            <p:cNvSpPr txBox="1"/>
            <p:nvPr/>
          </p:nvSpPr>
          <p:spPr>
            <a:xfrm>
              <a:off x="1912132" y="119352"/>
              <a:ext cx="110799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Scopes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141" name="组合 140"/>
          <p:cNvGrpSpPr/>
          <p:nvPr/>
        </p:nvGrpSpPr>
        <p:grpSpPr>
          <a:xfrm>
            <a:off x="-71284" y="63686"/>
            <a:ext cx="2240393" cy="761523"/>
            <a:chOff x="1607742" y="61757"/>
            <a:chExt cx="2240393" cy="761523"/>
          </a:xfrm>
        </p:grpSpPr>
        <p:pic>
          <p:nvPicPr>
            <p:cNvPr id="139" name="图片 138" descr="电脑截图&#10;&#10;描述已自动生成"/>
            <p:cNvPicPr>
              <a:picLocks noChangeAspect="1"/>
            </p:cNvPicPr>
            <p:nvPr/>
          </p:nvPicPr>
          <p:blipFill rotWithShape="1">
            <a:blip r:embed="rId3">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40" name="文本框 139"/>
            <p:cNvSpPr txBox="1"/>
            <p:nvPr/>
          </p:nvSpPr>
          <p:spPr>
            <a:xfrm>
              <a:off x="1912132" y="119352"/>
              <a:ext cx="1487908"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Objectives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3" name="组合 22"/>
          <p:cNvGrpSpPr/>
          <p:nvPr/>
        </p:nvGrpSpPr>
        <p:grpSpPr>
          <a:xfrm>
            <a:off x="-5338" y="816353"/>
            <a:ext cx="10076425" cy="36000"/>
            <a:chOff x="0" y="640081"/>
            <a:chExt cx="10076425" cy="36000"/>
          </a:xfrm>
        </p:grpSpPr>
        <p:sp>
          <p:nvSpPr>
            <p:cNvPr id="21" name="矩形 20"/>
            <p:cNvSpPr/>
            <p:nvPr/>
          </p:nvSpPr>
          <p:spPr>
            <a:xfrm>
              <a:off x="0" y="640081"/>
              <a:ext cx="10004425" cy="36000"/>
            </a:xfrm>
            <a:prstGeom prst="rect">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sp>
          <p:nvSpPr>
            <p:cNvPr id="22" name="三角形 21"/>
            <p:cNvSpPr/>
            <p:nvPr/>
          </p:nvSpPr>
          <p:spPr>
            <a:xfrm>
              <a:off x="10004425" y="640081"/>
              <a:ext cx="72000" cy="36000"/>
            </a:xfrm>
            <a:prstGeom prst="triangle">
              <a:avLst>
                <a:gd name="adj" fmla="val 0"/>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grpSp>
      <p:grpSp>
        <p:nvGrpSpPr>
          <p:cNvPr id="16" name="Group 15"/>
          <p:cNvGrpSpPr/>
          <p:nvPr/>
        </p:nvGrpSpPr>
        <p:grpSpPr>
          <a:xfrm>
            <a:off x="9639635" y="-646"/>
            <a:ext cx="2801744" cy="639751"/>
            <a:chOff x="109411" y="4326"/>
            <a:chExt cx="2801744" cy="639751"/>
          </a:xfrm>
        </p:grpSpPr>
        <p:pic>
          <p:nvPicPr>
            <p:cNvPr id="17" name="Picture 16" descr="A blue and black logo&#10;&#10;AI-generated content may be incorrect."/>
            <p:cNvPicPr>
              <a:picLocks noChangeAspect="1"/>
            </p:cNvPicPr>
            <p:nvPr/>
          </p:nvPicPr>
          <p:blipFill>
            <a:blip r:embed="rId4"/>
            <a:stretch>
              <a:fillRect/>
            </a:stretch>
          </p:blipFill>
          <p:spPr>
            <a:xfrm>
              <a:off x="1411738" y="4326"/>
              <a:ext cx="1499417" cy="639751"/>
            </a:xfrm>
            <a:prstGeom prst="rect">
              <a:avLst/>
            </a:prstGeom>
          </p:spPr>
        </p:pic>
        <p:pic>
          <p:nvPicPr>
            <p:cNvPr id="18" name="Picture 17" descr="A blue and white logo with a black background&#10;&#10;AI-generated content may be incorrect."/>
            <p:cNvPicPr>
              <a:picLocks noChangeAspect="1"/>
            </p:cNvPicPr>
            <p:nvPr/>
          </p:nvPicPr>
          <p:blipFill>
            <a:blip r:embed="rId5"/>
            <a:stretch>
              <a:fillRect/>
            </a:stretch>
          </p:blipFill>
          <p:spPr>
            <a:xfrm>
              <a:off x="109411" y="102746"/>
              <a:ext cx="1211828" cy="513623"/>
            </a:xfrm>
            <a:prstGeom prst="rect">
              <a:avLst/>
            </a:prstGeom>
          </p:spPr>
        </p:pic>
        <p:cxnSp>
          <p:nvCxnSpPr>
            <p:cNvPr id="19" name="Straight Connector 18"/>
            <p:cNvCxnSpPr/>
            <p:nvPr/>
          </p:nvCxnSpPr>
          <p:spPr>
            <a:xfrm flipV="1">
              <a:off x="1365994" y="55416"/>
              <a:ext cx="0" cy="513623"/>
            </a:xfrm>
            <a:prstGeom prst="line">
              <a:avLst/>
            </a:prstGeom>
          </p:spPr>
          <p:style>
            <a:lnRef idx="2">
              <a:schemeClr val="accent1"/>
            </a:lnRef>
            <a:fillRef idx="0">
              <a:schemeClr val="accent1"/>
            </a:fillRef>
            <a:effectRef idx="1">
              <a:schemeClr val="accent1"/>
            </a:effectRef>
            <a:fontRef idx="minor">
              <a:schemeClr val="tx1"/>
            </a:fontRef>
          </p:style>
        </p:cxnSp>
      </p:grpSp>
      <p:sp>
        <p:nvSpPr>
          <p:cNvPr id="35" name="Text 15"/>
          <p:cNvSpPr/>
          <p:nvPr>
            <p:custDataLst>
              <p:tags r:id="rId1"/>
            </p:custDataLst>
          </p:nvPr>
        </p:nvSpPr>
        <p:spPr>
          <a:xfrm>
            <a:off x="973455" y="1682115"/>
            <a:ext cx="9968865" cy="4210685"/>
          </a:xfrm>
          <a:prstGeom prst="rect">
            <a:avLst/>
          </a:prstGeom>
          <a:noFill/>
        </p:spPr>
        <p:txBody>
          <a:bodyPr wrap="square" lIns="0" tIns="0" rIns="0" bIns="0" rtlCol="0" anchor="ctr"/>
          <a:lstStyle/>
          <a:p>
            <a:pPr marL="0" indent="0">
              <a:buNone/>
            </a:pPr>
            <a:r>
              <a:rPr lang="en-US" altLang="en-US" sz="1600" b="1" dirty="0">
                <a:ln>
                  <a:noFill/>
                </a:ln>
                <a:effectLst/>
                <a:latin typeface="Arial" panose="020B0604020202020204" pitchFamily="34" charset="0"/>
              </a:rPr>
              <a:t>Fake News Classification Module:</a:t>
            </a:r>
          </a:p>
          <a:p>
            <a:pPr marL="0" indent="0">
              <a:buNone/>
            </a:pPr>
            <a:r>
              <a:rPr lang="en-US" sz="1600" dirty="0">
                <a:solidFill>
                  <a:srgbClr val="1A1A1A"/>
                </a:solidFill>
                <a:latin typeface="Arial" panose="020B0604020202020204" pitchFamily="34" charset="0"/>
                <a:ea typeface="Calibri" panose="020F0502020204030204" pitchFamily="34" charset="-122"/>
                <a:cs typeface="Arial" panose="020B0604020202020204" pitchFamily="34" charset="0"/>
                <a:sym typeface="+mn-ea"/>
              </a:rPr>
              <a:t>Fine-tune BERT to classify news articles as fake or real. Output includes confidence scores. Baseline comparison with TF-IDF + Logistic Regression / SVM.</a:t>
            </a:r>
          </a:p>
          <a:p>
            <a:pPr marL="0" indent="0">
              <a:buNone/>
            </a:pPr>
            <a:endParaRPr lang="en-US" altLang="en-US" sz="1600" dirty="0">
              <a:ln>
                <a:noFill/>
              </a:ln>
              <a:solidFill>
                <a:srgbClr val="1A1A1A"/>
              </a:solidFill>
              <a:effectLst/>
              <a:latin typeface="Arial" panose="020B0604020202020204" pitchFamily="34" charset="0"/>
              <a:ea typeface="Calibri" panose="020F0502020204030204" pitchFamily="34" charset="-122"/>
              <a:cs typeface="Arial" panose="020B0604020202020204" pitchFamily="34" charset="0"/>
              <a:sym typeface="+mn-ea"/>
            </a:endParaRPr>
          </a:p>
          <a:p>
            <a:pPr marL="0" indent="0">
              <a:buNone/>
            </a:pPr>
            <a:r>
              <a:rPr lang="en-US" altLang="en-US" sz="1600" b="1" dirty="0">
                <a:ln>
                  <a:noFill/>
                </a:ln>
                <a:effectLst/>
                <a:latin typeface="Arial" panose="020B0604020202020204" pitchFamily="34" charset="0"/>
                <a:sym typeface="+mn-ea"/>
              </a:rPr>
              <a:t>Topic Classification Module:</a:t>
            </a:r>
            <a:endParaRPr lang="en-US" altLang="en-US" sz="1600" b="1" dirty="0">
              <a:ln>
                <a:noFill/>
              </a:ln>
              <a:effectLst/>
              <a:latin typeface="Arial" panose="020B0604020202020204" pitchFamily="34" charset="0"/>
            </a:endParaRPr>
          </a:p>
          <a:p>
            <a:pPr marL="0" indent="0">
              <a:buNone/>
            </a:pPr>
            <a:r>
              <a:rPr lang="en-US" sz="1600" dirty="0">
                <a:solidFill>
                  <a:srgbClr val="1A1A1A"/>
                </a:solidFill>
                <a:latin typeface="Arial" panose="020B0604020202020204" pitchFamily="34" charset="0"/>
                <a:ea typeface="Calibri" panose="020F0502020204030204" pitchFamily="34" charset="-122"/>
                <a:cs typeface="Arial" panose="020B0604020202020204" pitchFamily="34" charset="0"/>
                <a:sym typeface="+mn-ea"/>
              </a:rPr>
              <a:t>Identify the main topic / category of articles (politics, health, technology, business) using LDA or BERTopic as supporting analytical signals.</a:t>
            </a:r>
          </a:p>
          <a:p>
            <a:pPr marL="0" indent="0">
              <a:buNone/>
            </a:pPr>
            <a:endParaRPr lang="en-US" sz="1600" dirty="0">
              <a:solidFill>
                <a:srgbClr val="1A1A1A"/>
              </a:solidFill>
              <a:latin typeface="Arial" panose="020B0604020202020204" pitchFamily="34" charset="0"/>
              <a:ea typeface="Calibri" panose="020F0502020204030204" pitchFamily="34" charset="-122"/>
              <a:cs typeface="Arial" panose="020B0604020202020204" pitchFamily="34" charset="0"/>
              <a:sym typeface="+mn-ea"/>
            </a:endParaRPr>
          </a:p>
          <a:p>
            <a:pPr marL="0" indent="0">
              <a:buNone/>
            </a:pPr>
            <a:r>
              <a:rPr lang="en-US" altLang="en-US" sz="1600" b="1" dirty="0">
                <a:ln>
                  <a:noFill/>
                </a:ln>
                <a:effectLst/>
                <a:latin typeface="Arial" panose="020B0604020202020204" pitchFamily="34" charset="0"/>
                <a:sym typeface="+mn-ea"/>
              </a:rPr>
              <a:t>Sentiment Analysis Module:</a:t>
            </a:r>
            <a:endParaRPr lang="en-US" altLang="en-US" sz="1600" b="1" dirty="0">
              <a:ln>
                <a:noFill/>
              </a:ln>
              <a:effectLst/>
              <a:latin typeface="Arial" panose="020B0604020202020204" pitchFamily="34" charset="0"/>
            </a:endParaRPr>
          </a:p>
          <a:p>
            <a:pPr marL="0" indent="0">
              <a:buNone/>
            </a:pPr>
            <a:r>
              <a:rPr lang="en-US" sz="1600" dirty="0">
                <a:solidFill>
                  <a:srgbClr val="1A1A1A"/>
                </a:solidFill>
                <a:latin typeface="Arial" panose="020B0604020202020204" pitchFamily="34" charset="0"/>
                <a:ea typeface="Calibri" panose="020F0502020204030204" pitchFamily="34" charset="-122"/>
                <a:cs typeface="Arial" panose="020B0604020202020204" pitchFamily="34" charset="0"/>
                <a:sym typeface="+mn-ea"/>
              </a:rPr>
              <a:t>Analyze news content sentiment using pre-trained models to determine positive, negative, or neutral tone — enriching user interpretation of results.</a:t>
            </a:r>
          </a:p>
          <a:p>
            <a:pPr marL="0" indent="0">
              <a:buNone/>
            </a:pPr>
            <a:endParaRPr lang="en-US" altLang="en-US" sz="1600" b="1" dirty="0">
              <a:ln>
                <a:noFill/>
              </a:ln>
              <a:solidFill>
                <a:srgbClr val="1A1A1A"/>
              </a:solidFill>
              <a:effectLst/>
              <a:latin typeface="Arial" panose="020B0604020202020204" pitchFamily="34" charset="0"/>
              <a:ea typeface="Calibri" panose="020F0502020204030204" pitchFamily="34" charset="-122"/>
              <a:cs typeface="Arial" panose="020B0604020202020204" pitchFamily="34" charset="0"/>
              <a:sym typeface="+mn-ea"/>
            </a:endParaRPr>
          </a:p>
          <a:p>
            <a:pPr marL="0" indent="0">
              <a:buNone/>
            </a:pPr>
            <a:r>
              <a:rPr lang="en-US" altLang="en-US" sz="1600" b="1" dirty="0">
                <a:ln>
                  <a:noFill/>
                </a:ln>
                <a:effectLst/>
                <a:latin typeface="Arial" panose="020B0604020202020204" pitchFamily="34" charset="0"/>
                <a:sym typeface="+mn-ea"/>
              </a:rPr>
              <a:t>Evaluation &amp; System Integration:</a:t>
            </a:r>
            <a:endParaRPr lang="en-US" altLang="en-US" sz="1600" b="1" dirty="0">
              <a:ln>
                <a:noFill/>
              </a:ln>
              <a:effectLst/>
              <a:latin typeface="Arial" panose="020B0604020202020204" pitchFamily="34" charset="0"/>
            </a:endParaRPr>
          </a:p>
          <a:p>
            <a:pPr marL="0" indent="0">
              <a:buNone/>
            </a:pPr>
            <a:r>
              <a:rPr lang="en-US" sz="1600" dirty="0">
                <a:solidFill>
                  <a:srgbClr val="1A1A1A"/>
                </a:solidFill>
                <a:latin typeface="Arial" panose="020B0604020202020204" pitchFamily="34" charset="0"/>
                <a:ea typeface="Calibri" panose="020F0502020204030204" pitchFamily="34" charset="-122"/>
                <a:cs typeface="Arial" panose="020B0604020202020204" pitchFamily="34" charset="0"/>
                <a:sym typeface="+mn-ea"/>
              </a:rPr>
              <a:t>Evaluate with accuracy, precision, recall, F1-score, confusion matrix and qualitative error analysis. Integrate all modules into a Streamlit demo interface.</a:t>
            </a:r>
            <a:endParaRPr lang="en-US" altLang="en-US" sz="1600" dirty="0">
              <a:ln>
                <a:noFill/>
              </a:ln>
              <a:effectLst/>
              <a:latin typeface="Arial" panose="020B0604020202020204" pitchFamily="34" charset="0"/>
              <a:cs typeface="Arial" panose="020B0604020202020204" pitchFamily="34" charset="0"/>
            </a:endParaRPr>
          </a:p>
          <a:p>
            <a:pPr marL="0" indent="0">
              <a:buNone/>
            </a:pPr>
            <a:endParaRPr lang="en-US" altLang="en-US" sz="1600" b="1" dirty="0">
              <a:ln>
                <a:noFill/>
              </a:ln>
              <a:effectLst/>
              <a:latin typeface="Arial" panose="020B0604020202020204" pitchFamily="34" charset="0"/>
            </a:endParaRPr>
          </a:p>
        </p:txBody>
      </p:sp>
      <p:sp>
        <p:nvSpPr>
          <p:cNvPr id="47" name="文本框 46"/>
          <p:cNvSpPr txBox="1"/>
          <p:nvPr/>
        </p:nvSpPr>
        <p:spPr>
          <a:xfrm>
            <a:off x="882015" y="5780405"/>
            <a:ext cx="10060305" cy="583565"/>
          </a:xfrm>
          <a:prstGeom prst="rect">
            <a:avLst/>
          </a:prstGeom>
          <a:noFill/>
        </p:spPr>
        <p:txBody>
          <a:bodyPr wrap="square" rtlCol="0" anchor="t">
            <a:spAutoFit/>
          </a:bodyPr>
          <a:lstStyle/>
          <a:p>
            <a:pPr marL="0" indent="0">
              <a:buNone/>
            </a:pPr>
            <a:r>
              <a:rPr lang="en-US" sz="1600" i="1" dirty="0">
                <a:solidFill>
                  <a:srgbClr val="666666"/>
                </a:solidFill>
                <a:latin typeface="Calibri" panose="020F0502020204030204" charset="0"/>
                <a:ea typeface="Calibri" panose="020F0502020204030204" pitchFamily="34" charset="-122"/>
                <a:cs typeface="Calibri" panose="020F0502020204030204" pitchFamily="34" charset="-120"/>
                <a:sym typeface="+mn-ea"/>
              </a:rPr>
              <a:t>Scope is limited to text-based detection on the Kaggle dataset + self-collected Snopes/PolitiFact samples. Out of scope: real-time monitoring, multimedia detection, cloud deployment.</a:t>
            </a:r>
            <a:endParaRPr lang="en-US" altLang="en-US" sz="1600" dirty="0">
              <a:ln>
                <a:noFill/>
              </a:ln>
              <a:effectLst/>
              <a:latin typeface="Arial" panose="020B0604020202020204" pitchFamily="34"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40"/>
          <p:cNvGrpSpPr/>
          <p:nvPr/>
        </p:nvGrpSpPr>
        <p:grpSpPr>
          <a:xfrm>
            <a:off x="6916808" y="63686"/>
            <a:ext cx="2240393" cy="761523"/>
            <a:chOff x="1607742" y="61757"/>
            <a:chExt cx="2240393" cy="761523"/>
          </a:xfrm>
        </p:grpSpPr>
        <p:pic>
          <p:nvPicPr>
            <p:cNvPr id="12"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3" name="文本框 139"/>
            <p:cNvSpPr txBox="1"/>
            <p:nvPr/>
          </p:nvSpPr>
          <p:spPr>
            <a:xfrm>
              <a:off x="1912132" y="119352"/>
              <a:ext cx="1553630"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Final </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Conclusion</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8" name="组合 140"/>
          <p:cNvGrpSpPr/>
          <p:nvPr/>
        </p:nvGrpSpPr>
        <p:grpSpPr>
          <a:xfrm>
            <a:off x="5169785" y="63686"/>
            <a:ext cx="2240393" cy="761523"/>
            <a:chOff x="1607742" y="61757"/>
            <a:chExt cx="2240393" cy="761523"/>
          </a:xfrm>
        </p:grpSpPr>
        <p:pic>
          <p:nvPicPr>
            <p:cNvPr id="9"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0" name="文本框 139"/>
            <p:cNvSpPr txBox="1"/>
            <p:nvPr/>
          </p:nvSpPr>
          <p:spPr>
            <a:xfrm>
              <a:off x="1912132" y="119352"/>
              <a:ext cx="1672253"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Technical</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Approaches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5" name="组合 140"/>
          <p:cNvGrpSpPr/>
          <p:nvPr/>
        </p:nvGrpSpPr>
        <p:grpSpPr>
          <a:xfrm>
            <a:off x="3422762" y="63686"/>
            <a:ext cx="2240393" cy="761523"/>
            <a:chOff x="1607742" y="61757"/>
            <a:chExt cx="2240393" cy="761523"/>
          </a:xfrm>
        </p:grpSpPr>
        <p:pic>
          <p:nvPicPr>
            <p:cNvPr id="6" name="图片 138" descr="电脑截图&#10;&#10;描述已自动生成"/>
            <p:cNvPicPr>
              <a:picLocks noChangeAspect="1"/>
            </p:cNvPicPr>
            <p:nvPr/>
          </p:nvPicPr>
          <p:blipFill rotWithShape="1">
            <a:blip r:embed="rId2"/>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7" name="文本框 139"/>
            <p:cNvSpPr txBox="1"/>
            <p:nvPr/>
          </p:nvSpPr>
          <p:spPr>
            <a:xfrm>
              <a:off x="1912132" y="119352"/>
              <a:ext cx="130035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Data</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Available</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 name="组合 140"/>
          <p:cNvGrpSpPr/>
          <p:nvPr/>
        </p:nvGrpSpPr>
        <p:grpSpPr>
          <a:xfrm>
            <a:off x="1675739" y="64201"/>
            <a:ext cx="2240393" cy="761523"/>
            <a:chOff x="1607742" y="61757"/>
            <a:chExt cx="2240393" cy="761523"/>
          </a:xfrm>
        </p:grpSpPr>
        <p:pic>
          <p:nvPicPr>
            <p:cNvPr id="3"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4" name="文本框 139"/>
            <p:cNvSpPr txBox="1"/>
            <p:nvPr/>
          </p:nvSpPr>
          <p:spPr>
            <a:xfrm>
              <a:off x="1912132" y="119352"/>
              <a:ext cx="110799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Scopes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141" name="组合 140"/>
          <p:cNvGrpSpPr/>
          <p:nvPr/>
        </p:nvGrpSpPr>
        <p:grpSpPr>
          <a:xfrm>
            <a:off x="-71284" y="63686"/>
            <a:ext cx="2240393" cy="761523"/>
            <a:chOff x="1607742" y="61757"/>
            <a:chExt cx="2240393" cy="761523"/>
          </a:xfrm>
        </p:grpSpPr>
        <p:pic>
          <p:nvPicPr>
            <p:cNvPr id="139"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40" name="文本框 139"/>
            <p:cNvSpPr txBox="1"/>
            <p:nvPr/>
          </p:nvSpPr>
          <p:spPr>
            <a:xfrm>
              <a:off x="1912132" y="119352"/>
              <a:ext cx="1487908"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Objectives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3" name="组合 22"/>
          <p:cNvGrpSpPr/>
          <p:nvPr/>
        </p:nvGrpSpPr>
        <p:grpSpPr>
          <a:xfrm>
            <a:off x="-5338" y="816353"/>
            <a:ext cx="10076425" cy="36000"/>
            <a:chOff x="0" y="640081"/>
            <a:chExt cx="10076425" cy="36000"/>
          </a:xfrm>
        </p:grpSpPr>
        <p:sp>
          <p:nvSpPr>
            <p:cNvPr id="21" name="矩形 20"/>
            <p:cNvSpPr/>
            <p:nvPr/>
          </p:nvSpPr>
          <p:spPr>
            <a:xfrm>
              <a:off x="0" y="640081"/>
              <a:ext cx="10004425" cy="36000"/>
            </a:xfrm>
            <a:prstGeom prst="rect">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sp>
          <p:nvSpPr>
            <p:cNvPr id="22" name="三角形 21"/>
            <p:cNvSpPr/>
            <p:nvPr/>
          </p:nvSpPr>
          <p:spPr>
            <a:xfrm>
              <a:off x="10004425" y="640081"/>
              <a:ext cx="72000" cy="36000"/>
            </a:xfrm>
            <a:prstGeom prst="triangle">
              <a:avLst>
                <a:gd name="adj" fmla="val 0"/>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grpSp>
      <p:grpSp>
        <p:nvGrpSpPr>
          <p:cNvPr id="16" name="Group 15"/>
          <p:cNvGrpSpPr/>
          <p:nvPr/>
        </p:nvGrpSpPr>
        <p:grpSpPr>
          <a:xfrm>
            <a:off x="9639635" y="-646"/>
            <a:ext cx="2801744" cy="639751"/>
            <a:chOff x="109411" y="4326"/>
            <a:chExt cx="2801744" cy="639751"/>
          </a:xfrm>
        </p:grpSpPr>
        <p:pic>
          <p:nvPicPr>
            <p:cNvPr id="17" name="Picture 16" descr="A blue and black logo&#10;&#10;AI-generated content may be incorrect."/>
            <p:cNvPicPr>
              <a:picLocks noChangeAspect="1"/>
            </p:cNvPicPr>
            <p:nvPr/>
          </p:nvPicPr>
          <p:blipFill>
            <a:blip r:embed="rId3"/>
            <a:stretch>
              <a:fillRect/>
            </a:stretch>
          </p:blipFill>
          <p:spPr>
            <a:xfrm>
              <a:off x="1411738" y="4326"/>
              <a:ext cx="1499417" cy="639751"/>
            </a:xfrm>
            <a:prstGeom prst="rect">
              <a:avLst/>
            </a:prstGeom>
          </p:spPr>
        </p:pic>
        <p:pic>
          <p:nvPicPr>
            <p:cNvPr id="18" name="Picture 17" descr="A blue and white logo with a black background&#10;&#10;AI-generated content may be incorrect."/>
            <p:cNvPicPr>
              <a:picLocks noChangeAspect="1"/>
            </p:cNvPicPr>
            <p:nvPr/>
          </p:nvPicPr>
          <p:blipFill>
            <a:blip r:embed="rId4"/>
            <a:stretch>
              <a:fillRect/>
            </a:stretch>
          </p:blipFill>
          <p:spPr>
            <a:xfrm>
              <a:off x="109411" y="102746"/>
              <a:ext cx="1211828" cy="513623"/>
            </a:xfrm>
            <a:prstGeom prst="rect">
              <a:avLst/>
            </a:prstGeom>
          </p:spPr>
        </p:pic>
        <p:cxnSp>
          <p:nvCxnSpPr>
            <p:cNvPr id="19" name="Straight Connector 18"/>
            <p:cNvCxnSpPr/>
            <p:nvPr/>
          </p:nvCxnSpPr>
          <p:spPr>
            <a:xfrm flipV="1">
              <a:off x="1365994" y="55416"/>
              <a:ext cx="0" cy="513623"/>
            </a:xfrm>
            <a:prstGeom prst="line">
              <a:avLst/>
            </a:prstGeom>
          </p:spPr>
          <p:style>
            <a:lnRef idx="2">
              <a:schemeClr val="accent1"/>
            </a:lnRef>
            <a:fillRef idx="0">
              <a:schemeClr val="accent1"/>
            </a:fillRef>
            <a:effectRef idx="1">
              <a:schemeClr val="accent1"/>
            </a:effectRef>
            <a:fontRef idx="minor">
              <a:schemeClr val="tx1"/>
            </a:fontRef>
          </p:style>
        </p:cxnSp>
      </p:grpSp>
      <p:sp>
        <p:nvSpPr>
          <p:cNvPr id="28" name="文本框 139"/>
          <p:cNvSpPr txBox="1"/>
          <p:nvPr/>
        </p:nvSpPr>
        <p:spPr>
          <a:xfrm>
            <a:off x="275146" y="1287066"/>
            <a:ext cx="4522271" cy="368300"/>
          </a:xfrm>
          <a:prstGeom prst="rect">
            <a:avLst/>
          </a:prstGeom>
          <a:noFill/>
        </p:spPr>
        <p:txBody>
          <a:bodyPr wrap="square" rtlCol="0">
            <a:spAutoFit/>
          </a:bodyPr>
          <a:lstStyle/>
          <a:p>
            <a:r>
              <a:rPr lang="en-US" b="1" dirty="0">
                <a:solidFill>
                  <a:srgbClr val="1A1A1A"/>
                </a:solidFill>
                <a:ea typeface="Calibri" panose="020F0502020204030204" pitchFamily="34" charset="-122"/>
                <a:cs typeface="Arial" panose="020B0604020202020204" pitchFamily="34" charset="0"/>
                <a:sym typeface="+mn-ea"/>
              </a:rPr>
              <a:t>Kaggle Fake News Dataset</a:t>
            </a:r>
            <a:endParaRPr kumimoji="1" lang="zh-SG" altLang="en-US" b="1" dirty="0">
              <a:latin typeface="Lantinghei SC Demibold" panose="02000000000000000000" pitchFamily="2" charset="-122"/>
              <a:ea typeface="Lantinghei SC Demibold" panose="02000000000000000000" pitchFamily="2" charset="-122"/>
            </a:endParaRPr>
          </a:p>
        </p:txBody>
      </p:sp>
      <p:sp>
        <p:nvSpPr>
          <p:cNvPr id="31" name="Rectangle 4"/>
          <p:cNvSpPr>
            <a:spLocks noChangeArrowheads="1"/>
          </p:cNvSpPr>
          <p:nvPr/>
        </p:nvSpPr>
        <p:spPr bwMode="auto">
          <a:xfrm>
            <a:off x="275146" y="1876237"/>
            <a:ext cx="5862894" cy="3538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gn="l">
              <a:buNone/>
            </a:pPr>
            <a:r>
              <a:rPr lang="en-US" sz="1600" dirty="0">
                <a:solidFill>
                  <a:srgbClr val="1A1A1A"/>
                </a:solidFill>
                <a:ea typeface="Calibri" panose="020F0502020204030204" pitchFamily="34" charset="-122"/>
                <a:cs typeface="Arial" panose="020B0604020202020204" pitchFamily="34" charset="0"/>
                <a:sym typeface="+mn-ea"/>
              </a:rPr>
              <a:t>The Kaggle Fake News Dataset serves as the primary training source, providing over 20,000 labeled articles (fake/real) with title and text fields. Its scale and balanced class distribution make it suitable for fine-tuning BERT.</a:t>
            </a:r>
            <a:endParaRPr lang="en-US" sz="1600" dirty="0">
              <a:cs typeface="Arial" panose="020B0604020202020204" pitchFamily="34" charset="0"/>
            </a:endParaRPr>
          </a:p>
          <a:p>
            <a:pPr marL="0" indent="0" algn="l">
              <a:buNone/>
            </a:pPr>
            <a:endParaRPr lang="en-US" sz="1600" dirty="0">
              <a:cs typeface="Arial" panose="020B0604020202020204" pitchFamily="34" charset="0"/>
            </a:endParaRPr>
          </a:p>
          <a:p>
            <a:pPr marL="0" indent="0" algn="l">
              <a:buNone/>
            </a:pPr>
            <a:r>
              <a:rPr lang="en-US" sz="1600" dirty="0">
                <a:solidFill>
                  <a:srgbClr val="1A1A1A"/>
                </a:solidFill>
                <a:ea typeface="Calibri" panose="020F0502020204030204" pitchFamily="34" charset="-122"/>
                <a:cs typeface="Arial" panose="020B0604020202020204" pitchFamily="34" charset="0"/>
                <a:sym typeface="+mn-ea"/>
              </a:rPr>
              <a:t>To reduce dataset bias, 200–500 additional articles are self-collected from Snopes and PolitiFact (bonus points: self-collected data). Labels are aligned with fact-check verdicts and cross-validated by ≥2 team members. Near-identical articles are deduplicated; self-collected samples do not overlap with the test set.</a:t>
            </a:r>
            <a:endParaRPr lang="en-US" sz="1600" dirty="0">
              <a:cs typeface="Arial" panose="020B0604020202020204" pitchFamily="34" charset="0"/>
            </a:endParaRPr>
          </a:p>
          <a:p>
            <a:pPr marL="0" indent="0" algn="l">
              <a:buNone/>
            </a:pPr>
            <a:endParaRPr lang="en-US" sz="1600" dirty="0">
              <a:cs typeface="Arial" panose="020B0604020202020204" pitchFamily="34" charset="0"/>
            </a:endParaRPr>
          </a:p>
          <a:p>
            <a:pPr marL="0" indent="0" algn="l">
              <a:buNone/>
            </a:pPr>
            <a:r>
              <a:rPr lang="en-US" sz="1600" dirty="0">
                <a:solidFill>
                  <a:srgbClr val="1A1A1A"/>
                </a:solidFill>
                <a:ea typeface="Calibri" panose="020F0502020204030204" pitchFamily="34" charset="-122"/>
                <a:cs typeface="Arial" panose="020B0604020202020204" pitchFamily="34" charset="0"/>
                <a:sym typeface="+mn-ea"/>
              </a:rPr>
              <a:t>Combined benefits: sufficient labeled volume for deep learning, diversity for generalization, and realistic evaluation.</a:t>
            </a:r>
            <a:endParaRPr kumimoji="0" lang="en-US" altLang="en-US" sz="1600" b="0" i="0" u="none" strike="noStrike" cap="none" normalizeH="0" baseline="0" dirty="0">
              <a:ln>
                <a:noFill/>
              </a:ln>
              <a:solidFill>
                <a:schemeClr val="tx1"/>
              </a:solidFill>
              <a:effectLst/>
              <a:cs typeface="Arial" panose="020B0604020202020204" pitchFamily="34" charset="0"/>
            </a:endParaRPr>
          </a:p>
        </p:txBody>
      </p:sp>
      <p:grpSp>
        <p:nvGrpSpPr>
          <p:cNvPr id="49" name="组合 48"/>
          <p:cNvGrpSpPr/>
          <p:nvPr/>
        </p:nvGrpSpPr>
        <p:grpSpPr>
          <a:xfrm>
            <a:off x="6642100" y="1170940"/>
            <a:ext cx="5080635" cy="4709795"/>
            <a:chOff x="8323" y="1267"/>
            <a:chExt cx="5616" cy="6450"/>
          </a:xfrm>
        </p:grpSpPr>
        <p:sp>
          <p:nvSpPr>
            <p:cNvPr id="47" name="Shape 17"/>
            <p:cNvSpPr/>
            <p:nvPr/>
          </p:nvSpPr>
          <p:spPr>
            <a:xfrm>
              <a:off x="8323" y="1267"/>
              <a:ext cx="5616" cy="6451"/>
            </a:xfrm>
            <a:prstGeom prst="rect">
              <a:avLst/>
            </a:prstGeom>
            <a:solidFill>
              <a:srgbClr val="F5F5F5"/>
            </a:solidFill>
            <a:ln w="12700">
              <a:solidFill>
                <a:srgbClr val="DEDEDE"/>
              </a:solidFill>
              <a:prstDash val="solid"/>
            </a:ln>
          </p:spPr>
          <p:txBody>
            <a:bodyPr/>
            <a:lstStyle/>
            <a:p>
              <a:endParaRPr lang="zh-CN" altLang="en-US"/>
            </a:p>
          </p:txBody>
        </p:sp>
        <p:sp>
          <p:nvSpPr>
            <p:cNvPr id="48" name="Shape 18"/>
            <p:cNvSpPr/>
            <p:nvPr/>
          </p:nvSpPr>
          <p:spPr>
            <a:xfrm>
              <a:off x="8323" y="1267"/>
              <a:ext cx="5616" cy="576"/>
            </a:xfrm>
            <a:prstGeom prst="rect">
              <a:avLst/>
            </a:prstGeom>
            <a:solidFill>
              <a:srgbClr val="2272B5"/>
            </a:solidFill>
            <a:ln w="12700">
              <a:solidFill>
                <a:srgbClr val="2272B5"/>
              </a:solidFill>
              <a:prstDash val="solid"/>
            </a:ln>
          </p:spPr>
          <p:txBody>
            <a:bodyPr/>
            <a:lstStyle/>
            <a:p>
              <a:endParaRPr lang="zh-CN" altLang="en-US"/>
            </a:p>
          </p:txBody>
        </p:sp>
        <p:sp>
          <p:nvSpPr>
            <p:cNvPr id="50" name="Text 19"/>
            <p:cNvSpPr/>
            <p:nvPr/>
          </p:nvSpPr>
          <p:spPr>
            <a:xfrm>
              <a:off x="8438" y="1296"/>
              <a:ext cx="5400" cy="518"/>
            </a:xfrm>
            <a:prstGeom prst="rect">
              <a:avLst/>
            </a:prstGeom>
            <a:noFill/>
          </p:spPr>
          <p:txBody>
            <a:bodyPr wrap="square" lIns="0" tIns="0" rIns="0" bIns="0" rtlCol="0" anchor="ctr"/>
            <a:lstStyle/>
            <a:p>
              <a:pPr marL="0" indent="0">
                <a:buNone/>
              </a:pPr>
              <a:r>
                <a:rPr lang="en-US" b="1" dirty="0">
                  <a:solidFill>
                    <a:srgbClr val="FFFFFF"/>
                  </a:solidFill>
                  <a:latin typeface="Calibri" panose="020F0502020204030204" charset="0"/>
                  <a:ea typeface="Calibri" panose="020F0502020204030204" pitchFamily="34" charset="-122"/>
                  <a:cs typeface="Calibri" panose="020F0502020204030204" pitchFamily="34" charset="-120"/>
                </a:rPr>
                <a:t>Kaggle Fake News Dataset</a:t>
              </a:r>
            </a:p>
          </p:txBody>
        </p:sp>
        <p:sp>
          <p:nvSpPr>
            <p:cNvPr id="51" name="Shape 20"/>
            <p:cNvSpPr/>
            <p:nvPr/>
          </p:nvSpPr>
          <p:spPr>
            <a:xfrm>
              <a:off x="8323" y="1930"/>
              <a:ext cx="5616" cy="547"/>
            </a:xfrm>
            <a:prstGeom prst="rect">
              <a:avLst/>
            </a:prstGeom>
            <a:solidFill>
              <a:srgbClr val="EAF1FB"/>
            </a:solidFill>
            <a:ln w="12700">
              <a:solidFill>
                <a:srgbClr val="DEDEDE"/>
              </a:solidFill>
              <a:prstDash val="solid"/>
            </a:ln>
          </p:spPr>
          <p:txBody>
            <a:bodyPr/>
            <a:lstStyle/>
            <a:p>
              <a:endParaRPr lang="zh-CN" altLang="en-US"/>
            </a:p>
          </p:txBody>
        </p:sp>
        <p:sp>
          <p:nvSpPr>
            <p:cNvPr id="52" name="Text 21"/>
            <p:cNvSpPr/>
            <p:nvPr/>
          </p:nvSpPr>
          <p:spPr>
            <a:xfrm>
              <a:off x="8467" y="1987"/>
              <a:ext cx="2448" cy="432"/>
            </a:xfrm>
            <a:prstGeom prst="rect">
              <a:avLst/>
            </a:prstGeom>
            <a:noFill/>
          </p:spPr>
          <p:txBody>
            <a:bodyPr wrap="square" lIns="0" tIns="0" rIns="0" bIns="0" rtlCol="0" anchor="ctr"/>
            <a:lstStyle/>
            <a:p>
              <a:pPr marL="0" indent="0">
                <a:buNone/>
              </a:pPr>
              <a:r>
                <a:rPr lang="en-US" b="1" dirty="0">
                  <a:solidFill>
                    <a:srgbClr val="1F4E79"/>
                  </a:solidFill>
                  <a:latin typeface="Calibri" panose="020F0502020204030204" charset="0"/>
                  <a:ea typeface="Calibri" panose="020F0502020204030204" pitchFamily="34" charset="-122"/>
                  <a:cs typeface="Calibri" panose="020F0502020204030204" pitchFamily="34" charset="-120"/>
                </a:rPr>
                <a:t>Total Articles:</a:t>
              </a:r>
            </a:p>
          </p:txBody>
        </p:sp>
        <p:sp>
          <p:nvSpPr>
            <p:cNvPr id="53" name="Text 22"/>
            <p:cNvSpPr/>
            <p:nvPr/>
          </p:nvSpPr>
          <p:spPr>
            <a:xfrm>
              <a:off x="11016" y="1987"/>
              <a:ext cx="2736" cy="432"/>
            </a:xfrm>
            <a:prstGeom prst="rect">
              <a:avLst/>
            </a:prstGeom>
            <a:noFill/>
          </p:spPr>
          <p:txBody>
            <a:bodyPr wrap="square" lIns="0" tIns="0" rIns="0" bIns="0" rtlCol="0" anchor="ctr"/>
            <a:lstStyle/>
            <a:p>
              <a:pPr marL="0" indent="0">
                <a:buNone/>
              </a:pPr>
              <a:r>
                <a:rPr lang="en-US" dirty="0">
                  <a:solidFill>
                    <a:srgbClr val="1A1A1A"/>
                  </a:solidFill>
                  <a:latin typeface="Calibri" panose="020F0502020204030204" charset="0"/>
                  <a:ea typeface="Calibri" panose="020F0502020204030204" pitchFamily="34" charset="-122"/>
                  <a:cs typeface="Calibri" panose="020F0502020204030204" pitchFamily="34" charset="-120"/>
                </a:rPr>
                <a:t>20,000+</a:t>
              </a:r>
            </a:p>
          </p:txBody>
        </p:sp>
        <p:sp>
          <p:nvSpPr>
            <p:cNvPr id="54" name="Shape 23"/>
            <p:cNvSpPr/>
            <p:nvPr/>
          </p:nvSpPr>
          <p:spPr>
            <a:xfrm>
              <a:off x="8323" y="2477"/>
              <a:ext cx="5616" cy="547"/>
            </a:xfrm>
            <a:prstGeom prst="rect">
              <a:avLst/>
            </a:prstGeom>
            <a:solidFill>
              <a:srgbClr val="FFFFFF"/>
            </a:solidFill>
            <a:ln w="12700">
              <a:solidFill>
                <a:srgbClr val="DEDEDE"/>
              </a:solidFill>
              <a:prstDash val="solid"/>
            </a:ln>
          </p:spPr>
          <p:txBody>
            <a:bodyPr/>
            <a:lstStyle/>
            <a:p>
              <a:endParaRPr lang="zh-CN" altLang="en-US"/>
            </a:p>
          </p:txBody>
        </p:sp>
        <p:sp>
          <p:nvSpPr>
            <p:cNvPr id="55" name="Text 24"/>
            <p:cNvSpPr/>
            <p:nvPr/>
          </p:nvSpPr>
          <p:spPr>
            <a:xfrm>
              <a:off x="8467" y="2534"/>
              <a:ext cx="2448" cy="432"/>
            </a:xfrm>
            <a:prstGeom prst="rect">
              <a:avLst/>
            </a:prstGeom>
            <a:noFill/>
          </p:spPr>
          <p:txBody>
            <a:bodyPr wrap="square" lIns="0" tIns="0" rIns="0" bIns="0" rtlCol="0" anchor="ctr"/>
            <a:lstStyle/>
            <a:p>
              <a:pPr marL="0" indent="0">
                <a:buNone/>
              </a:pPr>
              <a:r>
                <a:rPr lang="en-US" b="1" dirty="0">
                  <a:solidFill>
                    <a:srgbClr val="1F4E79"/>
                  </a:solidFill>
                  <a:latin typeface="Calibri" panose="020F0502020204030204" charset="0"/>
                  <a:ea typeface="Calibri" panose="020F0502020204030204" pitchFamily="34" charset="-122"/>
                  <a:cs typeface="Calibri" panose="020F0502020204030204" pitchFamily="34" charset="-120"/>
                </a:rPr>
                <a:t>Classes:</a:t>
              </a:r>
            </a:p>
          </p:txBody>
        </p:sp>
        <p:sp>
          <p:nvSpPr>
            <p:cNvPr id="56" name="Text 25"/>
            <p:cNvSpPr/>
            <p:nvPr/>
          </p:nvSpPr>
          <p:spPr>
            <a:xfrm>
              <a:off x="11016" y="2534"/>
              <a:ext cx="2736" cy="432"/>
            </a:xfrm>
            <a:prstGeom prst="rect">
              <a:avLst/>
            </a:prstGeom>
            <a:noFill/>
          </p:spPr>
          <p:txBody>
            <a:bodyPr wrap="square" lIns="0" tIns="0" rIns="0" bIns="0" rtlCol="0" anchor="ctr"/>
            <a:lstStyle/>
            <a:p>
              <a:pPr marL="0" indent="0">
                <a:buNone/>
              </a:pPr>
              <a:r>
                <a:rPr lang="en-US" dirty="0">
                  <a:solidFill>
                    <a:srgbClr val="1A1A1A"/>
                  </a:solidFill>
                  <a:latin typeface="Calibri" panose="020F0502020204030204" charset="0"/>
                  <a:ea typeface="Calibri" panose="020F0502020204030204" pitchFamily="34" charset="-122"/>
                  <a:cs typeface="Calibri" panose="020F0502020204030204" pitchFamily="34" charset="-120"/>
                </a:rPr>
                <a:t>Fake / Real</a:t>
              </a:r>
            </a:p>
          </p:txBody>
        </p:sp>
        <p:sp>
          <p:nvSpPr>
            <p:cNvPr id="57" name="Shape 26"/>
            <p:cNvSpPr/>
            <p:nvPr/>
          </p:nvSpPr>
          <p:spPr>
            <a:xfrm>
              <a:off x="8323" y="3024"/>
              <a:ext cx="5616" cy="547"/>
            </a:xfrm>
            <a:prstGeom prst="rect">
              <a:avLst/>
            </a:prstGeom>
            <a:solidFill>
              <a:srgbClr val="EAF1FB"/>
            </a:solidFill>
            <a:ln w="12700">
              <a:solidFill>
                <a:srgbClr val="DEDEDE"/>
              </a:solidFill>
              <a:prstDash val="solid"/>
            </a:ln>
          </p:spPr>
          <p:txBody>
            <a:bodyPr/>
            <a:lstStyle/>
            <a:p>
              <a:endParaRPr lang="zh-CN" altLang="en-US"/>
            </a:p>
          </p:txBody>
        </p:sp>
        <p:sp>
          <p:nvSpPr>
            <p:cNvPr id="58" name="Text 27"/>
            <p:cNvSpPr/>
            <p:nvPr/>
          </p:nvSpPr>
          <p:spPr>
            <a:xfrm>
              <a:off x="8467" y="3082"/>
              <a:ext cx="2448" cy="432"/>
            </a:xfrm>
            <a:prstGeom prst="rect">
              <a:avLst/>
            </a:prstGeom>
            <a:noFill/>
          </p:spPr>
          <p:txBody>
            <a:bodyPr wrap="square" lIns="0" tIns="0" rIns="0" bIns="0" rtlCol="0" anchor="ctr"/>
            <a:lstStyle/>
            <a:p>
              <a:pPr marL="0" indent="0">
                <a:buNone/>
              </a:pPr>
              <a:r>
                <a:rPr lang="en-US" b="1" dirty="0">
                  <a:solidFill>
                    <a:srgbClr val="1F4E79"/>
                  </a:solidFill>
                  <a:latin typeface="Calibri" panose="020F0502020204030204" charset="0"/>
                  <a:ea typeface="Calibri" panose="020F0502020204030204" pitchFamily="34" charset="-122"/>
                  <a:cs typeface="Calibri" panose="020F0502020204030204" pitchFamily="34" charset="-120"/>
                </a:rPr>
                <a:t>Fields:</a:t>
              </a:r>
            </a:p>
          </p:txBody>
        </p:sp>
        <p:sp>
          <p:nvSpPr>
            <p:cNvPr id="59" name="Text 28"/>
            <p:cNvSpPr/>
            <p:nvPr/>
          </p:nvSpPr>
          <p:spPr>
            <a:xfrm>
              <a:off x="11016" y="3082"/>
              <a:ext cx="2736" cy="432"/>
            </a:xfrm>
            <a:prstGeom prst="rect">
              <a:avLst/>
            </a:prstGeom>
            <a:noFill/>
          </p:spPr>
          <p:txBody>
            <a:bodyPr wrap="square" lIns="0" tIns="0" rIns="0" bIns="0" rtlCol="0" anchor="ctr"/>
            <a:lstStyle/>
            <a:p>
              <a:pPr marL="0" indent="0">
                <a:buNone/>
              </a:pPr>
              <a:r>
                <a:rPr lang="en-US" dirty="0">
                  <a:solidFill>
                    <a:srgbClr val="1A1A1A"/>
                  </a:solidFill>
                  <a:latin typeface="Calibri" panose="020F0502020204030204" charset="0"/>
                  <a:ea typeface="Calibri" panose="020F0502020204030204" pitchFamily="34" charset="-122"/>
                  <a:cs typeface="Calibri" panose="020F0502020204030204" pitchFamily="34" charset="-120"/>
                </a:rPr>
                <a:t>Title, Text, Label</a:t>
              </a:r>
            </a:p>
          </p:txBody>
        </p:sp>
        <p:sp>
          <p:nvSpPr>
            <p:cNvPr id="60" name="Shape 29"/>
            <p:cNvSpPr/>
            <p:nvPr/>
          </p:nvSpPr>
          <p:spPr>
            <a:xfrm>
              <a:off x="8323" y="3571"/>
              <a:ext cx="5616" cy="547"/>
            </a:xfrm>
            <a:prstGeom prst="rect">
              <a:avLst/>
            </a:prstGeom>
            <a:solidFill>
              <a:srgbClr val="FFFFFF"/>
            </a:solidFill>
            <a:ln w="12700">
              <a:solidFill>
                <a:srgbClr val="DEDEDE"/>
              </a:solidFill>
              <a:prstDash val="solid"/>
            </a:ln>
          </p:spPr>
          <p:txBody>
            <a:bodyPr/>
            <a:lstStyle/>
            <a:p>
              <a:endParaRPr lang="zh-CN" altLang="en-US"/>
            </a:p>
          </p:txBody>
        </p:sp>
        <p:sp>
          <p:nvSpPr>
            <p:cNvPr id="61" name="Text 30"/>
            <p:cNvSpPr/>
            <p:nvPr/>
          </p:nvSpPr>
          <p:spPr>
            <a:xfrm>
              <a:off x="8467" y="3629"/>
              <a:ext cx="2448" cy="432"/>
            </a:xfrm>
            <a:prstGeom prst="rect">
              <a:avLst/>
            </a:prstGeom>
            <a:noFill/>
          </p:spPr>
          <p:txBody>
            <a:bodyPr wrap="square" lIns="0" tIns="0" rIns="0" bIns="0" rtlCol="0" anchor="ctr"/>
            <a:lstStyle/>
            <a:p>
              <a:pPr marL="0" indent="0">
                <a:buNone/>
              </a:pPr>
              <a:r>
                <a:rPr lang="en-US" b="1" dirty="0">
                  <a:solidFill>
                    <a:srgbClr val="1F4E79"/>
                  </a:solidFill>
                  <a:latin typeface="Calibri" panose="020F0502020204030204" charset="0"/>
                  <a:ea typeface="Calibri" panose="020F0502020204030204" pitchFamily="34" charset="-122"/>
                  <a:cs typeface="Calibri" panose="020F0502020204030204" pitchFamily="34" charset="-120"/>
                </a:rPr>
                <a:t>Data Split:</a:t>
              </a:r>
            </a:p>
          </p:txBody>
        </p:sp>
        <p:sp>
          <p:nvSpPr>
            <p:cNvPr id="62" name="Text 31"/>
            <p:cNvSpPr/>
            <p:nvPr/>
          </p:nvSpPr>
          <p:spPr>
            <a:xfrm>
              <a:off x="11016" y="3629"/>
              <a:ext cx="2736" cy="432"/>
            </a:xfrm>
            <a:prstGeom prst="rect">
              <a:avLst/>
            </a:prstGeom>
            <a:noFill/>
          </p:spPr>
          <p:txBody>
            <a:bodyPr wrap="square" lIns="0" tIns="0" rIns="0" bIns="0" rtlCol="0" anchor="ctr"/>
            <a:lstStyle/>
            <a:p>
              <a:pPr marL="0" indent="0">
                <a:buNone/>
              </a:pPr>
              <a:r>
                <a:rPr lang="en-US" dirty="0">
                  <a:solidFill>
                    <a:srgbClr val="1A1A1A"/>
                  </a:solidFill>
                  <a:latin typeface="Calibri" panose="020F0502020204030204" charset="0"/>
                  <a:ea typeface="Calibri" panose="020F0502020204030204" pitchFamily="34" charset="-122"/>
                  <a:cs typeface="Calibri" panose="020F0502020204030204" pitchFamily="34" charset="-120"/>
                </a:rPr>
                <a:t>80 / 10 / 10 %</a:t>
              </a:r>
            </a:p>
          </p:txBody>
        </p:sp>
        <p:sp>
          <p:nvSpPr>
            <p:cNvPr id="63" name="Shape 32"/>
            <p:cNvSpPr/>
            <p:nvPr/>
          </p:nvSpPr>
          <p:spPr>
            <a:xfrm>
              <a:off x="8467" y="4176"/>
              <a:ext cx="5184" cy="43"/>
            </a:xfrm>
            <a:prstGeom prst="rect">
              <a:avLst/>
            </a:prstGeom>
            <a:solidFill>
              <a:srgbClr val="DEDEDE"/>
            </a:solidFill>
            <a:ln w="12700">
              <a:solidFill>
                <a:srgbClr val="DEDEDE"/>
              </a:solidFill>
              <a:prstDash val="solid"/>
            </a:ln>
          </p:spPr>
          <p:txBody>
            <a:bodyPr/>
            <a:lstStyle/>
            <a:p>
              <a:endParaRPr lang="zh-CN" altLang="en-US"/>
            </a:p>
          </p:txBody>
        </p:sp>
        <p:sp>
          <p:nvSpPr>
            <p:cNvPr id="64" name="Text 33"/>
            <p:cNvSpPr/>
            <p:nvPr/>
          </p:nvSpPr>
          <p:spPr>
            <a:xfrm>
              <a:off x="8438" y="4320"/>
              <a:ext cx="5400" cy="432"/>
            </a:xfrm>
            <a:prstGeom prst="rect">
              <a:avLst/>
            </a:prstGeom>
            <a:noFill/>
          </p:spPr>
          <p:txBody>
            <a:bodyPr wrap="square" lIns="0" tIns="0" rIns="0" bIns="0" rtlCol="0" anchor="ctr"/>
            <a:lstStyle/>
            <a:p>
              <a:pPr marL="0" indent="0">
                <a:buNone/>
              </a:pPr>
              <a:r>
                <a:rPr lang="en-US" b="1" dirty="0">
                  <a:solidFill>
                    <a:srgbClr val="1F4E79"/>
                  </a:solidFill>
                  <a:latin typeface="Calibri" panose="020F0502020204030204" charset="0"/>
                  <a:ea typeface="Calibri" panose="020F0502020204030204" pitchFamily="34" charset="-122"/>
                  <a:cs typeface="Calibri" panose="020F0502020204030204" pitchFamily="34" charset="-120"/>
                </a:rPr>
                <a:t>Self-Collected Samples</a:t>
              </a:r>
            </a:p>
          </p:txBody>
        </p:sp>
        <p:sp>
          <p:nvSpPr>
            <p:cNvPr id="65" name="Shape 34"/>
            <p:cNvSpPr/>
            <p:nvPr/>
          </p:nvSpPr>
          <p:spPr>
            <a:xfrm>
              <a:off x="8323" y="4838"/>
              <a:ext cx="5616" cy="533"/>
            </a:xfrm>
            <a:prstGeom prst="rect">
              <a:avLst/>
            </a:prstGeom>
            <a:solidFill>
              <a:srgbClr val="EAF1FB"/>
            </a:solidFill>
            <a:ln w="12700">
              <a:solidFill>
                <a:srgbClr val="DEDEDE"/>
              </a:solidFill>
              <a:prstDash val="solid"/>
            </a:ln>
          </p:spPr>
          <p:txBody>
            <a:bodyPr/>
            <a:lstStyle/>
            <a:p>
              <a:endParaRPr lang="zh-CN" altLang="en-US"/>
            </a:p>
          </p:txBody>
        </p:sp>
        <p:sp>
          <p:nvSpPr>
            <p:cNvPr id="66" name="Text 35"/>
            <p:cNvSpPr/>
            <p:nvPr/>
          </p:nvSpPr>
          <p:spPr>
            <a:xfrm>
              <a:off x="8467" y="4896"/>
              <a:ext cx="2304" cy="432"/>
            </a:xfrm>
            <a:prstGeom prst="rect">
              <a:avLst/>
            </a:prstGeom>
            <a:noFill/>
          </p:spPr>
          <p:txBody>
            <a:bodyPr wrap="square" lIns="0" tIns="0" rIns="0" bIns="0" rtlCol="0" anchor="ctr"/>
            <a:lstStyle/>
            <a:p>
              <a:pPr marL="0" indent="0">
                <a:buNone/>
              </a:pPr>
              <a:r>
                <a:rPr lang="en-US" b="1" dirty="0">
                  <a:solidFill>
                    <a:srgbClr val="1F4E79"/>
                  </a:solidFill>
                  <a:latin typeface="Calibri" panose="020F0502020204030204" charset="0"/>
                  <a:ea typeface="Calibri" panose="020F0502020204030204" pitchFamily="34" charset="-122"/>
                  <a:cs typeface="Calibri" panose="020F0502020204030204" pitchFamily="34" charset="-120"/>
                </a:rPr>
                <a:t>Sources:</a:t>
              </a:r>
            </a:p>
          </p:txBody>
        </p:sp>
        <p:sp>
          <p:nvSpPr>
            <p:cNvPr id="67" name="Text 36"/>
            <p:cNvSpPr/>
            <p:nvPr/>
          </p:nvSpPr>
          <p:spPr>
            <a:xfrm>
              <a:off x="10872" y="4896"/>
              <a:ext cx="2880" cy="432"/>
            </a:xfrm>
            <a:prstGeom prst="rect">
              <a:avLst/>
            </a:prstGeom>
            <a:noFill/>
          </p:spPr>
          <p:txBody>
            <a:bodyPr wrap="square" lIns="0" tIns="0" rIns="0" bIns="0" rtlCol="0" anchor="ctr"/>
            <a:lstStyle/>
            <a:p>
              <a:pPr marL="0" indent="0">
                <a:buNone/>
              </a:pPr>
              <a:r>
                <a:rPr lang="en-US" dirty="0">
                  <a:solidFill>
                    <a:srgbClr val="1A1A1A"/>
                  </a:solidFill>
                  <a:latin typeface="Calibri" panose="020F0502020204030204" charset="0"/>
                  <a:ea typeface="Calibri" panose="020F0502020204030204" pitchFamily="34" charset="-122"/>
                  <a:cs typeface="Calibri" panose="020F0502020204030204" pitchFamily="34" charset="-120"/>
                </a:rPr>
                <a:t>Snopes, PolitiFact</a:t>
              </a:r>
            </a:p>
          </p:txBody>
        </p:sp>
        <p:sp>
          <p:nvSpPr>
            <p:cNvPr id="68" name="Shape 37"/>
            <p:cNvSpPr/>
            <p:nvPr/>
          </p:nvSpPr>
          <p:spPr>
            <a:xfrm>
              <a:off x="8323" y="5371"/>
              <a:ext cx="5616" cy="533"/>
            </a:xfrm>
            <a:prstGeom prst="rect">
              <a:avLst/>
            </a:prstGeom>
            <a:solidFill>
              <a:srgbClr val="FFFFFF"/>
            </a:solidFill>
            <a:ln w="12700">
              <a:solidFill>
                <a:srgbClr val="DEDEDE"/>
              </a:solidFill>
              <a:prstDash val="solid"/>
            </a:ln>
          </p:spPr>
          <p:txBody>
            <a:bodyPr/>
            <a:lstStyle/>
            <a:p>
              <a:endParaRPr lang="zh-CN" altLang="en-US"/>
            </a:p>
          </p:txBody>
        </p:sp>
        <p:sp>
          <p:nvSpPr>
            <p:cNvPr id="69" name="Text 38"/>
            <p:cNvSpPr/>
            <p:nvPr/>
          </p:nvSpPr>
          <p:spPr>
            <a:xfrm>
              <a:off x="8467" y="5429"/>
              <a:ext cx="2304" cy="432"/>
            </a:xfrm>
            <a:prstGeom prst="rect">
              <a:avLst/>
            </a:prstGeom>
            <a:noFill/>
          </p:spPr>
          <p:txBody>
            <a:bodyPr wrap="square" lIns="0" tIns="0" rIns="0" bIns="0" rtlCol="0" anchor="ctr"/>
            <a:lstStyle/>
            <a:p>
              <a:pPr marL="0" indent="0">
                <a:buNone/>
              </a:pPr>
              <a:r>
                <a:rPr lang="en-US" b="1" dirty="0">
                  <a:solidFill>
                    <a:srgbClr val="1F4E79"/>
                  </a:solidFill>
                  <a:latin typeface="Calibri" panose="020F0502020204030204" charset="0"/>
                  <a:ea typeface="Calibri" panose="020F0502020204030204" pitchFamily="34" charset="-122"/>
                  <a:cs typeface="Calibri" panose="020F0502020204030204" pitchFamily="34" charset="-120"/>
                </a:rPr>
                <a:t>Volume:</a:t>
              </a:r>
            </a:p>
          </p:txBody>
        </p:sp>
        <p:sp>
          <p:nvSpPr>
            <p:cNvPr id="70" name="Text 39"/>
            <p:cNvSpPr/>
            <p:nvPr/>
          </p:nvSpPr>
          <p:spPr>
            <a:xfrm>
              <a:off x="10872" y="5429"/>
              <a:ext cx="2880" cy="432"/>
            </a:xfrm>
            <a:prstGeom prst="rect">
              <a:avLst/>
            </a:prstGeom>
            <a:noFill/>
          </p:spPr>
          <p:txBody>
            <a:bodyPr wrap="square" lIns="0" tIns="0" rIns="0" bIns="0" rtlCol="0" anchor="ctr"/>
            <a:lstStyle/>
            <a:p>
              <a:pPr marL="0" indent="0">
                <a:buNone/>
              </a:pPr>
              <a:r>
                <a:rPr lang="en-US" dirty="0">
                  <a:solidFill>
                    <a:srgbClr val="1A1A1A"/>
                  </a:solidFill>
                  <a:latin typeface="Calibri" panose="020F0502020204030204" charset="0"/>
                  <a:ea typeface="Calibri" panose="020F0502020204030204" pitchFamily="34" charset="-122"/>
                  <a:cs typeface="Calibri" panose="020F0502020204030204" pitchFamily="34" charset="-120"/>
                </a:rPr>
                <a:t>200–500 articles</a:t>
              </a:r>
            </a:p>
          </p:txBody>
        </p:sp>
        <p:sp>
          <p:nvSpPr>
            <p:cNvPr id="71" name="Shape 40"/>
            <p:cNvSpPr/>
            <p:nvPr/>
          </p:nvSpPr>
          <p:spPr>
            <a:xfrm>
              <a:off x="8323" y="5904"/>
              <a:ext cx="5616" cy="533"/>
            </a:xfrm>
            <a:prstGeom prst="rect">
              <a:avLst/>
            </a:prstGeom>
            <a:solidFill>
              <a:srgbClr val="EAF1FB"/>
            </a:solidFill>
            <a:ln w="12700">
              <a:solidFill>
                <a:srgbClr val="DEDEDE"/>
              </a:solidFill>
              <a:prstDash val="solid"/>
            </a:ln>
          </p:spPr>
          <p:txBody>
            <a:bodyPr/>
            <a:lstStyle/>
            <a:p>
              <a:endParaRPr lang="zh-CN" altLang="en-US"/>
            </a:p>
          </p:txBody>
        </p:sp>
        <p:sp>
          <p:nvSpPr>
            <p:cNvPr id="72" name="Text 41"/>
            <p:cNvSpPr/>
            <p:nvPr/>
          </p:nvSpPr>
          <p:spPr>
            <a:xfrm>
              <a:off x="8467" y="5962"/>
              <a:ext cx="2304" cy="432"/>
            </a:xfrm>
            <a:prstGeom prst="rect">
              <a:avLst/>
            </a:prstGeom>
            <a:noFill/>
          </p:spPr>
          <p:txBody>
            <a:bodyPr wrap="square" lIns="0" tIns="0" rIns="0" bIns="0" rtlCol="0" anchor="ctr"/>
            <a:lstStyle/>
            <a:p>
              <a:pPr marL="0" indent="0">
                <a:buNone/>
              </a:pPr>
              <a:r>
                <a:rPr lang="en-US" b="1" dirty="0">
                  <a:solidFill>
                    <a:srgbClr val="1F4E79"/>
                  </a:solidFill>
                  <a:latin typeface="Calibri" panose="020F0502020204030204" charset="0"/>
                  <a:ea typeface="Calibri" panose="020F0502020204030204" pitchFamily="34" charset="-122"/>
                  <a:cs typeface="Calibri" panose="020F0502020204030204" pitchFamily="34" charset="-120"/>
                </a:rPr>
                <a:t>Labeling:</a:t>
              </a:r>
            </a:p>
          </p:txBody>
        </p:sp>
        <p:sp>
          <p:nvSpPr>
            <p:cNvPr id="73" name="Text 42"/>
            <p:cNvSpPr/>
            <p:nvPr/>
          </p:nvSpPr>
          <p:spPr>
            <a:xfrm>
              <a:off x="10872" y="5962"/>
              <a:ext cx="2880" cy="432"/>
            </a:xfrm>
            <a:prstGeom prst="rect">
              <a:avLst/>
            </a:prstGeom>
            <a:noFill/>
          </p:spPr>
          <p:txBody>
            <a:bodyPr wrap="square" lIns="0" tIns="0" rIns="0" bIns="0" rtlCol="0" anchor="ctr"/>
            <a:lstStyle/>
            <a:p>
              <a:pPr marL="0" indent="0">
                <a:buNone/>
              </a:pPr>
              <a:r>
                <a:rPr lang="en-US" dirty="0">
                  <a:solidFill>
                    <a:srgbClr val="1A1A1A"/>
                  </a:solidFill>
                  <a:latin typeface="Calibri" panose="020F0502020204030204" charset="0"/>
                  <a:ea typeface="Calibri" panose="020F0502020204030204" pitchFamily="34" charset="-122"/>
                  <a:cs typeface="Calibri" panose="020F0502020204030204" pitchFamily="34" charset="-120"/>
                </a:rPr>
                <a:t>Fact-check verdicts</a:t>
              </a:r>
            </a:p>
          </p:txBody>
        </p:sp>
        <p:sp>
          <p:nvSpPr>
            <p:cNvPr id="74" name="Shape 43"/>
            <p:cNvSpPr/>
            <p:nvPr/>
          </p:nvSpPr>
          <p:spPr>
            <a:xfrm>
              <a:off x="8323" y="6437"/>
              <a:ext cx="5616" cy="533"/>
            </a:xfrm>
            <a:prstGeom prst="rect">
              <a:avLst/>
            </a:prstGeom>
            <a:solidFill>
              <a:srgbClr val="FFFFFF"/>
            </a:solidFill>
            <a:ln w="12700">
              <a:solidFill>
                <a:srgbClr val="DEDEDE"/>
              </a:solidFill>
              <a:prstDash val="solid"/>
            </a:ln>
          </p:spPr>
          <p:txBody>
            <a:bodyPr/>
            <a:lstStyle/>
            <a:p>
              <a:endParaRPr lang="zh-CN" altLang="en-US"/>
            </a:p>
          </p:txBody>
        </p:sp>
        <p:sp>
          <p:nvSpPr>
            <p:cNvPr id="75" name="Text 44"/>
            <p:cNvSpPr/>
            <p:nvPr/>
          </p:nvSpPr>
          <p:spPr>
            <a:xfrm>
              <a:off x="8467" y="6494"/>
              <a:ext cx="2304" cy="432"/>
            </a:xfrm>
            <a:prstGeom prst="rect">
              <a:avLst/>
            </a:prstGeom>
            <a:noFill/>
          </p:spPr>
          <p:txBody>
            <a:bodyPr wrap="square" lIns="0" tIns="0" rIns="0" bIns="0" rtlCol="0" anchor="ctr"/>
            <a:lstStyle/>
            <a:p>
              <a:pPr marL="0" indent="0">
                <a:buNone/>
              </a:pPr>
              <a:r>
                <a:rPr lang="en-US" b="1" dirty="0">
                  <a:solidFill>
                    <a:srgbClr val="1F4E79"/>
                  </a:solidFill>
                  <a:latin typeface="Calibri" panose="020F0502020204030204" charset="0"/>
                  <a:ea typeface="Calibri" panose="020F0502020204030204" pitchFamily="34" charset="-122"/>
                  <a:cs typeface="Calibri" panose="020F0502020204030204" pitchFamily="34" charset="-120"/>
                </a:rPr>
                <a:t>Validation:</a:t>
              </a:r>
            </a:p>
          </p:txBody>
        </p:sp>
        <p:sp>
          <p:nvSpPr>
            <p:cNvPr id="76" name="Text 45"/>
            <p:cNvSpPr/>
            <p:nvPr/>
          </p:nvSpPr>
          <p:spPr>
            <a:xfrm>
              <a:off x="10872" y="6494"/>
              <a:ext cx="2880" cy="432"/>
            </a:xfrm>
            <a:prstGeom prst="rect">
              <a:avLst/>
            </a:prstGeom>
            <a:noFill/>
          </p:spPr>
          <p:txBody>
            <a:bodyPr wrap="square" lIns="0" tIns="0" rIns="0" bIns="0" rtlCol="0" anchor="ctr"/>
            <a:lstStyle/>
            <a:p>
              <a:pPr marL="0" indent="0">
                <a:buNone/>
              </a:pPr>
              <a:r>
                <a:rPr lang="en-US" dirty="0">
                  <a:solidFill>
                    <a:srgbClr val="1A1A1A"/>
                  </a:solidFill>
                  <a:latin typeface="Calibri" panose="020F0502020204030204" charset="0"/>
                  <a:ea typeface="Calibri" panose="020F0502020204030204" pitchFamily="34" charset="-122"/>
                  <a:cs typeface="Calibri" panose="020F0502020204030204" pitchFamily="34" charset="-120"/>
                </a:rPr>
                <a:t>≥2 team members</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40"/>
          <p:cNvGrpSpPr/>
          <p:nvPr/>
        </p:nvGrpSpPr>
        <p:grpSpPr>
          <a:xfrm>
            <a:off x="6916808" y="63686"/>
            <a:ext cx="2240393" cy="761523"/>
            <a:chOff x="1607742" y="61757"/>
            <a:chExt cx="2240393" cy="761523"/>
          </a:xfrm>
        </p:grpSpPr>
        <p:pic>
          <p:nvPicPr>
            <p:cNvPr id="12"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3" name="文本框 139"/>
            <p:cNvSpPr txBox="1"/>
            <p:nvPr/>
          </p:nvSpPr>
          <p:spPr>
            <a:xfrm>
              <a:off x="1912132" y="119352"/>
              <a:ext cx="1553630"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Final </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Conclusion</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8" name="组合 140"/>
          <p:cNvGrpSpPr/>
          <p:nvPr/>
        </p:nvGrpSpPr>
        <p:grpSpPr>
          <a:xfrm>
            <a:off x="5169785" y="63686"/>
            <a:ext cx="2240393" cy="761523"/>
            <a:chOff x="1607742" y="61757"/>
            <a:chExt cx="2240393" cy="761523"/>
          </a:xfrm>
        </p:grpSpPr>
        <p:pic>
          <p:nvPicPr>
            <p:cNvPr id="9" name="图片 138" descr="电脑截图&#10;&#10;描述已自动生成"/>
            <p:cNvPicPr>
              <a:picLocks noChangeAspect="1"/>
            </p:cNvPicPr>
            <p:nvPr/>
          </p:nvPicPr>
          <p:blipFill rotWithShape="1">
            <a:blip r:embed="rId2"/>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0" name="文本框 139"/>
            <p:cNvSpPr txBox="1"/>
            <p:nvPr/>
          </p:nvSpPr>
          <p:spPr>
            <a:xfrm>
              <a:off x="1912132" y="119352"/>
              <a:ext cx="1672253"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Technical</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Approaches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5" name="组合 140"/>
          <p:cNvGrpSpPr/>
          <p:nvPr/>
        </p:nvGrpSpPr>
        <p:grpSpPr>
          <a:xfrm>
            <a:off x="3422762" y="63686"/>
            <a:ext cx="2240393" cy="761523"/>
            <a:chOff x="1607742" y="61757"/>
            <a:chExt cx="2240393" cy="761523"/>
          </a:xfrm>
        </p:grpSpPr>
        <p:pic>
          <p:nvPicPr>
            <p:cNvPr id="6"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7" name="文本框 139"/>
            <p:cNvSpPr txBox="1"/>
            <p:nvPr/>
          </p:nvSpPr>
          <p:spPr>
            <a:xfrm>
              <a:off x="1912132" y="119352"/>
              <a:ext cx="130035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Data</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Available</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 name="组合 140"/>
          <p:cNvGrpSpPr/>
          <p:nvPr/>
        </p:nvGrpSpPr>
        <p:grpSpPr>
          <a:xfrm>
            <a:off x="1675739" y="64201"/>
            <a:ext cx="2240393" cy="761523"/>
            <a:chOff x="1607742" y="61757"/>
            <a:chExt cx="2240393" cy="761523"/>
          </a:xfrm>
        </p:grpSpPr>
        <p:pic>
          <p:nvPicPr>
            <p:cNvPr id="3"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4" name="文本框 139"/>
            <p:cNvSpPr txBox="1"/>
            <p:nvPr/>
          </p:nvSpPr>
          <p:spPr>
            <a:xfrm>
              <a:off x="1912132" y="119352"/>
              <a:ext cx="110799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Scopes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141" name="组合 140"/>
          <p:cNvGrpSpPr/>
          <p:nvPr/>
        </p:nvGrpSpPr>
        <p:grpSpPr>
          <a:xfrm>
            <a:off x="-71284" y="63686"/>
            <a:ext cx="2240393" cy="761523"/>
            <a:chOff x="1607742" y="61757"/>
            <a:chExt cx="2240393" cy="761523"/>
          </a:xfrm>
        </p:grpSpPr>
        <p:pic>
          <p:nvPicPr>
            <p:cNvPr id="139"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40" name="文本框 139"/>
            <p:cNvSpPr txBox="1"/>
            <p:nvPr/>
          </p:nvSpPr>
          <p:spPr>
            <a:xfrm>
              <a:off x="1912132" y="119352"/>
              <a:ext cx="1487908"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Objectives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3" name="组合 22"/>
          <p:cNvGrpSpPr/>
          <p:nvPr/>
        </p:nvGrpSpPr>
        <p:grpSpPr>
          <a:xfrm>
            <a:off x="-5338" y="816353"/>
            <a:ext cx="10076425" cy="36000"/>
            <a:chOff x="0" y="640081"/>
            <a:chExt cx="10076425" cy="36000"/>
          </a:xfrm>
        </p:grpSpPr>
        <p:sp>
          <p:nvSpPr>
            <p:cNvPr id="21" name="矩形 20"/>
            <p:cNvSpPr/>
            <p:nvPr/>
          </p:nvSpPr>
          <p:spPr>
            <a:xfrm>
              <a:off x="0" y="640081"/>
              <a:ext cx="10004425" cy="36000"/>
            </a:xfrm>
            <a:prstGeom prst="rect">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sp>
          <p:nvSpPr>
            <p:cNvPr id="22" name="三角形 21"/>
            <p:cNvSpPr/>
            <p:nvPr/>
          </p:nvSpPr>
          <p:spPr>
            <a:xfrm>
              <a:off x="10004425" y="640081"/>
              <a:ext cx="72000" cy="36000"/>
            </a:xfrm>
            <a:prstGeom prst="triangle">
              <a:avLst>
                <a:gd name="adj" fmla="val 0"/>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grpSp>
      <p:grpSp>
        <p:nvGrpSpPr>
          <p:cNvPr id="16" name="Group 15"/>
          <p:cNvGrpSpPr/>
          <p:nvPr/>
        </p:nvGrpSpPr>
        <p:grpSpPr>
          <a:xfrm>
            <a:off x="9639635" y="-646"/>
            <a:ext cx="2801744" cy="639751"/>
            <a:chOff x="109411" y="4326"/>
            <a:chExt cx="2801744" cy="639751"/>
          </a:xfrm>
        </p:grpSpPr>
        <p:pic>
          <p:nvPicPr>
            <p:cNvPr id="17" name="Picture 16" descr="A blue and black logo&#10;&#10;AI-generated content may be incorrect."/>
            <p:cNvPicPr>
              <a:picLocks noChangeAspect="1"/>
            </p:cNvPicPr>
            <p:nvPr/>
          </p:nvPicPr>
          <p:blipFill>
            <a:blip r:embed="rId3"/>
            <a:stretch>
              <a:fillRect/>
            </a:stretch>
          </p:blipFill>
          <p:spPr>
            <a:xfrm>
              <a:off x="1411738" y="4326"/>
              <a:ext cx="1499417" cy="639751"/>
            </a:xfrm>
            <a:prstGeom prst="rect">
              <a:avLst/>
            </a:prstGeom>
          </p:spPr>
        </p:pic>
        <p:pic>
          <p:nvPicPr>
            <p:cNvPr id="18" name="Picture 17" descr="A blue and white logo with a black background&#10;&#10;AI-generated content may be incorrect."/>
            <p:cNvPicPr>
              <a:picLocks noChangeAspect="1"/>
            </p:cNvPicPr>
            <p:nvPr/>
          </p:nvPicPr>
          <p:blipFill>
            <a:blip r:embed="rId4"/>
            <a:stretch>
              <a:fillRect/>
            </a:stretch>
          </p:blipFill>
          <p:spPr>
            <a:xfrm>
              <a:off x="109411" y="102746"/>
              <a:ext cx="1211828" cy="513623"/>
            </a:xfrm>
            <a:prstGeom prst="rect">
              <a:avLst/>
            </a:prstGeom>
          </p:spPr>
        </p:pic>
        <p:cxnSp>
          <p:nvCxnSpPr>
            <p:cNvPr id="19" name="Straight Connector 18"/>
            <p:cNvCxnSpPr/>
            <p:nvPr/>
          </p:nvCxnSpPr>
          <p:spPr>
            <a:xfrm flipV="1">
              <a:off x="1365994" y="55416"/>
              <a:ext cx="0" cy="513623"/>
            </a:xfrm>
            <a:prstGeom prst="line">
              <a:avLst/>
            </a:prstGeom>
          </p:spPr>
          <p:style>
            <a:lnRef idx="2">
              <a:schemeClr val="accent1"/>
            </a:lnRef>
            <a:fillRef idx="0">
              <a:schemeClr val="accent1"/>
            </a:fillRef>
            <a:effectRef idx="1">
              <a:schemeClr val="accent1"/>
            </a:effectRef>
            <a:fontRef idx="minor">
              <a:schemeClr val="tx1"/>
            </a:fontRef>
          </p:style>
        </p:cxnSp>
      </p:grpSp>
      <p:sp>
        <p:nvSpPr>
          <p:cNvPr id="15" name="Rounded Rectangle 14"/>
          <p:cNvSpPr/>
          <p:nvPr/>
        </p:nvSpPr>
        <p:spPr>
          <a:xfrm>
            <a:off x="333169" y="1150432"/>
            <a:ext cx="5554745" cy="5435433"/>
          </a:xfrm>
          <a:prstGeom prst="roundRect">
            <a:avLst/>
          </a:prstGeom>
          <a:noFill/>
          <a:ln w="28575">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4"/>
          <p:cNvSpPr>
            <a:spLocks noChangeArrowheads="1"/>
          </p:cNvSpPr>
          <p:nvPr/>
        </p:nvSpPr>
        <p:spPr bwMode="auto">
          <a:xfrm>
            <a:off x="652145" y="1971675"/>
            <a:ext cx="5010785" cy="1830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buNone/>
            </a:pPr>
            <a:endParaRPr kumimoji="0" lang="en-US" altLang="zh-CN" sz="1600" b="0" i="0" u="none" strike="noStrike" cap="none" normalizeH="0" baseline="0" dirty="0">
              <a:ln>
                <a:noFill/>
              </a:ln>
              <a:solidFill>
                <a:schemeClr val="tx1"/>
              </a:solidFill>
              <a:effectLst/>
              <a:cs typeface="Arial" panose="020B0604020202020204" pitchFamily="34" charset="0"/>
            </a:endParaRPr>
          </a:p>
          <a:p>
            <a:pPr marL="0" indent="0">
              <a:buNone/>
            </a:pPr>
            <a:r>
              <a:rPr kumimoji="0" lang="en-US" altLang="zh-CN" sz="1600" b="0" i="0" u="none" strike="noStrike" cap="none" normalizeH="0" baseline="0" dirty="0">
                <a:ln>
                  <a:noFill/>
                </a:ln>
                <a:solidFill>
                  <a:schemeClr val="tx1"/>
                </a:solidFill>
                <a:effectLst/>
                <a:cs typeface="Arial" panose="020B0604020202020204" pitchFamily="34" charset="0"/>
              </a:rPr>
              <a:t>• Fake News Classification (BERT)</a:t>
            </a:r>
          </a:p>
          <a:p>
            <a:pPr marL="0" indent="0">
              <a:buNone/>
            </a:pPr>
            <a:endParaRPr kumimoji="0" lang="en-US" altLang="zh-CN" sz="1600" b="0" i="0" u="none" strike="noStrike" cap="none" normalizeH="0" baseline="0" dirty="0">
              <a:ln>
                <a:noFill/>
              </a:ln>
              <a:solidFill>
                <a:schemeClr val="tx1"/>
              </a:solidFill>
              <a:effectLst/>
              <a:cs typeface="Arial" panose="020B0604020202020204" pitchFamily="34" charset="0"/>
            </a:endParaRPr>
          </a:p>
          <a:p>
            <a:pPr marL="0" indent="0">
              <a:buNone/>
            </a:pPr>
            <a:r>
              <a:rPr kumimoji="0" lang="en-US" altLang="zh-CN" sz="1600" b="0" i="0" u="none" strike="noStrike" cap="none" normalizeH="0" baseline="0" dirty="0">
                <a:ln>
                  <a:noFill/>
                </a:ln>
                <a:solidFill>
                  <a:schemeClr val="tx1"/>
                </a:solidFill>
                <a:effectLst/>
                <a:cs typeface="Arial" panose="020B0604020202020204" pitchFamily="34" charset="0"/>
              </a:rPr>
              <a:t>• Topic Modeling (LDA / BERTopic)</a:t>
            </a:r>
          </a:p>
          <a:p>
            <a:pPr marL="0" indent="0">
              <a:buNone/>
            </a:pPr>
            <a:endParaRPr kumimoji="0" lang="en-US" altLang="zh-CN" sz="1600" b="0" i="0" u="none" strike="noStrike" cap="none" normalizeH="0" baseline="0" dirty="0">
              <a:ln>
                <a:noFill/>
              </a:ln>
              <a:solidFill>
                <a:schemeClr val="tx1"/>
              </a:solidFill>
              <a:effectLst/>
              <a:cs typeface="Arial" panose="020B0604020202020204" pitchFamily="34" charset="0"/>
            </a:endParaRPr>
          </a:p>
          <a:p>
            <a:pPr marL="0" indent="0">
              <a:buNone/>
            </a:pPr>
            <a:r>
              <a:rPr kumimoji="0" lang="en-US" altLang="zh-CN" sz="1600" b="0" i="0" u="none" strike="noStrike" cap="none" normalizeH="0" baseline="0" dirty="0">
                <a:ln>
                  <a:noFill/>
                </a:ln>
                <a:solidFill>
                  <a:schemeClr val="tx1"/>
                </a:solidFill>
                <a:effectLst/>
                <a:cs typeface="Arial" panose="020B0604020202020204" pitchFamily="34" charset="0"/>
              </a:rPr>
              <a:t>• Sentiment Analysis</a:t>
            </a:r>
          </a:p>
          <a:p>
            <a:pPr marL="0" indent="0">
              <a:buNone/>
            </a:pPr>
            <a:endParaRPr kumimoji="0" lang="en-US" altLang="zh-CN" sz="1600" b="0" i="0" u="none" strike="noStrike" cap="none" normalizeH="0" baseline="0" dirty="0">
              <a:ln>
                <a:noFill/>
              </a:ln>
              <a:solidFill>
                <a:schemeClr val="tx1"/>
              </a:solidFill>
              <a:effectLst/>
              <a:cs typeface="Arial" panose="020B0604020202020204" pitchFamily="34" charset="0"/>
            </a:endParaRPr>
          </a:p>
          <a:p>
            <a:pPr marL="0" indent="0">
              <a:buNone/>
            </a:pPr>
            <a:r>
              <a:rPr kumimoji="0" lang="en-US" altLang="zh-CN" sz="1600" b="0" i="0" u="none" strike="noStrike" cap="none" normalizeH="0" baseline="0" dirty="0">
                <a:ln>
                  <a:noFill/>
                </a:ln>
                <a:solidFill>
                  <a:schemeClr val="tx1"/>
                </a:solidFill>
                <a:effectLst/>
                <a:cs typeface="Arial" panose="020B0604020202020204" pitchFamily="34" charset="0"/>
              </a:rPr>
              <a:t>• Streamlit interface for visualization</a:t>
            </a:r>
          </a:p>
        </p:txBody>
      </p:sp>
      <p:pic>
        <p:nvPicPr>
          <p:cNvPr id="20" name="图片 19"/>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652145" y="4199890"/>
            <a:ext cx="4987925" cy="2087245"/>
          </a:xfrm>
          <a:prstGeom prst="rect">
            <a:avLst/>
          </a:prstGeom>
        </p:spPr>
      </p:pic>
      <p:sp>
        <p:nvSpPr>
          <p:cNvPr id="25" name="文本框 24"/>
          <p:cNvSpPr txBox="1"/>
          <p:nvPr/>
        </p:nvSpPr>
        <p:spPr>
          <a:xfrm>
            <a:off x="1859915" y="1465580"/>
            <a:ext cx="2809240" cy="645160"/>
          </a:xfrm>
          <a:prstGeom prst="rect">
            <a:avLst/>
          </a:prstGeom>
          <a:noFill/>
        </p:spPr>
        <p:txBody>
          <a:bodyPr wrap="square" rtlCol="0">
            <a:spAutoFit/>
          </a:bodyPr>
          <a:lstStyle/>
          <a:p>
            <a:r>
              <a:rPr lang="en-US" altLang="zh-CN" b="1" dirty="0">
                <a:ln>
                  <a:noFill/>
                </a:ln>
                <a:effectLst/>
                <a:cs typeface="Arial" panose="020B0604020202020204" pitchFamily="34" charset="0"/>
                <a:sym typeface="+mn-ea"/>
              </a:rPr>
              <a:t>Core Components</a:t>
            </a:r>
            <a:endParaRPr kumimoji="0" lang="en-US" altLang="zh-CN" b="1" i="0" u="none" strike="noStrike" cap="none" normalizeH="0" baseline="0" dirty="0">
              <a:ln>
                <a:noFill/>
              </a:ln>
              <a:solidFill>
                <a:schemeClr val="tx1"/>
              </a:solidFill>
              <a:effectLst/>
              <a:cs typeface="Arial" panose="020B0604020202020204" pitchFamily="34" charset="0"/>
            </a:endParaRPr>
          </a:p>
          <a:p>
            <a:endParaRPr lang="zh-CN" altLang="en-US" b="1"/>
          </a:p>
        </p:txBody>
      </p:sp>
      <p:pic>
        <p:nvPicPr>
          <p:cNvPr id="24" name="图片 23"/>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5856545" y="1416367"/>
            <a:ext cx="6219825" cy="47720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40"/>
          <p:cNvGrpSpPr/>
          <p:nvPr/>
        </p:nvGrpSpPr>
        <p:grpSpPr>
          <a:xfrm>
            <a:off x="6916808" y="63686"/>
            <a:ext cx="2240393" cy="761523"/>
            <a:chOff x="1607742" y="61757"/>
            <a:chExt cx="2240393" cy="761523"/>
          </a:xfrm>
        </p:grpSpPr>
        <p:pic>
          <p:nvPicPr>
            <p:cNvPr id="12" name="图片 138" descr="电脑截图&#10;&#10;描述已自动生成"/>
            <p:cNvPicPr>
              <a:picLocks noChangeAspect="1"/>
            </p:cNvPicPr>
            <p:nvPr/>
          </p:nvPicPr>
          <p:blipFill rotWithShape="1">
            <a:blip r:embed="rId33">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3" name="文本框 139"/>
            <p:cNvSpPr txBox="1"/>
            <p:nvPr/>
          </p:nvSpPr>
          <p:spPr>
            <a:xfrm>
              <a:off x="1912132" y="119352"/>
              <a:ext cx="1553630"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Final </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Conclusion</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8" name="组合 140"/>
          <p:cNvGrpSpPr/>
          <p:nvPr/>
        </p:nvGrpSpPr>
        <p:grpSpPr>
          <a:xfrm>
            <a:off x="5169785" y="63686"/>
            <a:ext cx="2240393" cy="761523"/>
            <a:chOff x="1607742" y="61757"/>
            <a:chExt cx="2240393" cy="761523"/>
          </a:xfrm>
        </p:grpSpPr>
        <p:pic>
          <p:nvPicPr>
            <p:cNvPr id="9" name="图片 138" descr="电脑截图&#10;&#10;描述已自动生成"/>
            <p:cNvPicPr>
              <a:picLocks noChangeAspect="1"/>
            </p:cNvPicPr>
            <p:nvPr/>
          </p:nvPicPr>
          <p:blipFill rotWithShape="1">
            <a:blip r:embed="rId33"/>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0" name="文本框 139"/>
            <p:cNvSpPr txBox="1"/>
            <p:nvPr/>
          </p:nvSpPr>
          <p:spPr>
            <a:xfrm>
              <a:off x="1912132" y="119352"/>
              <a:ext cx="1672253"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Technical</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Approaches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5" name="组合 140"/>
          <p:cNvGrpSpPr/>
          <p:nvPr/>
        </p:nvGrpSpPr>
        <p:grpSpPr>
          <a:xfrm>
            <a:off x="3422762" y="63686"/>
            <a:ext cx="2240393" cy="761523"/>
            <a:chOff x="1607742" y="61757"/>
            <a:chExt cx="2240393" cy="761523"/>
          </a:xfrm>
        </p:grpSpPr>
        <p:pic>
          <p:nvPicPr>
            <p:cNvPr id="6" name="图片 138" descr="电脑截图&#10;&#10;描述已自动生成"/>
            <p:cNvPicPr>
              <a:picLocks noChangeAspect="1"/>
            </p:cNvPicPr>
            <p:nvPr/>
          </p:nvPicPr>
          <p:blipFill rotWithShape="1">
            <a:blip r:embed="rId33">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7" name="文本框 139"/>
            <p:cNvSpPr txBox="1"/>
            <p:nvPr/>
          </p:nvSpPr>
          <p:spPr>
            <a:xfrm>
              <a:off x="1912132" y="119352"/>
              <a:ext cx="130035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Data</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Available</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 name="组合 140"/>
          <p:cNvGrpSpPr/>
          <p:nvPr/>
        </p:nvGrpSpPr>
        <p:grpSpPr>
          <a:xfrm>
            <a:off x="1675739" y="64201"/>
            <a:ext cx="2240393" cy="761523"/>
            <a:chOff x="1607742" y="61757"/>
            <a:chExt cx="2240393" cy="761523"/>
          </a:xfrm>
        </p:grpSpPr>
        <p:pic>
          <p:nvPicPr>
            <p:cNvPr id="3" name="图片 138" descr="电脑截图&#10;&#10;描述已自动生成"/>
            <p:cNvPicPr>
              <a:picLocks noChangeAspect="1"/>
            </p:cNvPicPr>
            <p:nvPr/>
          </p:nvPicPr>
          <p:blipFill rotWithShape="1">
            <a:blip r:embed="rId33">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4" name="文本框 139"/>
            <p:cNvSpPr txBox="1"/>
            <p:nvPr/>
          </p:nvSpPr>
          <p:spPr>
            <a:xfrm>
              <a:off x="1912132" y="119352"/>
              <a:ext cx="110799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Scopes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141" name="组合 140"/>
          <p:cNvGrpSpPr/>
          <p:nvPr/>
        </p:nvGrpSpPr>
        <p:grpSpPr>
          <a:xfrm>
            <a:off x="-71284" y="63686"/>
            <a:ext cx="2240393" cy="761523"/>
            <a:chOff x="1607742" y="61757"/>
            <a:chExt cx="2240393" cy="761523"/>
          </a:xfrm>
        </p:grpSpPr>
        <p:pic>
          <p:nvPicPr>
            <p:cNvPr id="139" name="图片 138" descr="电脑截图&#10;&#10;描述已自动生成"/>
            <p:cNvPicPr>
              <a:picLocks noChangeAspect="1"/>
            </p:cNvPicPr>
            <p:nvPr/>
          </p:nvPicPr>
          <p:blipFill rotWithShape="1">
            <a:blip r:embed="rId33">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40" name="文本框 139"/>
            <p:cNvSpPr txBox="1"/>
            <p:nvPr/>
          </p:nvSpPr>
          <p:spPr>
            <a:xfrm>
              <a:off x="1912132" y="119352"/>
              <a:ext cx="1487908"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Objectives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3" name="组合 22"/>
          <p:cNvGrpSpPr/>
          <p:nvPr/>
        </p:nvGrpSpPr>
        <p:grpSpPr>
          <a:xfrm>
            <a:off x="-5338" y="816353"/>
            <a:ext cx="10076425" cy="36000"/>
            <a:chOff x="0" y="640081"/>
            <a:chExt cx="10076425" cy="36000"/>
          </a:xfrm>
        </p:grpSpPr>
        <p:sp>
          <p:nvSpPr>
            <p:cNvPr id="21" name="矩形 20"/>
            <p:cNvSpPr/>
            <p:nvPr/>
          </p:nvSpPr>
          <p:spPr>
            <a:xfrm>
              <a:off x="0" y="640081"/>
              <a:ext cx="10004425" cy="36000"/>
            </a:xfrm>
            <a:prstGeom prst="rect">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sp>
          <p:nvSpPr>
            <p:cNvPr id="22" name="三角形 21"/>
            <p:cNvSpPr/>
            <p:nvPr/>
          </p:nvSpPr>
          <p:spPr>
            <a:xfrm>
              <a:off x="10004425" y="640081"/>
              <a:ext cx="72000" cy="36000"/>
            </a:xfrm>
            <a:prstGeom prst="triangle">
              <a:avLst>
                <a:gd name="adj" fmla="val 0"/>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grpSp>
      <p:grpSp>
        <p:nvGrpSpPr>
          <p:cNvPr id="16" name="Group 15"/>
          <p:cNvGrpSpPr/>
          <p:nvPr/>
        </p:nvGrpSpPr>
        <p:grpSpPr>
          <a:xfrm>
            <a:off x="9639635" y="-646"/>
            <a:ext cx="2801744" cy="639751"/>
            <a:chOff x="109411" y="4326"/>
            <a:chExt cx="2801744" cy="639751"/>
          </a:xfrm>
        </p:grpSpPr>
        <p:pic>
          <p:nvPicPr>
            <p:cNvPr id="17" name="Picture 16" descr="A blue and black logo&#10;&#10;AI-generated content may be incorrect."/>
            <p:cNvPicPr>
              <a:picLocks noChangeAspect="1"/>
            </p:cNvPicPr>
            <p:nvPr/>
          </p:nvPicPr>
          <p:blipFill>
            <a:blip r:embed="rId34"/>
            <a:stretch>
              <a:fillRect/>
            </a:stretch>
          </p:blipFill>
          <p:spPr>
            <a:xfrm>
              <a:off x="1411738" y="4326"/>
              <a:ext cx="1499417" cy="639751"/>
            </a:xfrm>
            <a:prstGeom prst="rect">
              <a:avLst/>
            </a:prstGeom>
          </p:spPr>
        </p:pic>
        <p:pic>
          <p:nvPicPr>
            <p:cNvPr id="18" name="Picture 17" descr="A blue and white logo with a black background&#10;&#10;AI-generated content may be incorrect."/>
            <p:cNvPicPr>
              <a:picLocks noChangeAspect="1"/>
            </p:cNvPicPr>
            <p:nvPr/>
          </p:nvPicPr>
          <p:blipFill>
            <a:blip r:embed="rId35"/>
            <a:stretch>
              <a:fillRect/>
            </a:stretch>
          </p:blipFill>
          <p:spPr>
            <a:xfrm>
              <a:off x="109411" y="102746"/>
              <a:ext cx="1211828" cy="513623"/>
            </a:xfrm>
            <a:prstGeom prst="rect">
              <a:avLst/>
            </a:prstGeom>
          </p:spPr>
        </p:pic>
        <p:cxnSp>
          <p:nvCxnSpPr>
            <p:cNvPr id="19" name="Straight Connector 18"/>
            <p:cNvCxnSpPr/>
            <p:nvPr/>
          </p:nvCxnSpPr>
          <p:spPr>
            <a:xfrm flipV="1">
              <a:off x="1365994" y="55416"/>
              <a:ext cx="0" cy="513623"/>
            </a:xfrm>
            <a:prstGeom prst="line">
              <a:avLst/>
            </a:prstGeom>
          </p:spPr>
          <p:style>
            <a:lnRef idx="2">
              <a:schemeClr val="accent1"/>
            </a:lnRef>
            <a:fillRef idx="0">
              <a:schemeClr val="accent1"/>
            </a:fillRef>
            <a:effectRef idx="1">
              <a:schemeClr val="accent1"/>
            </a:effectRef>
            <a:fontRef idx="minor">
              <a:schemeClr val="tx1"/>
            </a:fontRef>
          </p:style>
        </p:cxnSp>
      </p:grpSp>
      <p:sp>
        <p:nvSpPr>
          <p:cNvPr id="24" name="Text 15"/>
          <p:cNvSpPr/>
          <p:nvPr/>
        </p:nvSpPr>
        <p:spPr>
          <a:xfrm>
            <a:off x="594995" y="1029970"/>
            <a:ext cx="10330180" cy="450850"/>
          </a:xfrm>
          <a:prstGeom prst="rect">
            <a:avLst/>
          </a:prstGeom>
          <a:noFill/>
        </p:spPr>
        <p:txBody>
          <a:bodyPr wrap="square" lIns="0" tIns="0" rIns="0" bIns="0" rtlCol="0" anchor="ctr"/>
          <a:lstStyle/>
          <a:p>
            <a:pPr marL="0" indent="0">
              <a:buNone/>
            </a:pPr>
            <a:r>
              <a:rPr lang="en-US" sz="2000" dirty="0">
                <a:solidFill>
                  <a:srgbClr val="1A1A1A"/>
                </a:solidFill>
                <a:latin typeface="Arial" panose="020B0604020202020204" pitchFamily="34" charset="0"/>
                <a:ea typeface="Times New Roman" panose="02020603050405020304" pitchFamily="34" charset="-122"/>
                <a:cs typeface="Arial" panose="020B0604020202020204" pitchFamily="34" charset="0"/>
              </a:rPr>
              <a:t>Effort Estimates</a:t>
            </a:r>
          </a:p>
        </p:txBody>
      </p:sp>
      <p:grpSp>
        <p:nvGrpSpPr>
          <p:cNvPr id="66" name="组合 65"/>
          <p:cNvGrpSpPr/>
          <p:nvPr>
            <p:custDataLst>
              <p:tags r:id="rId1"/>
            </p:custDataLst>
          </p:nvPr>
        </p:nvGrpSpPr>
        <p:grpSpPr>
          <a:xfrm>
            <a:off x="763905" y="1946723"/>
            <a:ext cx="10664190" cy="4291965"/>
            <a:chOff x="2062" y="4067"/>
            <a:chExt cx="15906" cy="5683"/>
          </a:xfrm>
        </p:grpSpPr>
        <p:sp>
          <p:nvSpPr>
            <p:cNvPr id="27" name="Shape 17"/>
            <p:cNvSpPr/>
            <p:nvPr/>
          </p:nvSpPr>
          <p:spPr>
            <a:xfrm>
              <a:off x="2062" y="4067"/>
              <a:ext cx="6326" cy="710"/>
            </a:xfrm>
            <a:prstGeom prst="rect">
              <a:avLst/>
            </a:prstGeom>
            <a:solidFill>
              <a:srgbClr val="1F4E79"/>
            </a:solidFill>
            <a:ln w="12700">
              <a:solidFill>
                <a:srgbClr val="1F4E79"/>
              </a:solidFill>
              <a:prstDash val="solid"/>
            </a:ln>
          </p:spPr>
          <p:txBody>
            <a:bodyPr/>
            <a:lstStyle/>
            <a:p>
              <a:endParaRPr lang="zh-CN" altLang="en-US"/>
            </a:p>
          </p:txBody>
        </p:sp>
        <p:sp>
          <p:nvSpPr>
            <p:cNvPr id="28" name="Text 18"/>
            <p:cNvSpPr/>
            <p:nvPr/>
          </p:nvSpPr>
          <p:spPr>
            <a:xfrm>
              <a:off x="2206" y="4067"/>
              <a:ext cx="6146" cy="71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charset="0"/>
                  <a:ea typeface="Calibri" panose="020F0502020204030204" pitchFamily="34" charset="-122"/>
                  <a:cs typeface="Calibri" panose="020F0502020204030204" pitchFamily="34" charset="-120"/>
                </a:rPr>
                <a:t>Task</a:t>
              </a:r>
            </a:p>
          </p:txBody>
        </p:sp>
        <p:sp>
          <p:nvSpPr>
            <p:cNvPr id="29" name="Shape 19"/>
            <p:cNvSpPr/>
            <p:nvPr/>
          </p:nvSpPr>
          <p:spPr>
            <a:xfrm>
              <a:off x="8388" y="4067"/>
              <a:ext cx="2350" cy="710"/>
            </a:xfrm>
            <a:prstGeom prst="rect">
              <a:avLst/>
            </a:prstGeom>
            <a:solidFill>
              <a:srgbClr val="1F4E79"/>
            </a:solidFill>
            <a:ln w="12700">
              <a:solidFill>
                <a:srgbClr val="1F4E79"/>
              </a:solidFill>
              <a:prstDash val="solid"/>
            </a:ln>
          </p:spPr>
          <p:txBody>
            <a:bodyPr/>
            <a:lstStyle/>
            <a:p>
              <a:endParaRPr lang="zh-CN" altLang="en-US"/>
            </a:p>
          </p:txBody>
        </p:sp>
        <p:sp>
          <p:nvSpPr>
            <p:cNvPr id="30" name="Text 20"/>
            <p:cNvSpPr/>
            <p:nvPr/>
          </p:nvSpPr>
          <p:spPr>
            <a:xfrm>
              <a:off x="8532" y="4067"/>
              <a:ext cx="2169" cy="71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charset="0"/>
                  <a:ea typeface="Calibri" panose="020F0502020204030204" pitchFamily="34" charset="-122"/>
                  <a:cs typeface="Calibri" panose="020F0502020204030204" pitchFamily="34" charset="-120"/>
                </a:rPr>
                <a:t>Effort</a:t>
              </a:r>
            </a:p>
          </p:txBody>
        </p:sp>
        <p:sp>
          <p:nvSpPr>
            <p:cNvPr id="31" name="Shape 21"/>
            <p:cNvSpPr/>
            <p:nvPr/>
          </p:nvSpPr>
          <p:spPr>
            <a:xfrm>
              <a:off x="10738" y="4067"/>
              <a:ext cx="7230" cy="710"/>
            </a:xfrm>
            <a:prstGeom prst="rect">
              <a:avLst/>
            </a:prstGeom>
            <a:solidFill>
              <a:srgbClr val="1F4E79"/>
            </a:solidFill>
            <a:ln w="12700">
              <a:solidFill>
                <a:srgbClr val="1F4E79"/>
              </a:solidFill>
              <a:prstDash val="solid"/>
            </a:ln>
          </p:spPr>
          <p:txBody>
            <a:bodyPr/>
            <a:lstStyle/>
            <a:p>
              <a:endParaRPr lang="zh-CN" altLang="en-US"/>
            </a:p>
          </p:txBody>
        </p:sp>
        <p:sp>
          <p:nvSpPr>
            <p:cNvPr id="32" name="Text 22"/>
            <p:cNvSpPr/>
            <p:nvPr/>
          </p:nvSpPr>
          <p:spPr>
            <a:xfrm>
              <a:off x="10882" y="4067"/>
              <a:ext cx="7049" cy="71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charset="0"/>
                  <a:ea typeface="Calibri" panose="020F0502020204030204" pitchFamily="34" charset="-122"/>
                  <a:cs typeface="Calibri" panose="020F0502020204030204" pitchFamily="34" charset="-120"/>
                </a:rPr>
                <a:t>Key Activities</a:t>
              </a:r>
            </a:p>
          </p:txBody>
        </p:sp>
        <p:sp>
          <p:nvSpPr>
            <p:cNvPr id="34" name="Shape 23"/>
            <p:cNvSpPr/>
            <p:nvPr>
              <p:custDataLst>
                <p:tags r:id="rId2"/>
              </p:custDataLst>
            </p:nvPr>
          </p:nvSpPr>
          <p:spPr>
            <a:xfrm>
              <a:off x="2062" y="4889"/>
              <a:ext cx="6326" cy="972"/>
            </a:xfrm>
            <a:prstGeom prst="rect">
              <a:avLst/>
            </a:prstGeom>
            <a:solidFill>
              <a:srgbClr val="EAF1FB"/>
            </a:solidFill>
            <a:ln w="12700">
              <a:solidFill>
                <a:srgbClr val="DEDEDE"/>
              </a:solidFill>
              <a:prstDash val="solid"/>
            </a:ln>
          </p:spPr>
          <p:txBody>
            <a:bodyPr/>
            <a:lstStyle/>
            <a:p>
              <a:endParaRPr lang="zh-CN" altLang="en-US"/>
            </a:p>
          </p:txBody>
        </p:sp>
        <p:sp>
          <p:nvSpPr>
            <p:cNvPr id="35" name="Text 24"/>
            <p:cNvSpPr/>
            <p:nvPr>
              <p:custDataLst>
                <p:tags r:id="rId3"/>
              </p:custDataLst>
            </p:nvPr>
          </p:nvSpPr>
          <p:spPr>
            <a:xfrm>
              <a:off x="2206" y="4927"/>
              <a:ext cx="6109"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Dataset Preparation</a:t>
              </a:r>
              <a:endParaRPr lang="en-US" sz="1600" dirty="0"/>
            </a:p>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&amp; Cleaning</a:t>
              </a:r>
            </a:p>
          </p:txBody>
        </p:sp>
        <p:sp>
          <p:nvSpPr>
            <p:cNvPr id="36" name="Shape 25"/>
            <p:cNvSpPr/>
            <p:nvPr>
              <p:custDataLst>
                <p:tags r:id="rId4"/>
              </p:custDataLst>
            </p:nvPr>
          </p:nvSpPr>
          <p:spPr>
            <a:xfrm>
              <a:off x="8388" y="4889"/>
              <a:ext cx="2350" cy="972"/>
            </a:xfrm>
            <a:prstGeom prst="rect">
              <a:avLst/>
            </a:prstGeom>
            <a:solidFill>
              <a:srgbClr val="EAF1FB"/>
            </a:solidFill>
            <a:ln w="12700">
              <a:solidFill>
                <a:srgbClr val="DEDEDE"/>
              </a:solidFill>
              <a:prstDash val="solid"/>
            </a:ln>
          </p:spPr>
          <p:txBody>
            <a:bodyPr/>
            <a:lstStyle/>
            <a:p>
              <a:endParaRPr lang="zh-CN" altLang="en-US"/>
            </a:p>
          </p:txBody>
        </p:sp>
        <p:sp>
          <p:nvSpPr>
            <p:cNvPr id="37" name="Text 26"/>
            <p:cNvSpPr/>
            <p:nvPr>
              <p:custDataLst>
                <p:tags r:id="rId5"/>
              </p:custDataLst>
            </p:nvPr>
          </p:nvSpPr>
          <p:spPr>
            <a:xfrm>
              <a:off x="8532" y="4927"/>
              <a:ext cx="2133"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20%</a:t>
              </a:r>
            </a:p>
          </p:txBody>
        </p:sp>
        <p:sp>
          <p:nvSpPr>
            <p:cNvPr id="38" name="Shape 27"/>
            <p:cNvSpPr/>
            <p:nvPr>
              <p:custDataLst>
                <p:tags r:id="rId6"/>
              </p:custDataLst>
            </p:nvPr>
          </p:nvSpPr>
          <p:spPr>
            <a:xfrm>
              <a:off x="10738" y="4889"/>
              <a:ext cx="7230" cy="972"/>
            </a:xfrm>
            <a:prstGeom prst="rect">
              <a:avLst/>
            </a:prstGeom>
            <a:solidFill>
              <a:srgbClr val="EAF1FB"/>
            </a:solidFill>
            <a:ln w="12700">
              <a:solidFill>
                <a:srgbClr val="DEDEDE"/>
              </a:solidFill>
              <a:prstDash val="solid"/>
            </a:ln>
          </p:spPr>
          <p:txBody>
            <a:bodyPr/>
            <a:lstStyle/>
            <a:p>
              <a:endParaRPr lang="zh-CN" altLang="en-US"/>
            </a:p>
          </p:txBody>
        </p:sp>
        <p:sp>
          <p:nvSpPr>
            <p:cNvPr id="39" name="Text 28"/>
            <p:cNvSpPr/>
            <p:nvPr>
              <p:custDataLst>
                <p:tags r:id="rId7"/>
              </p:custDataLst>
            </p:nvPr>
          </p:nvSpPr>
          <p:spPr>
            <a:xfrm>
              <a:off x="10882" y="4927"/>
              <a:ext cx="7013"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Download Kaggle data; scrape Snopes / PolitiFact;</a:t>
              </a:r>
              <a:endParaRPr lang="en-US" sz="1600" dirty="0"/>
            </a:p>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clean, tokenize, normalize, deduplicate</a:t>
              </a:r>
            </a:p>
          </p:txBody>
        </p:sp>
        <p:sp>
          <p:nvSpPr>
            <p:cNvPr id="40" name="Shape 29"/>
            <p:cNvSpPr/>
            <p:nvPr>
              <p:custDataLst>
                <p:tags r:id="rId8"/>
              </p:custDataLst>
            </p:nvPr>
          </p:nvSpPr>
          <p:spPr>
            <a:xfrm>
              <a:off x="2062" y="5861"/>
              <a:ext cx="6326" cy="972"/>
            </a:xfrm>
            <a:prstGeom prst="rect">
              <a:avLst/>
            </a:prstGeom>
            <a:solidFill>
              <a:srgbClr val="FFFFFF"/>
            </a:solidFill>
            <a:ln w="12700">
              <a:solidFill>
                <a:srgbClr val="DEDEDE"/>
              </a:solidFill>
              <a:prstDash val="solid"/>
            </a:ln>
          </p:spPr>
          <p:txBody>
            <a:bodyPr/>
            <a:lstStyle/>
            <a:p>
              <a:endParaRPr lang="zh-CN" altLang="en-US"/>
            </a:p>
          </p:txBody>
        </p:sp>
        <p:sp>
          <p:nvSpPr>
            <p:cNvPr id="41" name="Text 30"/>
            <p:cNvSpPr/>
            <p:nvPr>
              <p:custDataLst>
                <p:tags r:id="rId9"/>
              </p:custDataLst>
            </p:nvPr>
          </p:nvSpPr>
          <p:spPr>
            <a:xfrm>
              <a:off x="2206" y="5899"/>
              <a:ext cx="6109"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Fake News Model</a:t>
              </a:r>
              <a:endParaRPr lang="en-US" sz="1600" dirty="0"/>
            </a:p>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Development</a:t>
              </a:r>
            </a:p>
          </p:txBody>
        </p:sp>
        <p:sp>
          <p:nvSpPr>
            <p:cNvPr id="42" name="Shape 31"/>
            <p:cNvSpPr/>
            <p:nvPr>
              <p:custDataLst>
                <p:tags r:id="rId10"/>
              </p:custDataLst>
            </p:nvPr>
          </p:nvSpPr>
          <p:spPr>
            <a:xfrm>
              <a:off x="8388" y="5861"/>
              <a:ext cx="2350" cy="972"/>
            </a:xfrm>
            <a:prstGeom prst="rect">
              <a:avLst/>
            </a:prstGeom>
            <a:solidFill>
              <a:srgbClr val="FFFFFF"/>
            </a:solidFill>
            <a:ln w="12700">
              <a:solidFill>
                <a:srgbClr val="DEDEDE"/>
              </a:solidFill>
              <a:prstDash val="solid"/>
            </a:ln>
          </p:spPr>
          <p:txBody>
            <a:bodyPr/>
            <a:lstStyle/>
            <a:p>
              <a:endParaRPr lang="zh-CN" altLang="en-US"/>
            </a:p>
          </p:txBody>
        </p:sp>
        <p:sp>
          <p:nvSpPr>
            <p:cNvPr id="43" name="Text 32"/>
            <p:cNvSpPr/>
            <p:nvPr>
              <p:custDataLst>
                <p:tags r:id="rId11"/>
              </p:custDataLst>
            </p:nvPr>
          </p:nvSpPr>
          <p:spPr>
            <a:xfrm>
              <a:off x="8532" y="5899"/>
              <a:ext cx="2133"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30%</a:t>
              </a:r>
            </a:p>
          </p:txBody>
        </p:sp>
        <p:sp>
          <p:nvSpPr>
            <p:cNvPr id="44" name="Shape 33"/>
            <p:cNvSpPr/>
            <p:nvPr>
              <p:custDataLst>
                <p:tags r:id="rId12"/>
              </p:custDataLst>
            </p:nvPr>
          </p:nvSpPr>
          <p:spPr>
            <a:xfrm>
              <a:off x="10738" y="5861"/>
              <a:ext cx="7230" cy="972"/>
            </a:xfrm>
            <a:prstGeom prst="rect">
              <a:avLst/>
            </a:prstGeom>
            <a:solidFill>
              <a:srgbClr val="FFFFFF"/>
            </a:solidFill>
            <a:ln w="12700">
              <a:solidFill>
                <a:srgbClr val="DEDEDE"/>
              </a:solidFill>
              <a:prstDash val="solid"/>
            </a:ln>
          </p:spPr>
          <p:txBody>
            <a:bodyPr/>
            <a:lstStyle/>
            <a:p>
              <a:endParaRPr lang="zh-CN" altLang="en-US"/>
            </a:p>
          </p:txBody>
        </p:sp>
        <p:sp>
          <p:nvSpPr>
            <p:cNvPr id="45" name="Text 34"/>
            <p:cNvSpPr/>
            <p:nvPr>
              <p:custDataLst>
                <p:tags r:id="rId13"/>
              </p:custDataLst>
            </p:nvPr>
          </p:nvSpPr>
          <p:spPr>
            <a:xfrm>
              <a:off x="10882" y="5899"/>
              <a:ext cx="7013"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Fine-tune BERT; optimize pipeline; baseline SVM/LR;</a:t>
              </a:r>
              <a:endParaRPr lang="en-US" sz="1600" dirty="0"/>
            </a:p>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hyperparameter tuning</a:t>
              </a:r>
            </a:p>
          </p:txBody>
        </p:sp>
        <p:sp>
          <p:nvSpPr>
            <p:cNvPr id="46" name="Shape 35"/>
            <p:cNvSpPr/>
            <p:nvPr>
              <p:custDataLst>
                <p:tags r:id="rId14"/>
              </p:custDataLst>
            </p:nvPr>
          </p:nvSpPr>
          <p:spPr>
            <a:xfrm>
              <a:off x="2062" y="6833"/>
              <a:ext cx="6326" cy="972"/>
            </a:xfrm>
            <a:prstGeom prst="rect">
              <a:avLst/>
            </a:prstGeom>
            <a:solidFill>
              <a:srgbClr val="EAF1FB"/>
            </a:solidFill>
            <a:ln w="12700">
              <a:solidFill>
                <a:srgbClr val="DEDEDE"/>
              </a:solidFill>
              <a:prstDash val="solid"/>
            </a:ln>
          </p:spPr>
          <p:txBody>
            <a:bodyPr/>
            <a:lstStyle/>
            <a:p>
              <a:endParaRPr lang="zh-CN" altLang="en-US"/>
            </a:p>
          </p:txBody>
        </p:sp>
        <p:sp>
          <p:nvSpPr>
            <p:cNvPr id="47" name="Text 36"/>
            <p:cNvSpPr/>
            <p:nvPr>
              <p:custDataLst>
                <p:tags r:id="rId15"/>
              </p:custDataLst>
            </p:nvPr>
          </p:nvSpPr>
          <p:spPr>
            <a:xfrm>
              <a:off x="2206" y="6871"/>
              <a:ext cx="6109"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Topic &amp; Sentiment</a:t>
              </a:r>
              <a:endParaRPr lang="en-US" sz="1600" dirty="0"/>
            </a:p>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Modules</a:t>
              </a:r>
            </a:p>
          </p:txBody>
        </p:sp>
        <p:sp>
          <p:nvSpPr>
            <p:cNvPr id="48" name="Shape 37"/>
            <p:cNvSpPr/>
            <p:nvPr>
              <p:custDataLst>
                <p:tags r:id="rId16"/>
              </p:custDataLst>
            </p:nvPr>
          </p:nvSpPr>
          <p:spPr>
            <a:xfrm>
              <a:off x="8388" y="6833"/>
              <a:ext cx="2350" cy="972"/>
            </a:xfrm>
            <a:prstGeom prst="rect">
              <a:avLst/>
            </a:prstGeom>
            <a:solidFill>
              <a:srgbClr val="EAF1FB"/>
            </a:solidFill>
            <a:ln w="12700">
              <a:solidFill>
                <a:srgbClr val="DEDEDE"/>
              </a:solidFill>
              <a:prstDash val="solid"/>
            </a:ln>
          </p:spPr>
          <p:txBody>
            <a:bodyPr/>
            <a:lstStyle/>
            <a:p>
              <a:endParaRPr lang="zh-CN" altLang="en-US" sz="2000"/>
            </a:p>
          </p:txBody>
        </p:sp>
        <p:sp>
          <p:nvSpPr>
            <p:cNvPr id="49" name="Text 38"/>
            <p:cNvSpPr/>
            <p:nvPr>
              <p:custDataLst>
                <p:tags r:id="rId17"/>
              </p:custDataLst>
            </p:nvPr>
          </p:nvSpPr>
          <p:spPr>
            <a:xfrm>
              <a:off x="8532" y="6871"/>
              <a:ext cx="2133"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15%</a:t>
              </a:r>
            </a:p>
          </p:txBody>
        </p:sp>
        <p:sp>
          <p:nvSpPr>
            <p:cNvPr id="50" name="Shape 39"/>
            <p:cNvSpPr/>
            <p:nvPr>
              <p:custDataLst>
                <p:tags r:id="rId18"/>
              </p:custDataLst>
            </p:nvPr>
          </p:nvSpPr>
          <p:spPr>
            <a:xfrm>
              <a:off x="10738" y="6833"/>
              <a:ext cx="7230" cy="972"/>
            </a:xfrm>
            <a:prstGeom prst="rect">
              <a:avLst/>
            </a:prstGeom>
            <a:solidFill>
              <a:srgbClr val="EAF1FB"/>
            </a:solidFill>
            <a:ln w="12700">
              <a:solidFill>
                <a:srgbClr val="DEDEDE"/>
              </a:solidFill>
              <a:prstDash val="solid"/>
            </a:ln>
          </p:spPr>
          <p:txBody>
            <a:bodyPr/>
            <a:lstStyle/>
            <a:p>
              <a:endParaRPr lang="zh-CN" altLang="en-US"/>
            </a:p>
          </p:txBody>
        </p:sp>
        <p:sp>
          <p:nvSpPr>
            <p:cNvPr id="51" name="Text 40"/>
            <p:cNvSpPr/>
            <p:nvPr>
              <p:custDataLst>
                <p:tags r:id="rId19"/>
              </p:custDataLst>
            </p:nvPr>
          </p:nvSpPr>
          <p:spPr>
            <a:xfrm>
              <a:off x="10882" y="6871"/>
              <a:ext cx="7013"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Implement LDA / BERTopic; integrate pre-trained</a:t>
              </a:r>
              <a:endParaRPr lang="en-US" sz="1600" dirty="0"/>
            </a:p>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sentiment model; validate outputs</a:t>
              </a:r>
            </a:p>
          </p:txBody>
        </p:sp>
        <p:sp>
          <p:nvSpPr>
            <p:cNvPr id="52" name="Shape 41"/>
            <p:cNvSpPr/>
            <p:nvPr>
              <p:custDataLst>
                <p:tags r:id="rId20"/>
              </p:custDataLst>
            </p:nvPr>
          </p:nvSpPr>
          <p:spPr>
            <a:xfrm>
              <a:off x="2062" y="7806"/>
              <a:ext cx="6326" cy="972"/>
            </a:xfrm>
            <a:prstGeom prst="rect">
              <a:avLst/>
            </a:prstGeom>
            <a:solidFill>
              <a:srgbClr val="FFFFFF"/>
            </a:solidFill>
            <a:ln w="12700">
              <a:solidFill>
                <a:srgbClr val="DEDEDE"/>
              </a:solidFill>
              <a:prstDash val="solid"/>
            </a:ln>
          </p:spPr>
          <p:txBody>
            <a:bodyPr/>
            <a:lstStyle/>
            <a:p>
              <a:endParaRPr lang="zh-CN" altLang="en-US"/>
            </a:p>
          </p:txBody>
        </p:sp>
        <p:sp>
          <p:nvSpPr>
            <p:cNvPr id="53" name="Text 42"/>
            <p:cNvSpPr/>
            <p:nvPr>
              <p:custDataLst>
                <p:tags r:id="rId21"/>
              </p:custDataLst>
            </p:nvPr>
          </p:nvSpPr>
          <p:spPr>
            <a:xfrm>
              <a:off x="2206" y="7843"/>
              <a:ext cx="6109"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System Integration</a:t>
              </a:r>
              <a:endParaRPr lang="en-US" sz="1600" dirty="0"/>
            </a:p>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&amp; Demo Interface</a:t>
              </a:r>
            </a:p>
          </p:txBody>
        </p:sp>
        <p:sp>
          <p:nvSpPr>
            <p:cNvPr id="54" name="Shape 43"/>
            <p:cNvSpPr/>
            <p:nvPr>
              <p:custDataLst>
                <p:tags r:id="rId22"/>
              </p:custDataLst>
            </p:nvPr>
          </p:nvSpPr>
          <p:spPr>
            <a:xfrm>
              <a:off x="8388" y="7806"/>
              <a:ext cx="2350" cy="972"/>
            </a:xfrm>
            <a:prstGeom prst="rect">
              <a:avLst/>
            </a:prstGeom>
            <a:solidFill>
              <a:srgbClr val="FFFFFF"/>
            </a:solidFill>
            <a:ln w="12700">
              <a:solidFill>
                <a:srgbClr val="DEDEDE"/>
              </a:solidFill>
              <a:prstDash val="solid"/>
            </a:ln>
          </p:spPr>
          <p:txBody>
            <a:bodyPr/>
            <a:lstStyle/>
            <a:p>
              <a:endParaRPr lang="zh-CN" altLang="en-US"/>
            </a:p>
          </p:txBody>
        </p:sp>
        <p:sp>
          <p:nvSpPr>
            <p:cNvPr id="55" name="Text 44"/>
            <p:cNvSpPr/>
            <p:nvPr>
              <p:custDataLst>
                <p:tags r:id="rId23"/>
              </p:custDataLst>
            </p:nvPr>
          </p:nvSpPr>
          <p:spPr>
            <a:xfrm>
              <a:off x="8532" y="7843"/>
              <a:ext cx="2133"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15%</a:t>
              </a:r>
            </a:p>
          </p:txBody>
        </p:sp>
        <p:sp>
          <p:nvSpPr>
            <p:cNvPr id="56" name="Shape 45"/>
            <p:cNvSpPr/>
            <p:nvPr>
              <p:custDataLst>
                <p:tags r:id="rId24"/>
              </p:custDataLst>
            </p:nvPr>
          </p:nvSpPr>
          <p:spPr>
            <a:xfrm>
              <a:off x="10738" y="7806"/>
              <a:ext cx="7230" cy="972"/>
            </a:xfrm>
            <a:prstGeom prst="rect">
              <a:avLst/>
            </a:prstGeom>
            <a:solidFill>
              <a:srgbClr val="FFFFFF"/>
            </a:solidFill>
            <a:ln w="12700">
              <a:solidFill>
                <a:srgbClr val="DEDEDE"/>
              </a:solidFill>
              <a:prstDash val="solid"/>
            </a:ln>
          </p:spPr>
          <p:txBody>
            <a:bodyPr/>
            <a:lstStyle/>
            <a:p>
              <a:endParaRPr lang="zh-CN" altLang="en-US"/>
            </a:p>
          </p:txBody>
        </p:sp>
        <p:sp>
          <p:nvSpPr>
            <p:cNvPr id="57" name="Text 46"/>
            <p:cNvSpPr/>
            <p:nvPr>
              <p:custDataLst>
                <p:tags r:id="rId25"/>
              </p:custDataLst>
            </p:nvPr>
          </p:nvSpPr>
          <p:spPr>
            <a:xfrm>
              <a:off x="10882" y="7843"/>
              <a:ext cx="7013"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Combine all modules; build Streamlit UI;</a:t>
              </a:r>
              <a:endParaRPr lang="en-US" sz="1600" dirty="0"/>
            </a:p>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visualize confidence &amp; supporting signals</a:t>
              </a:r>
            </a:p>
          </p:txBody>
        </p:sp>
        <p:sp>
          <p:nvSpPr>
            <p:cNvPr id="58" name="Shape 47"/>
            <p:cNvSpPr/>
            <p:nvPr>
              <p:custDataLst>
                <p:tags r:id="rId26"/>
              </p:custDataLst>
            </p:nvPr>
          </p:nvSpPr>
          <p:spPr>
            <a:xfrm>
              <a:off x="2062" y="8778"/>
              <a:ext cx="6326" cy="972"/>
            </a:xfrm>
            <a:prstGeom prst="rect">
              <a:avLst/>
            </a:prstGeom>
            <a:solidFill>
              <a:srgbClr val="EAF1FB"/>
            </a:solidFill>
            <a:ln w="12700">
              <a:solidFill>
                <a:srgbClr val="DEDEDE"/>
              </a:solidFill>
              <a:prstDash val="solid"/>
            </a:ln>
          </p:spPr>
          <p:txBody>
            <a:bodyPr/>
            <a:lstStyle/>
            <a:p>
              <a:endParaRPr lang="zh-CN" altLang="en-US"/>
            </a:p>
          </p:txBody>
        </p:sp>
        <p:sp>
          <p:nvSpPr>
            <p:cNvPr id="59" name="Text 48"/>
            <p:cNvSpPr/>
            <p:nvPr>
              <p:custDataLst>
                <p:tags r:id="rId27"/>
              </p:custDataLst>
            </p:nvPr>
          </p:nvSpPr>
          <p:spPr>
            <a:xfrm>
              <a:off x="2206" y="8814"/>
              <a:ext cx="6109"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Evaluation &amp; Error</a:t>
              </a:r>
              <a:endParaRPr lang="en-US" sz="1600" dirty="0"/>
            </a:p>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Analysis</a:t>
              </a:r>
            </a:p>
          </p:txBody>
        </p:sp>
        <p:sp>
          <p:nvSpPr>
            <p:cNvPr id="60" name="Shape 49"/>
            <p:cNvSpPr/>
            <p:nvPr>
              <p:custDataLst>
                <p:tags r:id="rId28"/>
              </p:custDataLst>
            </p:nvPr>
          </p:nvSpPr>
          <p:spPr>
            <a:xfrm>
              <a:off x="8388" y="8778"/>
              <a:ext cx="2350" cy="972"/>
            </a:xfrm>
            <a:prstGeom prst="rect">
              <a:avLst/>
            </a:prstGeom>
            <a:solidFill>
              <a:srgbClr val="EAF1FB"/>
            </a:solidFill>
            <a:ln w="12700">
              <a:solidFill>
                <a:srgbClr val="DEDEDE"/>
              </a:solidFill>
              <a:prstDash val="solid"/>
            </a:ln>
          </p:spPr>
          <p:txBody>
            <a:bodyPr/>
            <a:lstStyle/>
            <a:p>
              <a:endParaRPr lang="zh-CN" altLang="en-US" sz="2000"/>
            </a:p>
          </p:txBody>
        </p:sp>
        <p:sp>
          <p:nvSpPr>
            <p:cNvPr id="61" name="Text 50"/>
            <p:cNvSpPr/>
            <p:nvPr>
              <p:custDataLst>
                <p:tags r:id="rId29"/>
              </p:custDataLst>
            </p:nvPr>
          </p:nvSpPr>
          <p:spPr>
            <a:xfrm>
              <a:off x="8532" y="8814"/>
              <a:ext cx="2133"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10%</a:t>
              </a:r>
            </a:p>
          </p:txBody>
        </p:sp>
        <p:sp>
          <p:nvSpPr>
            <p:cNvPr id="63" name="Shape 51"/>
            <p:cNvSpPr/>
            <p:nvPr>
              <p:custDataLst>
                <p:tags r:id="rId30"/>
              </p:custDataLst>
            </p:nvPr>
          </p:nvSpPr>
          <p:spPr>
            <a:xfrm>
              <a:off x="10738" y="8778"/>
              <a:ext cx="7230" cy="972"/>
            </a:xfrm>
            <a:prstGeom prst="rect">
              <a:avLst/>
            </a:prstGeom>
            <a:solidFill>
              <a:srgbClr val="EAF1FB"/>
            </a:solidFill>
            <a:ln w="12700">
              <a:solidFill>
                <a:srgbClr val="DEDEDE"/>
              </a:solidFill>
              <a:prstDash val="solid"/>
            </a:ln>
          </p:spPr>
          <p:txBody>
            <a:bodyPr/>
            <a:lstStyle/>
            <a:p>
              <a:endParaRPr lang="zh-CN" altLang="en-US"/>
            </a:p>
          </p:txBody>
        </p:sp>
        <p:sp>
          <p:nvSpPr>
            <p:cNvPr id="64" name="Text 52"/>
            <p:cNvSpPr/>
            <p:nvPr>
              <p:custDataLst>
                <p:tags r:id="rId31"/>
              </p:custDataLst>
            </p:nvPr>
          </p:nvSpPr>
          <p:spPr>
            <a:xfrm>
              <a:off x="10882" y="8814"/>
              <a:ext cx="7013" cy="897"/>
            </a:xfrm>
            <a:prstGeom prst="rect">
              <a:avLst/>
            </a:prstGeom>
            <a:noFill/>
          </p:spPr>
          <p:txBody>
            <a:bodyPr wrap="square" lIns="0" tIns="0" rIns="0" bIns="0" rtlCol="0" anchor="ctr"/>
            <a:lstStyle/>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Measure F1, accuracy, confusion matrix;</a:t>
              </a:r>
              <a:endParaRPr lang="en-US" sz="1600" dirty="0"/>
            </a:p>
            <a:p>
              <a:pPr marL="0" indent="0">
                <a:buNone/>
              </a:pPr>
              <a:r>
                <a:rPr lang="en-US" sz="1600" dirty="0">
                  <a:solidFill>
                    <a:srgbClr val="1A1A1A"/>
                  </a:solidFill>
                  <a:latin typeface="Calibri" panose="020F0502020204030204" charset="0"/>
                  <a:ea typeface="Calibri" panose="020F0502020204030204" pitchFamily="34" charset="-122"/>
                  <a:cs typeface="Calibri" panose="020F0502020204030204" pitchFamily="34" charset="-120"/>
                </a:rPr>
                <a:t>qualitative analysis on satire / ambiguous cases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37EEE-325C-C140-7245-4209CA63E65A}"/>
            </a:ext>
          </a:extLst>
        </p:cNvPr>
        <p:cNvGrpSpPr/>
        <p:nvPr/>
      </p:nvGrpSpPr>
      <p:grpSpPr>
        <a:xfrm>
          <a:off x="0" y="0"/>
          <a:ext cx="0" cy="0"/>
          <a:chOff x="0" y="0"/>
          <a:chExt cx="0" cy="0"/>
        </a:xfrm>
      </p:grpSpPr>
      <p:grpSp>
        <p:nvGrpSpPr>
          <p:cNvPr id="11" name="组合 140">
            <a:extLst>
              <a:ext uri="{FF2B5EF4-FFF2-40B4-BE49-F238E27FC236}">
                <a16:creationId xmlns:a16="http://schemas.microsoft.com/office/drawing/2014/main" id="{4CAEBB30-DA8E-5575-D4AA-89D02AD9CC42}"/>
              </a:ext>
            </a:extLst>
          </p:cNvPr>
          <p:cNvGrpSpPr/>
          <p:nvPr/>
        </p:nvGrpSpPr>
        <p:grpSpPr>
          <a:xfrm>
            <a:off x="6916808" y="63686"/>
            <a:ext cx="2240393" cy="761523"/>
            <a:chOff x="1607742" y="61757"/>
            <a:chExt cx="2240393" cy="761523"/>
          </a:xfrm>
        </p:grpSpPr>
        <p:pic>
          <p:nvPicPr>
            <p:cNvPr id="12" name="图片 138" descr="电脑截图&#10;&#10;描述已自动生成">
              <a:extLst>
                <a:ext uri="{FF2B5EF4-FFF2-40B4-BE49-F238E27FC236}">
                  <a16:creationId xmlns:a16="http://schemas.microsoft.com/office/drawing/2014/main" id="{57E10C08-D7ED-68DA-777E-BEF6048E1AEA}"/>
                </a:ext>
              </a:extLst>
            </p:cNvPr>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3" name="文本框 139">
              <a:extLst>
                <a:ext uri="{FF2B5EF4-FFF2-40B4-BE49-F238E27FC236}">
                  <a16:creationId xmlns:a16="http://schemas.microsoft.com/office/drawing/2014/main" id="{BF294667-5322-2D71-5B30-26F504AA91BC}"/>
                </a:ext>
              </a:extLst>
            </p:cNvPr>
            <p:cNvSpPr txBox="1"/>
            <p:nvPr/>
          </p:nvSpPr>
          <p:spPr>
            <a:xfrm>
              <a:off x="1912132" y="119352"/>
              <a:ext cx="1553630"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Final </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Conclusion</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8" name="组合 140">
            <a:extLst>
              <a:ext uri="{FF2B5EF4-FFF2-40B4-BE49-F238E27FC236}">
                <a16:creationId xmlns:a16="http://schemas.microsoft.com/office/drawing/2014/main" id="{A23C8157-7554-37CB-EA4E-9BC58D56AA7C}"/>
              </a:ext>
            </a:extLst>
          </p:cNvPr>
          <p:cNvGrpSpPr/>
          <p:nvPr/>
        </p:nvGrpSpPr>
        <p:grpSpPr>
          <a:xfrm>
            <a:off x="5169785" y="63686"/>
            <a:ext cx="2240393" cy="761523"/>
            <a:chOff x="1607742" y="61757"/>
            <a:chExt cx="2240393" cy="761523"/>
          </a:xfrm>
        </p:grpSpPr>
        <p:pic>
          <p:nvPicPr>
            <p:cNvPr id="9" name="图片 138" descr="电脑截图&#10;&#10;描述已自动生成">
              <a:extLst>
                <a:ext uri="{FF2B5EF4-FFF2-40B4-BE49-F238E27FC236}">
                  <a16:creationId xmlns:a16="http://schemas.microsoft.com/office/drawing/2014/main" id="{918A7C96-C8B2-1A86-6156-8C1056E1C08D}"/>
                </a:ext>
              </a:extLst>
            </p:cNvPr>
            <p:cNvPicPr>
              <a:picLocks noChangeAspect="1"/>
            </p:cNvPicPr>
            <p:nvPr/>
          </p:nvPicPr>
          <p:blipFill rotWithShape="1">
            <a:blip r:embed="rId2"/>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0" name="文本框 139">
              <a:extLst>
                <a:ext uri="{FF2B5EF4-FFF2-40B4-BE49-F238E27FC236}">
                  <a16:creationId xmlns:a16="http://schemas.microsoft.com/office/drawing/2014/main" id="{C88BDC82-5CEB-BE2B-74DD-7EAAC01AF20E}"/>
                </a:ext>
              </a:extLst>
            </p:cNvPr>
            <p:cNvSpPr txBox="1"/>
            <p:nvPr/>
          </p:nvSpPr>
          <p:spPr>
            <a:xfrm>
              <a:off x="1912132" y="119352"/>
              <a:ext cx="1672253"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Technical</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Approaches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5" name="组合 140">
            <a:extLst>
              <a:ext uri="{FF2B5EF4-FFF2-40B4-BE49-F238E27FC236}">
                <a16:creationId xmlns:a16="http://schemas.microsoft.com/office/drawing/2014/main" id="{95393BA4-EA95-1E6B-1DCE-B2FFA9B3EC9C}"/>
              </a:ext>
            </a:extLst>
          </p:cNvPr>
          <p:cNvGrpSpPr/>
          <p:nvPr/>
        </p:nvGrpSpPr>
        <p:grpSpPr>
          <a:xfrm>
            <a:off x="3422762" y="63686"/>
            <a:ext cx="2240393" cy="761523"/>
            <a:chOff x="1607742" y="61757"/>
            <a:chExt cx="2240393" cy="761523"/>
          </a:xfrm>
        </p:grpSpPr>
        <p:pic>
          <p:nvPicPr>
            <p:cNvPr id="6" name="图片 138" descr="电脑截图&#10;&#10;描述已自动生成">
              <a:extLst>
                <a:ext uri="{FF2B5EF4-FFF2-40B4-BE49-F238E27FC236}">
                  <a16:creationId xmlns:a16="http://schemas.microsoft.com/office/drawing/2014/main" id="{AA1B2456-7F2B-59B2-A2AC-6A72BD244782}"/>
                </a:ext>
              </a:extLst>
            </p:cNvPr>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7" name="文本框 139">
              <a:extLst>
                <a:ext uri="{FF2B5EF4-FFF2-40B4-BE49-F238E27FC236}">
                  <a16:creationId xmlns:a16="http://schemas.microsoft.com/office/drawing/2014/main" id="{ED219592-276F-7040-1956-54095E5188E2}"/>
                </a:ext>
              </a:extLst>
            </p:cNvPr>
            <p:cNvSpPr txBox="1"/>
            <p:nvPr/>
          </p:nvSpPr>
          <p:spPr>
            <a:xfrm>
              <a:off x="1912132" y="119352"/>
              <a:ext cx="130035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Data</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Available</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 name="组合 140">
            <a:extLst>
              <a:ext uri="{FF2B5EF4-FFF2-40B4-BE49-F238E27FC236}">
                <a16:creationId xmlns:a16="http://schemas.microsoft.com/office/drawing/2014/main" id="{C892C462-1517-517C-4B6D-6DBA14D280FB}"/>
              </a:ext>
            </a:extLst>
          </p:cNvPr>
          <p:cNvGrpSpPr/>
          <p:nvPr/>
        </p:nvGrpSpPr>
        <p:grpSpPr>
          <a:xfrm>
            <a:off x="1675739" y="64201"/>
            <a:ext cx="2240393" cy="761523"/>
            <a:chOff x="1607742" y="61757"/>
            <a:chExt cx="2240393" cy="761523"/>
          </a:xfrm>
        </p:grpSpPr>
        <p:pic>
          <p:nvPicPr>
            <p:cNvPr id="3" name="图片 138" descr="电脑截图&#10;&#10;描述已自动生成">
              <a:extLst>
                <a:ext uri="{FF2B5EF4-FFF2-40B4-BE49-F238E27FC236}">
                  <a16:creationId xmlns:a16="http://schemas.microsoft.com/office/drawing/2014/main" id="{C1C7B4BB-B8FB-492D-9E9E-D945E221564D}"/>
                </a:ext>
              </a:extLst>
            </p:cNvPr>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4" name="文本框 139">
              <a:extLst>
                <a:ext uri="{FF2B5EF4-FFF2-40B4-BE49-F238E27FC236}">
                  <a16:creationId xmlns:a16="http://schemas.microsoft.com/office/drawing/2014/main" id="{19F45BDD-5C98-3C62-4504-6420F5FDA1EF}"/>
                </a:ext>
              </a:extLst>
            </p:cNvPr>
            <p:cNvSpPr txBox="1"/>
            <p:nvPr/>
          </p:nvSpPr>
          <p:spPr>
            <a:xfrm>
              <a:off x="1912132" y="119352"/>
              <a:ext cx="110799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Scopes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141" name="组合 140">
            <a:extLst>
              <a:ext uri="{FF2B5EF4-FFF2-40B4-BE49-F238E27FC236}">
                <a16:creationId xmlns:a16="http://schemas.microsoft.com/office/drawing/2014/main" id="{A3831C3D-3279-17A3-F6BD-32B63EBFDCBE}"/>
              </a:ext>
            </a:extLst>
          </p:cNvPr>
          <p:cNvGrpSpPr/>
          <p:nvPr/>
        </p:nvGrpSpPr>
        <p:grpSpPr>
          <a:xfrm>
            <a:off x="-71284" y="63686"/>
            <a:ext cx="2240393" cy="761523"/>
            <a:chOff x="1607742" y="61757"/>
            <a:chExt cx="2240393" cy="761523"/>
          </a:xfrm>
        </p:grpSpPr>
        <p:pic>
          <p:nvPicPr>
            <p:cNvPr id="139" name="图片 138" descr="电脑截图&#10;&#10;描述已自动生成">
              <a:extLst>
                <a:ext uri="{FF2B5EF4-FFF2-40B4-BE49-F238E27FC236}">
                  <a16:creationId xmlns:a16="http://schemas.microsoft.com/office/drawing/2014/main" id="{7715076D-1D51-361D-4C7F-EA16714CAF6C}"/>
                </a:ext>
              </a:extLst>
            </p:cNvPr>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40" name="文本框 139">
              <a:extLst>
                <a:ext uri="{FF2B5EF4-FFF2-40B4-BE49-F238E27FC236}">
                  <a16:creationId xmlns:a16="http://schemas.microsoft.com/office/drawing/2014/main" id="{E62F6A5D-7C80-B4FB-06A3-7C33BE198111}"/>
                </a:ext>
              </a:extLst>
            </p:cNvPr>
            <p:cNvSpPr txBox="1"/>
            <p:nvPr/>
          </p:nvSpPr>
          <p:spPr>
            <a:xfrm>
              <a:off x="1912132" y="119352"/>
              <a:ext cx="1487908"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Objectives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3" name="组合 22">
            <a:extLst>
              <a:ext uri="{FF2B5EF4-FFF2-40B4-BE49-F238E27FC236}">
                <a16:creationId xmlns:a16="http://schemas.microsoft.com/office/drawing/2014/main" id="{B4D3E383-A25C-8C51-0898-FF2CAC3AB153}"/>
              </a:ext>
            </a:extLst>
          </p:cNvPr>
          <p:cNvGrpSpPr/>
          <p:nvPr/>
        </p:nvGrpSpPr>
        <p:grpSpPr>
          <a:xfrm>
            <a:off x="-5338" y="816353"/>
            <a:ext cx="10076425" cy="36000"/>
            <a:chOff x="0" y="640081"/>
            <a:chExt cx="10076425" cy="36000"/>
          </a:xfrm>
        </p:grpSpPr>
        <p:sp>
          <p:nvSpPr>
            <p:cNvPr id="21" name="矩形 20">
              <a:extLst>
                <a:ext uri="{FF2B5EF4-FFF2-40B4-BE49-F238E27FC236}">
                  <a16:creationId xmlns:a16="http://schemas.microsoft.com/office/drawing/2014/main" id="{94333899-3FEA-78BD-A6AE-B58B4896EE7D}"/>
                </a:ext>
              </a:extLst>
            </p:cNvPr>
            <p:cNvSpPr/>
            <p:nvPr/>
          </p:nvSpPr>
          <p:spPr>
            <a:xfrm>
              <a:off x="0" y="640081"/>
              <a:ext cx="10004425" cy="36000"/>
            </a:xfrm>
            <a:prstGeom prst="rect">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sp>
          <p:nvSpPr>
            <p:cNvPr id="22" name="三角形 21">
              <a:extLst>
                <a:ext uri="{FF2B5EF4-FFF2-40B4-BE49-F238E27FC236}">
                  <a16:creationId xmlns:a16="http://schemas.microsoft.com/office/drawing/2014/main" id="{C7F98C81-33C0-880C-95A1-141B7E0EAFB9}"/>
                </a:ext>
              </a:extLst>
            </p:cNvPr>
            <p:cNvSpPr/>
            <p:nvPr/>
          </p:nvSpPr>
          <p:spPr>
            <a:xfrm>
              <a:off x="10004425" y="640081"/>
              <a:ext cx="72000" cy="36000"/>
            </a:xfrm>
            <a:prstGeom prst="triangle">
              <a:avLst>
                <a:gd name="adj" fmla="val 0"/>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grpSp>
      <p:grpSp>
        <p:nvGrpSpPr>
          <p:cNvPr id="16" name="Group 15">
            <a:extLst>
              <a:ext uri="{FF2B5EF4-FFF2-40B4-BE49-F238E27FC236}">
                <a16:creationId xmlns:a16="http://schemas.microsoft.com/office/drawing/2014/main" id="{1600DB83-A3A6-5173-CC7A-767B170C1BB4}"/>
              </a:ext>
            </a:extLst>
          </p:cNvPr>
          <p:cNvGrpSpPr/>
          <p:nvPr/>
        </p:nvGrpSpPr>
        <p:grpSpPr>
          <a:xfrm>
            <a:off x="9639635" y="-646"/>
            <a:ext cx="2801744" cy="639751"/>
            <a:chOff x="109411" y="4326"/>
            <a:chExt cx="2801744" cy="639751"/>
          </a:xfrm>
        </p:grpSpPr>
        <p:pic>
          <p:nvPicPr>
            <p:cNvPr id="17" name="Picture 16" descr="A blue and black logo&#10;&#10;AI-generated content may be incorrect.">
              <a:extLst>
                <a:ext uri="{FF2B5EF4-FFF2-40B4-BE49-F238E27FC236}">
                  <a16:creationId xmlns:a16="http://schemas.microsoft.com/office/drawing/2014/main" id="{DBE53035-870D-6C18-18A0-C294CD498302}"/>
                </a:ext>
              </a:extLst>
            </p:cNvPr>
            <p:cNvPicPr>
              <a:picLocks noChangeAspect="1"/>
            </p:cNvPicPr>
            <p:nvPr/>
          </p:nvPicPr>
          <p:blipFill>
            <a:blip r:embed="rId3"/>
            <a:stretch>
              <a:fillRect/>
            </a:stretch>
          </p:blipFill>
          <p:spPr>
            <a:xfrm>
              <a:off x="1411738" y="4326"/>
              <a:ext cx="1499417" cy="639751"/>
            </a:xfrm>
            <a:prstGeom prst="rect">
              <a:avLst/>
            </a:prstGeom>
          </p:spPr>
        </p:pic>
        <p:pic>
          <p:nvPicPr>
            <p:cNvPr id="18" name="Picture 17" descr="A blue and white logo with a black background&#10;&#10;AI-generated content may be incorrect.">
              <a:extLst>
                <a:ext uri="{FF2B5EF4-FFF2-40B4-BE49-F238E27FC236}">
                  <a16:creationId xmlns:a16="http://schemas.microsoft.com/office/drawing/2014/main" id="{53A5DA05-CEA5-BBFC-6E30-5B175259BE60}"/>
                </a:ext>
              </a:extLst>
            </p:cNvPr>
            <p:cNvPicPr>
              <a:picLocks noChangeAspect="1"/>
            </p:cNvPicPr>
            <p:nvPr/>
          </p:nvPicPr>
          <p:blipFill>
            <a:blip r:embed="rId4"/>
            <a:stretch>
              <a:fillRect/>
            </a:stretch>
          </p:blipFill>
          <p:spPr>
            <a:xfrm>
              <a:off x="109411" y="102746"/>
              <a:ext cx="1211828" cy="513623"/>
            </a:xfrm>
            <a:prstGeom prst="rect">
              <a:avLst/>
            </a:prstGeom>
          </p:spPr>
        </p:pic>
        <p:cxnSp>
          <p:nvCxnSpPr>
            <p:cNvPr id="19" name="Straight Connector 18">
              <a:extLst>
                <a:ext uri="{FF2B5EF4-FFF2-40B4-BE49-F238E27FC236}">
                  <a16:creationId xmlns:a16="http://schemas.microsoft.com/office/drawing/2014/main" id="{1CADFF76-E321-748E-C734-FE1DF688EF4D}"/>
                </a:ext>
              </a:extLst>
            </p:cNvPr>
            <p:cNvCxnSpPr/>
            <p:nvPr/>
          </p:nvCxnSpPr>
          <p:spPr>
            <a:xfrm flipV="1">
              <a:off x="1365994" y="55416"/>
              <a:ext cx="0" cy="513623"/>
            </a:xfrm>
            <a:prstGeom prst="line">
              <a:avLst/>
            </a:prstGeom>
          </p:spPr>
          <p:style>
            <a:lnRef idx="2">
              <a:schemeClr val="accent1"/>
            </a:lnRef>
            <a:fillRef idx="0">
              <a:schemeClr val="accent1"/>
            </a:fillRef>
            <a:effectRef idx="1">
              <a:schemeClr val="accent1"/>
            </a:effectRef>
            <a:fontRef idx="minor">
              <a:schemeClr val="tx1"/>
            </a:fontRef>
          </p:style>
        </p:cxnSp>
      </p:grpSp>
      <p:sp>
        <p:nvSpPr>
          <p:cNvPr id="24" name="Text 15">
            <a:extLst>
              <a:ext uri="{FF2B5EF4-FFF2-40B4-BE49-F238E27FC236}">
                <a16:creationId xmlns:a16="http://schemas.microsoft.com/office/drawing/2014/main" id="{7952D826-EC8D-DA83-6CC9-FC4C9182FDE7}"/>
              </a:ext>
            </a:extLst>
          </p:cNvPr>
          <p:cNvSpPr/>
          <p:nvPr/>
        </p:nvSpPr>
        <p:spPr>
          <a:xfrm>
            <a:off x="594995" y="1029970"/>
            <a:ext cx="10330180" cy="450850"/>
          </a:xfrm>
          <a:prstGeom prst="rect">
            <a:avLst/>
          </a:prstGeom>
          <a:noFill/>
        </p:spPr>
        <p:txBody>
          <a:bodyPr wrap="square" lIns="0" tIns="0" rIns="0" bIns="0" rtlCol="0" anchor="ctr"/>
          <a:lstStyle/>
          <a:p>
            <a:pPr marL="0" indent="0">
              <a:buNone/>
            </a:pPr>
            <a:r>
              <a:rPr lang="en-US" sz="2000" dirty="0">
                <a:solidFill>
                  <a:srgbClr val="1A1A1A"/>
                </a:solidFill>
                <a:latin typeface="Arial" panose="020B0604020202020204" pitchFamily="34" charset="0"/>
                <a:ea typeface="Times New Roman" panose="02020603050405020304" pitchFamily="34" charset="-122"/>
                <a:cs typeface="Arial" panose="020B0604020202020204" pitchFamily="34" charset="0"/>
              </a:rPr>
              <a:t>E</a:t>
            </a:r>
            <a:r>
              <a:rPr lang="en-US" altLang="zh-CN" sz="2000" dirty="0">
                <a:solidFill>
                  <a:srgbClr val="1A1A1A"/>
                </a:solidFill>
                <a:latin typeface="Arial" panose="020B0604020202020204" pitchFamily="34" charset="0"/>
                <a:ea typeface="Times New Roman" panose="02020603050405020304" pitchFamily="34" charset="-122"/>
                <a:cs typeface="Arial" panose="020B0604020202020204" pitchFamily="34" charset="0"/>
              </a:rPr>
              <a:t>xpected Outcome</a:t>
            </a:r>
            <a:endParaRPr lang="en-US" sz="2000" dirty="0">
              <a:solidFill>
                <a:srgbClr val="1A1A1A"/>
              </a:solidFill>
              <a:latin typeface="Arial" panose="020B0604020202020204" pitchFamily="34" charset="0"/>
              <a:ea typeface="Times New Roman" panose="02020603050405020304" pitchFamily="34" charset="-122"/>
              <a:cs typeface="Arial" panose="020B0604020202020204" pitchFamily="34" charset="0"/>
            </a:endParaRPr>
          </a:p>
        </p:txBody>
      </p:sp>
      <p:pic>
        <p:nvPicPr>
          <p:cNvPr id="15" name="图片 14">
            <a:extLst>
              <a:ext uri="{FF2B5EF4-FFF2-40B4-BE49-F238E27FC236}">
                <a16:creationId xmlns:a16="http://schemas.microsoft.com/office/drawing/2014/main" id="{277A4B0C-2F21-2502-5D04-4006BB31C176}"/>
              </a:ext>
            </a:extLst>
          </p:cNvPr>
          <p:cNvPicPr>
            <a:picLocks noChangeAspect="1"/>
          </p:cNvPicPr>
          <p:nvPr/>
        </p:nvPicPr>
        <p:blipFill>
          <a:blip r:embed="rId5"/>
          <a:stretch>
            <a:fillRect/>
          </a:stretch>
        </p:blipFill>
        <p:spPr>
          <a:xfrm>
            <a:off x="847287" y="1658437"/>
            <a:ext cx="4626888" cy="4833815"/>
          </a:xfrm>
          <a:prstGeom prst="rect">
            <a:avLst/>
          </a:prstGeom>
        </p:spPr>
      </p:pic>
      <p:pic>
        <p:nvPicPr>
          <p:cNvPr id="25" name="图片 24">
            <a:extLst>
              <a:ext uri="{FF2B5EF4-FFF2-40B4-BE49-F238E27FC236}">
                <a16:creationId xmlns:a16="http://schemas.microsoft.com/office/drawing/2014/main" id="{5E5FF06C-8CF4-7028-F560-68C09E357F96}"/>
              </a:ext>
            </a:extLst>
          </p:cNvPr>
          <p:cNvPicPr>
            <a:picLocks noChangeAspect="1"/>
          </p:cNvPicPr>
          <p:nvPr/>
        </p:nvPicPr>
        <p:blipFill>
          <a:blip r:embed="rId6"/>
          <a:stretch>
            <a:fillRect/>
          </a:stretch>
        </p:blipFill>
        <p:spPr>
          <a:xfrm>
            <a:off x="6289981" y="1480820"/>
            <a:ext cx="4190374" cy="5011432"/>
          </a:xfrm>
          <a:prstGeom prst="rect">
            <a:avLst/>
          </a:prstGeom>
        </p:spPr>
      </p:pic>
    </p:spTree>
    <p:extLst>
      <p:ext uri="{BB962C8B-B14F-4D97-AF65-F5344CB8AC3E}">
        <p14:creationId xmlns:p14="http://schemas.microsoft.com/office/powerpoint/2010/main" val="2940562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40"/>
          <p:cNvGrpSpPr/>
          <p:nvPr/>
        </p:nvGrpSpPr>
        <p:grpSpPr>
          <a:xfrm>
            <a:off x="6916808" y="63686"/>
            <a:ext cx="2240393" cy="761523"/>
            <a:chOff x="1607742" y="61757"/>
            <a:chExt cx="2240393" cy="761523"/>
          </a:xfrm>
        </p:grpSpPr>
        <p:pic>
          <p:nvPicPr>
            <p:cNvPr id="12" name="图片 138" descr="电脑截图&#10;&#10;描述已自动生成"/>
            <p:cNvPicPr>
              <a:picLocks noChangeAspect="1"/>
            </p:cNvPicPr>
            <p:nvPr/>
          </p:nvPicPr>
          <p:blipFill rotWithShape="1">
            <a:blip r:embed="rId2"/>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3" name="文本框 139"/>
            <p:cNvSpPr txBox="1"/>
            <p:nvPr/>
          </p:nvSpPr>
          <p:spPr>
            <a:xfrm>
              <a:off x="1912132" y="119352"/>
              <a:ext cx="1553630"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Final </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Conclusion</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8" name="组合 140"/>
          <p:cNvGrpSpPr/>
          <p:nvPr/>
        </p:nvGrpSpPr>
        <p:grpSpPr>
          <a:xfrm>
            <a:off x="5169785" y="63686"/>
            <a:ext cx="2240393" cy="761523"/>
            <a:chOff x="1607742" y="61757"/>
            <a:chExt cx="2240393" cy="761523"/>
          </a:xfrm>
        </p:grpSpPr>
        <p:pic>
          <p:nvPicPr>
            <p:cNvPr id="9"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0" name="文本框 139"/>
            <p:cNvSpPr txBox="1"/>
            <p:nvPr/>
          </p:nvSpPr>
          <p:spPr>
            <a:xfrm>
              <a:off x="1912132" y="119352"/>
              <a:ext cx="1672253"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Technical</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Approaches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5" name="组合 140"/>
          <p:cNvGrpSpPr/>
          <p:nvPr/>
        </p:nvGrpSpPr>
        <p:grpSpPr>
          <a:xfrm>
            <a:off x="3422762" y="63686"/>
            <a:ext cx="2240393" cy="761523"/>
            <a:chOff x="1607742" y="61757"/>
            <a:chExt cx="2240393" cy="761523"/>
          </a:xfrm>
        </p:grpSpPr>
        <p:pic>
          <p:nvPicPr>
            <p:cNvPr id="6"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7" name="文本框 139"/>
            <p:cNvSpPr txBox="1"/>
            <p:nvPr/>
          </p:nvSpPr>
          <p:spPr>
            <a:xfrm>
              <a:off x="1912132" y="119352"/>
              <a:ext cx="130035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Data</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Available</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 name="组合 140"/>
          <p:cNvGrpSpPr/>
          <p:nvPr/>
        </p:nvGrpSpPr>
        <p:grpSpPr>
          <a:xfrm>
            <a:off x="1675739" y="64201"/>
            <a:ext cx="2240393" cy="761523"/>
            <a:chOff x="1607742" y="61757"/>
            <a:chExt cx="2240393" cy="761523"/>
          </a:xfrm>
        </p:grpSpPr>
        <p:pic>
          <p:nvPicPr>
            <p:cNvPr id="3"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4" name="文本框 139"/>
            <p:cNvSpPr txBox="1"/>
            <p:nvPr/>
          </p:nvSpPr>
          <p:spPr>
            <a:xfrm>
              <a:off x="1912132" y="119352"/>
              <a:ext cx="1107996"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Scopes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141" name="组合 140"/>
          <p:cNvGrpSpPr/>
          <p:nvPr/>
        </p:nvGrpSpPr>
        <p:grpSpPr>
          <a:xfrm>
            <a:off x="-71284" y="63686"/>
            <a:ext cx="2240393" cy="761523"/>
            <a:chOff x="1607742" y="61757"/>
            <a:chExt cx="2240393" cy="761523"/>
          </a:xfrm>
        </p:grpSpPr>
        <p:pic>
          <p:nvPicPr>
            <p:cNvPr id="139" name="图片 138" descr="电脑截图&#10;&#10;描述已自动生成"/>
            <p:cNvPicPr>
              <a:picLocks noChangeAspect="1"/>
            </p:cNvPicPr>
            <p:nvPr/>
          </p:nvPicPr>
          <p:blipFill rotWithShape="1">
            <a:blip r:embed="rId2">
              <a:duotone>
                <a:schemeClr val="bg2">
                  <a:shade val="45000"/>
                  <a:satMod val="135000"/>
                </a:schemeClr>
                <a:prstClr val="white"/>
              </a:duotone>
            </a:blip>
            <a:srcRect t="12573" b="30221"/>
            <a:stretch>
              <a:fillRect/>
            </a:stretch>
          </p:blipFill>
          <p:spPr>
            <a:xfrm>
              <a:off x="1607742" y="61757"/>
              <a:ext cx="2240393" cy="761523"/>
            </a:xfrm>
            <a:prstGeom prst="rect">
              <a:avLst/>
            </a:prstGeom>
            <a:effectLst>
              <a:outerShdw blurRad="50800" dist="38100" algn="l" rotWithShape="0">
                <a:prstClr val="black">
                  <a:alpha val="40000"/>
                </a:prstClr>
              </a:outerShdw>
            </a:effectLst>
          </p:spPr>
        </p:pic>
        <p:sp>
          <p:nvSpPr>
            <p:cNvPr id="140" name="文本框 139"/>
            <p:cNvSpPr txBox="1"/>
            <p:nvPr/>
          </p:nvSpPr>
          <p:spPr>
            <a:xfrm>
              <a:off x="1912132" y="119352"/>
              <a:ext cx="1487908" cy="646331"/>
            </a:xfrm>
            <a:prstGeom prst="rect">
              <a:avLst/>
            </a:prstGeom>
            <a:noFill/>
          </p:spPr>
          <p:txBody>
            <a:bodyPr wrap="none" rtlCol="0">
              <a:spAutoFit/>
            </a:bodyPr>
            <a:lstStyle/>
            <a:p>
              <a:r>
                <a:rPr kumimoji="1" lang="en-US" altLang="zh-SG" b="1" dirty="0">
                  <a:solidFill>
                    <a:schemeClr val="bg1"/>
                  </a:solidFill>
                  <a:latin typeface="Lantinghei SC Demibold" panose="02000000000000000000" pitchFamily="2" charset="-122"/>
                  <a:ea typeface="Lantinghei SC Demibold" panose="02000000000000000000" pitchFamily="2" charset="-122"/>
                </a:rPr>
                <a:t>Project</a:t>
              </a:r>
            </a:p>
            <a:p>
              <a:r>
                <a:rPr kumimoji="1" lang="en-US" altLang="zh-SG" b="1" dirty="0">
                  <a:solidFill>
                    <a:schemeClr val="bg1"/>
                  </a:solidFill>
                  <a:latin typeface="Lantinghei SC Demibold" panose="02000000000000000000" pitchFamily="2" charset="-122"/>
                  <a:ea typeface="Lantinghei SC Demibold" panose="02000000000000000000" pitchFamily="2" charset="-122"/>
                </a:rPr>
                <a:t>Objectives</a:t>
              </a:r>
              <a:endParaRPr kumimoji="1" lang="zh-SG" altLang="en-US" b="1" dirty="0">
                <a:solidFill>
                  <a:schemeClr val="bg1"/>
                </a:solidFill>
                <a:latin typeface="Lantinghei SC Demibold" panose="02000000000000000000" pitchFamily="2" charset="-122"/>
                <a:ea typeface="Lantinghei SC Demibold" panose="02000000000000000000" pitchFamily="2" charset="-122"/>
              </a:endParaRPr>
            </a:p>
          </p:txBody>
        </p:sp>
      </p:grpSp>
      <p:grpSp>
        <p:nvGrpSpPr>
          <p:cNvPr id="23" name="组合 22"/>
          <p:cNvGrpSpPr/>
          <p:nvPr/>
        </p:nvGrpSpPr>
        <p:grpSpPr>
          <a:xfrm>
            <a:off x="-5338" y="816353"/>
            <a:ext cx="10076425" cy="36000"/>
            <a:chOff x="0" y="640081"/>
            <a:chExt cx="10076425" cy="36000"/>
          </a:xfrm>
        </p:grpSpPr>
        <p:sp>
          <p:nvSpPr>
            <p:cNvPr id="21" name="矩形 20"/>
            <p:cNvSpPr/>
            <p:nvPr/>
          </p:nvSpPr>
          <p:spPr>
            <a:xfrm>
              <a:off x="0" y="640081"/>
              <a:ext cx="10004425" cy="36000"/>
            </a:xfrm>
            <a:prstGeom prst="rect">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sp>
          <p:nvSpPr>
            <p:cNvPr id="22" name="三角形 21"/>
            <p:cNvSpPr/>
            <p:nvPr/>
          </p:nvSpPr>
          <p:spPr>
            <a:xfrm>
              <a:off x="10004425" y="640081"/>
              <a:ext cx="72000" cy="36000"/>
            </a:xfrm>
            <a:prstGeom prst="triangle">
              <a:avLst>
                <a:gd name="adj" fmla="val 0"/>
              </a:avLst>
            </a:prstGeom>
            <a:solidFill>
              <a:srgbClr val="1364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grpSp>
      <p:grpSp>
        <p:nvGrpSpPr>
          <p:cNvPr id="16" name="Group 15"/>
          <p:cNvGrpSpPr/>
          <p:nvPr/>
        </p:nvGrpSpPr>
        <p:grpSpPr>
          <a:xfrm>
            <a:off x="9639635" y="-646"/>
            <a:ext cx="2801744" cy="639751"/>
            <a:chOff x="109411" y="4326"/>
            <a:chExt cx="2801744" cy="639751"/>
          </a:xfrm>
        </p:grpSpPr>
        <p:pic>
          <p:nvPicPr>
            <p:cNvPr id="17" name="Picture 16" descr="A blue and black logo&#10;&#10;AI-generated content may be incorrect."/>
            <p:cNvPicPr>
              <a:picLocks noChangeAspect="1"/>
            </p:cNvPicPr>
            <p:nvPr/>
          </p:nvPicPr>
          <p:blipFill>
            <a:blip r:embed="rId3"/>
            <a:stretch>
              <a:fillRect/>
            </a:stretch>
          </p:blipFill>
          <p:spPr>
            <a:xfrm>
              <a:off x="1411738" y="4326"/>
              <a:ext cx="1499417" cy="639751"/>
            </a:xfrm>
            <a:prstGeom prst="rect">
              <a:avLst/>
            </a:prstGeom>
          </p:spPr>
        </p:pic>
        <p:pic>
          <p:nvPicPr>
            <p:cNvPr id="18" name="Picture 17" descr="A blue and white logo with a black background&#10;&#10;AI-generated content may be incorrect."/>
            <p:cNvPicPr>
              <a:picLocks noChangeAspect="1"/>
            </p:cNvPicPr>
            <p:nvPr/>
          </p:nvPicPr>
          <p:blipFill>
            <a:blip r:embed="rId4"/>
            <a:stretch>
              <a:fillRect/>
            </a:stretch>
          </p:blipFill>
          <p:spPr>
            <a:xfrm>
              <a:off x="109411" y="102746"/>
              <a:ext cx="1211828" cy="513623"/>
            </a:xfrm>
            <a:prstGeom prst="rect">
              <a:avLst/>
            </a:prstGeom>
          </p:spPr>
        </p:pic>
        <p:cxnSp>
          <p:nvCxnSpPr>
            <p:cNvPr id="19" name="Straight Connector 18"/>
            <p:cNvCxnSpPr/>
            <p:nvPr/>
          </p:nvCxnSpPr>
          <p:spPr>
            <a:xfrm flipV="1">
              <a:off x="1365994" y="55416"/>
              <a:ext cx="0" cy="513623"/>
            </a:xfrm>
            <a:prstGeom prst="line">
              <a:avLst/>
            </a:prstGeom>
          </p:spPr>
          <p:style>
            <a:lnRef idx="2">
              <a:schemeClr val="accent1"/>
            </a:lnRef>
            <a:fillRef idx="0">
              <a:schemeClr val="accent1"/>
            </a:fillRef>
            <a:effectRef idx="1">
              <a:schemeClr val="accent1"/>
            </a:effectRef>
            <a:fontRef idx="minor">
              <a:schemeClr val="tx1"/>
            </a:fontRef>
          </p:style>
        </p:cxnSp>
      </p:grpSp>
      <p:sp>
        <p:nvSpPr>
          <p:cNvPr id="14" name="Text 13"/>
          <p:cNvSpPr/>
          <p:nvPr/>
        </p:nvSpPr>
        <p:spPr>
          <a:xfrm>
            <a:off x="1979930" y="1290955"/>
            <a:ext cx="7680960" cy="4314825"/>
          </a:xfrm>
          <a:prstGeom prst="rect">
            <a:avLst/>
          </a:prstGeom>
          <a:noFill/>
        </p:spPr>
        <p:txBody>
          <a:bodyPr wrap="square" lIns="0" tIns="0" rIns="0" bIns="0" rtlCol="0" anchor="ctr"/>
          <a:lstStyle/>
          <a:p>
            <a:pPr marL="0" indent="0">
              <a:buNone/>
            </a:pPr>
            <a:r>
              <a:rPr lang="en-US" sz="1600" dirty="0">
                <a:solidFill>
                  <a:srgbClr val="1A1A1A"/>
                </a:solidFill>
                <a:latin typeface="Arial" panose="020B0604020202020204" pitchFamily="34" charset="0"/>
                <a:ea typeface="Calibri" panose="020F0502020204030204" pitchFamily="34" charset="-122"/>
                <a:cs typeface="Arial" panose="020B0604020202020204" pitchFamily="34" charset="0"/>
                <a:sym typeface="+mn-ea"/>
              </a:rPr>
              <a:t>This project proposes a practical NLP-based fake news detection system combining BERT-based classification, topic modeling (LDA/BERTopic), and sentiment analysis. The BERT classifier is the core detection engine; topic and sentiment signals provide contextual enrichment to help users interpret predictions.</a:t>
            </a:r>
          </a:p>
          <a:p>
            <a:pPr marL="0" indent="0">
              <a:buNone/>
            </a:pPr>
            <a:endParaRPr lang="en-US" sz="1600" dirty="0">
              <a:solidFill>
                <a:srgbClr val="1A1A1A"/>
              </a:solidFill>
              <a:latin typeface="Arial" panose="020B0604020202020204" pitchFamily="34" charset="0"/>
              <a:ea typeface="Calibri" panose="020F0502020204030204" pitchFamily="34" charset="-122"/>
              <a:cs typeface="Arial" panose="020B0604020202020204" pitchFamily="34" charset="0"/>
            </a:endParaRPr>
          </a:p>
          <a:p>
            <a:pPr marL="0" indent="0">
              <a:buNone/>
            </a:pPr>
            <a:r>
              <a:rPr lang="en-US" sz="1600" dirty="0">
                <a:solidFill>
                  <a:srgbClr val="1A1A1A"/>
                </a:solidFill>
                <a:latin typeface="Arial" panose="020B0604020202020204" pitchFamily="34" charset="0"/>
                <a:ea typeface="Calibri" panose="020F0502020204030204" pitchFamily="34" charset="-122"/>
                <a:cs typeface="Arial" panose="020B0604020202020204" pitchFamily="34" charset="0"/>
                <a:sym typeface="+mn-ea"/>
              </a:rPr>
              <a:t>A hybrid dataset strategy — Kaggle benchmark (20,000+ articles) supplemented by self-collected fact-checked samples from Snopes and PolitiFact — ensures training quality, diversity, and realistic evaluation. Performance is assessed by F1-score, precision, recall, accuracy, and qualitative error analysis on edge cases (satire, ambiguous language).</a:t>
            </a:r>
            <a:endParaRPr lang="en-US" sz="1600" dirty="0">
              <a:latin typeface="Arial" panose="020B0604020202020204" pitchFamily="34" charset="0"/>
              <a:cs typeface="Arial" panose="020B0604020202020204" pitchFamily="34" charset="0"/>
            </a:endParaRPr>
          </a:p>
          <a:p>
            <a:pPr marL="0" indent="0">
              <a:buNone/>
            </a:pPr>
            <a:endParaRPr lang="en-US" sz="1600" dirty="0">
              <a:solidFill>
                <a:srgbClr val="1A1A1A"/>
              </a:solidFill>
              <a:latin typeface="Arial" panose="020B0604020202020204" pitchFamily="34" charset="0"/>
              <a:ea typeface="Calibri" panose="020F0502020204030204" pitchFamily="34" charset="-122"/>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uilding with a lawn and a lawn&#10;&#10;AI-generated content may be incorrect."/>
          <p:cNvPicPr>
            <a:picLocks noChangeAspect="1"/>
          </p:cNvPicPr>
          <p:nvPr/>
        </p:nvPicPr>
        <p:blipFill>
          <a:blip r:embed="rId2"/>
          <a:srcRect l="45129"/>
          <a:stretch>
            <a:fillRect/>
          </a:stretch>
        </p:blipFill>
        <p:spPr>
          <a:xfrm>
            <a:off x="-1" y="0"/>
            <a:ext cx="7526155" cy="6858000"/>
          </a:xfrm>
          <a:prstGeom prst="rect">
            <a:avLst/>
          </a:prstGeom>
        </p:spPr>
      </p:pic>
      <p:sp>
        <p:nvSpPr>
          <p:cNvPr id="14" name="椭圆 13"/>
          <p:cNvSpPr/>
          <p:nvPr/>
        </p:nvSpPr>
        <p:spPr>
          <a:xfrm>
            <a:off x="4169514" y="-1577564"/>
            <a:ext cx="10671859" cy="9448097"/>
          </a:xfrm>
          <a:prstGeom prst="ellipse">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dirty="0"/>
          </a:p>
        </p:txBody>
      </p:sp>
      <p:sp>
        <p:nvSpPr>
          <p:cNvPr id="13" name="椭圆 12"/>
          <p:cNvSpPr/>
          <p:nvPr/>
        </p:nvSpPr>
        <p:spPr>
          <a:xfrm>
            <a:off x="4774636" y="-1984607"/>
            <a:ext cx="10671859" cy="9448097"/>
          </a:xfrm>
          <a:prstGeom prst="ellipse">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grpSp>
        <p:nvGrpSpPr>
          <p:cNvPr id="15" name="Group 14"/>
          <p:cNvGrpSpPr/>
          <p:nvPr/>
        </p:nvGrpSpPr>
        <p:grpSpPr>
          <a:xfrm>
            <a:off x="9639635" y="-646"/>
            <a:ext cx="2801744" cy="639751"/>
            <a:chOff x="109411" y="4326"/>
            <a:chExt cx="2801744" cy="639751"/>
          </a:xfrm>
          <a:effectLst>
            <a:glow rad="63500">
              <a:schemeClr val="bg1">
                <a:alpha val="70000"/>
              </a:schemeClr>
            </a:glow>
          </a:effectLst>
        </p:grpSpPr>
        <p:pic>
          <p:nvPicPr>
            <p:cNvPr id="8" name="Picture 7" descr="A blue and black logo&#10;&#10;AI-generated content may be incorrect."/>
            <p:cNvPicPr>
              <a:picLocks noChangeAspect="1"/>
            </p:cNvPicPr>
            <p:nvPr/>
          </p:nvPicPr>
          <p:blipFill>
            <a:blip r:embed="rId3"/>
            <a:stretch>
              <a:fillRect/>
            </a:stretch>
          </p:blipFill>
          <p:spPr>
            <a:xfrm>
              <a:off x="1411738" y="4326"/>
              <a:ext cx="1499417" cy="639751"/>
            </a:xfrm>
            <a:prstGeom prst="rect">
              <a:avLst/>
            </a:prstGeom>
          </p:spPr>
        </p:pic>
        <p:pic>
          <p:nvPicPr>
            <p:cNvPr id="10" name="Picture 9" descr="A blue and white logo with a black background&#10;&#10;AI-generated content may be incorrect."/>
            <p:cNvPicPr>
              <a:picLocks noChangeAspect="1"/>
            </p:cNvPicPr>
            <p:nvPr/>
          </p:nvPicPr>
          <p:blipFill>
            <a:blip r:embed="rId4"/>
            <a:stretch>
              <a:fillRect/>
            </a:stretch>
          </p:blipFill>
          <p:spPr>
            <a:xfrm>
              <a:off x="109411" y="102746"/>
              <a:ext cx="1211828" cy="513623"/>
            </a:xfrm>
            <a:prstGeom prst="rect">
              <a:avLst/>
            </a:prstGeom>
          </p:spPr>
        </p:pic>
        <p:cxnSp>
          <p:nvCxnSpPr>
            <p:cNvPr id="12" name="Straight Connector 11"/>
            <p:cNvCxnSpPr/>
            <p:nvPr/>
          </p:nvCxnSpPr>
          <p:spPr>
            <a:xfrm flipV="1">
              <a:off x="1365994" y="55416"/>
              <a:ext cx="0" cy="513623"/>
            </a:xfrm>
            <a:prstGeom prst="line">
              <a:avLst/>
            </a:prstGeom>
          </p:spPr>
          <p:style>
            <a:lnRef idx="2">
              <a:schemeClr val="accent1"/>
            </a:lnRef>
            <a:fillRef idx="0">
              <a:schemeClr val="accent1"/>
            </a:fillRef>
            <a:effectRef idx="1">
              <a:schemeClr val="accent1"/>
            </a:effectRef>
            <a:fontRef idx="minor">
              <a:schemeClr val="tx1"/>
            </a:fontRef>
          </p:style>
        </p:cxnSp>
      </p:grpSp>
      <p:sp>
        <p:nvSpPr>
          <p:cNvPr id="16" name="标题 1"/>
          <p:cNvSpPr txBox="1"/>
          <p:nvPr/>
        </p:nvSpPr>
        <p:spPr>
          <a:xfrm>
            <a:off x="5991085" y="1647930"/>
            <a:ext cx="5997709" cy="358005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kumimoji="1" lang="en-US" altLang="zh-SG" sz="2800" b="1" dirty="0">
                <a:solidFill>
                  <a:schemeClr val="bg1"/>
                </a:solidFill>
                <a:sym typeface="+mn-ea"/>
              </a:rPr>
              <a:t>Q &amp; A</a:t>
            </a:r>
          </a:p>
          <a:p>
            <a:pPr algn="l"/>
            <a:endParaRPr kumimoji="1" lang="en-US" altLang="zh-SG" sz="2800" b="1" dirty="0">
              <a:solidFill>
                <a:schemeClr val="bg1"/>
              </a:solidFill>
              <a:sym typeface="+mn-ea"/>
            </a:endParaRPr>
          </a:p>
          <a:p>
            <a:pPr algn="l"/>
            <a:endParaRPr kumimoji="1" lang="en-US" altLang="zh-SG" sz="2800" b="1" dirty="0">
              <a:solidFill>
                <a:schemeClr val="bg1"/>
              </a:solidFill>
              <a:sym typeface="+mn-ea"/>
            </a:endParaRPr>
          </a:p>
          <a:p>
            <a:pPr algn="l"/>
            <a:endParaRPr kumimoji="1" lang="en-US" altLang="zh-SG" sz="2800" b="1" dirty="0">
              <a:solidFill>
                <a:schemeClr val="bg1"/>
              </a:solidFill>
              <a:sym typeface="+mn-ea"/>
            </a:endParaRPr>
          </a:p>
          <a:p>
            <a:pPr algn="l"/>
            <a:endParaRPr kumimoji="1" lang="en-US" altLang="zh-SG" sz="2800" b="1" dirty="0">
              <a:solidFill>
                <a:schemeClr val="bg1"/>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uilding with a lawn and a lawn&#10;&#10;AI-generated content may be incorrect."/>
          <p:cNvPicPr>
            <a:picLocks noChangeAspect="1"/>
          </p:cNvPicPr>
          <p:nvPr/>
        </p:nvPicPr>
        <p:blipFill>
          <a:blip r:embed="rId2"/>
          <a:srcRect l="45129"/>
          <a:stretch>
            <a:fillRect/>
          </a:stretch>
        </p:blipFill>
        <p:spPr>
          <a:xfrm>
            <a:off x="-1" y="0"/>
            <a:ext cx="7526155" cy="6858000"/>
          </a:xfrm>
          <a:prstGeom prst="rect">
            <a:avLst/>
          </a:prstGeom>
        </p:spPr>
      </p:pic>
      <p:sp>
        <p:nvSpPr>
          <p:cNvPr id="14" name="椭圆 13"/>
          <p:cNvSpPr/>
          <p:nvPr/>
        </p:nvSpPr>
        <p:spPr>
          <a:xfrm>
            <a:off x="4169514" y="-1577564"/>
            <a:ext cx="10671859" cy="9448097"/>
          </a:xfrm>
          <a:prstGeom prst="ellipse">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dirty="0"/>
          </a:p>
        </p:txBody>
      </p:sp>
      <p:sp>
        <p:nvSpPr>
          <p:cNvPr id="13" name="椭圆 12"/>
          <p:cNvSpPr/>
          <p:nvPr/>
        </p:nvSpPr>
        <p:spPr>
          <a:xfrm>
            <a:off x="4774636" y="-1984607"/>
            <a:ext cx="10671859" cy="9448097"/>
          </a:xfrm>
          <a:prstGeom prst="ellipse">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a:p>
        </p:txBody>
      </p:sp>
      <p:grpSp>
        <p:nvGrpSpPr>
          <p:cNvPr id="15" name="Group 14"/>
          <p:cNvGrpSpPr/>
          <p:nvPr/>
        </p:nvGrpSpPr>
        <p:grpSpPr>
          <a:xfrm>
            <a:off x="9639635" y="-646"/>
            <a:ext cx="2801744" cy="639751"/>
            <a:chOff x="109411" y="4326"/>
            <a:chExt cx="2801744" cy="639751"/>
          </a:xfrm>
          <a:effectLst>
            <a:glow rad="63500">
              <a:schemeClr val="bg1">
                <a:alpha val="70000"/>
              </a:schemeClr>
            </a:glow>
          </a:effectLst>
        </p:grpSpPr>
        <p:pic>
          <p:nvPicPr>
            <p:cNvPr id="8" name="Picture 7" descr="A blue and black logo&#10;&#10;AI-generated content may be incorrect."/>
            <p:cNvPicPr>
              <a:picLocks noChangeAspect="1"/>
            </p:cNvPicPr>
            <p:nvPr/>
          </p:nvPicPr>
          <p:blipFill>
            <a:blip r:embed="rId3"/>
            <a:stretch>
              <a:fillRect/>
            </a:stretch>
          </p:blipFill>
          <p:spPr>
            <a:xfrm>
              <a:off x="1411738" y="4326"/>
              <a:ext cx="1499417" cy="639751"/>
            </a:xfrm>
            <a:prstGeom prst="rect">
              <a:avLst/>
            </a:prstGeom>
          </p:spPr>
        </p:pic>
        <p:pic>
          <p:nvPicPr>
            <p:cNvPr id="10" name="Picture 9" descr="A blue and white logo with a black background&#10;&#10;AI-generated content may be incorrect."/>
            <p:cNvPicPr>
              <a:picLocks noChangeAspect="1"/>
            </p:cNvPicPr>
            <p:nvPr/>
          </p:nvPicPr>
          <p:blipFill>
            <a:blip r:embed="rId4"/>
            <a:stretch>
              <a:fillRect/>
            </a:stretch>
          </p:blipFill>
          <p:spPr>
            <a:xfrm>
              <a:off x="109411" y="102746"/>
              <a:ext cx="1211828" cy="513623"/>
            </a:xfrm>
            <a:prstGeom prst="rect">
              <a:avLst/>
            </a:prstGeom>
          </p:spPr>
        </p:pic>
        <p:cxnSp>
          <p:nvCxnSpPr>
            <p:cNvPr id="12" name="Straight Connector 11"/>
            <p:cNvCxnSpPr/>
            <p:nvPr/>
          </p:nvCxnSpPr>
          <p:spPr>
            <a:xfrm flipV="1">
              <a:off x="1365994" y="55416"/>
              <a:ext cx="0" cy="513623"/>
            </a:xfrm>
            <a:prstGeom prst="line">
              <a:avLst/>
            </a:prstGeom>
          </p:spPr>
          <p:style>
            <a:lnRef idx="2">
              <a:schemeClr val="accent1"/>
            </a:lnRef>
            <a:fillRef idx="0">
              <a:schemeClr val="accent1"/>
            </a:fillRef>
            <a:effectRef idx="1">
              <a:schemeClr val="accent1"/>
            </a:effectRef>
            <a:fontRef idx="minor">
              <a:schemeClr val="tx1"/>
            </a:fontRef>
          </p:style>
        </p:cxnSp>
      </p:grpSp>
      <p:sp>
        <p:nvSpPr>
          <p:cNvPr id="16" name="标题 1"/>
          <p:cNvSpPr txBox="1"/>
          <p:nvPr/>
        </p:nvSpPr>
        <p:spPr>
          <a:xfrm>
            <a:off x="5991085" y="1647930"/>
            <a:ext cx="5997709" cy="358005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kumimoji="1" lang="en-US" altLang="zh-SG" sz="2800" b="1" dirty="0">
                <a:solidFill>
                  <a:schemeClr val="bg1"/>
                </a:solidFill>
                <a:sym typeface="+mn-ea"/>
              </a:rPr>
              <a:t>Thank you! </a:t>
            </a:r>
          </a:p>
          <a:p>
            <a:pPr algn="l"/>
            <a:endParaRPr kumimoji="1" lang="en-US" altLang="zh-SG" sz="2800" b="1" dirty="0">
              <a:solidFill>
                <a:schemeClr val="bg1"/>
              </a:solidFill>
              <a:sym typeface="+mn-ea"/>
            </a:endParaRPr>
          </a:p>
          <a:p>
            <a:pPr algn="l"/>
            <a:endParaRPr kumimoji="1" lang="en-US" altLang="zh-SG" sz="2800" b="1" dirty="0">
              <a:solidFill>
                <a:schemeClr val="bg1"/>
              </a:solidFill>
              <a:sym typeface="+mn-ea"/>
            </a:endParaRPr>
          </a:p>
          <a:p>
            <a:pPr algn="l"/>
            <a:endParaRPr kumimoji="1" lang="en-US" altLang="zh-SG" sz="2800" b="1" dirty="0">
              <a:solidFill>
                <a:schemeClr val="bg1"/>
              </a:solidFill>
              <a:sym typeface="+mn-ea"/>
            </a:endParaRPr>
          </a:p>
          <a:p>
            <a:pPr algn="l"/>
            <a:endParaRPr kumimoji="1" lang="en-US" altLang="zh-SG" sz="2800" b="1" dirty="0">
              <a:solidFill>
                <a:schemeClr val="bg1"/>
              </a:solidFill>
              <a:sym typeface="+mn-ea"/>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62.08,&quot;left&quot;:36,&quot;top&quot;:115.2,&quot;width&quot;:649.4399999999999}"/>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37.95,&quot;left&quot;:58.7,&quot;top&quot;:149.55,&quot;width&quot;:839.7}"/>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63.26687043640686,&quot;left&quot;:57.1,&quot;top&quot;:108.8455680081508,&quot;width&quot;:805.7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1076</Words>
  <Application>Microsoft Macintosh PowerPoint</Application>
  <PresentationFormat>Widescreen</PresentationFormat>
  <Paragraphs>212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Lantinghei SC Demibold</vt:lpstr>
      <vt:lpstr>Aptos</vt:lpstr>
      <vt:lpstr>Aptos Display</vt:lpstr>
      <vt:lpstr>Arial</vt:lpstr>
      <vt:lpstr>Calibri</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Yuxuan</dc:creator>
  <cp:lastModifiedBy>Zhang Yuxuan</cp:lastModifiedBy>
  <cp:revision>360</cp:revision>
  <dcterms:created xsi:type="dcterms:W3CDTF">2024-05-27T14:10:00Z</dcterms:created>
  <dcterms:modified xsi:type="dcterms:W3CDTF">2026-03-09T13:00:41Z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9BB32F97A1584876995325F3B4D7BEFF_13</vt:lpwstr>
  </property>
  <property fmtid="{D5CDD505-2E9C-101B-9397-08002B2CF9AE}" pid="3" name="KSOProductBuildVer">
    <vt:lpwstr>2052-12.1.0.25225</vt:lpwstr>
  </property>
</Properties>
</file>