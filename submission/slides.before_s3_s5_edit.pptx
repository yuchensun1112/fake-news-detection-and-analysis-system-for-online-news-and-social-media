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1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3427095" y="891540"/>
            <a:ext cx="8764270" cy="4990465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B35">
              <a:alpha val="88000"/>
            </a:srgbClr>
          </a:solidFill>
          <a:ln w="12700">
            <a:solidFill>
              <a:srgbClr val="001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1"/>
          <p:cNvSpPr/>
          <p:nvPr/>
        </p:nvSpPr>
        <p:spPr>
          <a:xfrm>
            <a:off x="545338" y="2658110"/>
            <a:ext cx="7805448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b="1" u="sng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FACT-BASED NEWS VERIFICATION SYSTEM</a:t>
            </a:r>
          </a:p>
          <a:p>
            <a:r>
              <a:rPr lang="en-US" sz="36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Hybrid System with BERT Classification, </a:t>
            </a:r>
            <a:r>
              <a:rPr lang="en-US" sz="3600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GNews</a:t>
            </a:r>
            <a:r>
              <a:rPr lang="en-US" sz="36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Evidence Retrieval, and</a:t>
            </a:r>
          </a:p>
          <a:p>
            <a:r>
              <a:rPr lang="en-US" sz="36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Fine-tuned NLI Verification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5504688"/>
            <a:ext cx="42062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Group1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 Yuchen         A0326248B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Jiahui         A0329852U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 Yuxuan     A0285664N</a:t>
            </a:r>
          </a:p>
        </p:txBody>
      </p:sp>
      <p:sp>
        <p:nvSpPr>
          <p:cNvPr id="10" name="Text 7"/>
          <p:cNvSpPr/>
          <p:nvPr/>
        </p:nvSpPr>
        <p:spPr>
          <a:xfrm>
            <a:off x="11384280" y="6519672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B7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9751324" cy="4770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 lang="en-US" sz="2500" b="1" dirty="0"/>
              <a:t>Agenda: From Problem Context to Evidence-based Verification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158191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7335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6362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Background &amp;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856232"/>
            <a:ext cx="2828018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Why fast, transparent news verification is needed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46520" y="158191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67335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563624"/>
            <a:ext cx="3296095" cy="2923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 lang="en-US" sz="1300" b="1" dirty="0"/>
              <a:t>Business Problem, Objectives &amp; Scope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040879" y="1856232"/>
            <a:ext cx="3664786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Why fake/real labels are insufficient, and what the system covers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85800" y="246888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263347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272491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15184"/>
            <a:ext cx="2573140" cy="2923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 lang="en-US" sz="1300" b="1" dirty="0"/>
              <a:t>Data and Evidence Resources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463040" y="2907792"/>
            <a:ext cx="3801041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 err="1"/>
              <a:t>FakeNewsNet</a:t>
            </a:r>
            <a:r>
              <a:rPr lang="en-US" sz="950" dirty="0"/>
              <a:t>-style data, factual-consistency NLI data, and </a:t>
            </a:r>
            <a:r>
              <a:rPr lang="en-US" sz="950" dirty="0" err="1"/>
              <a:t>GNews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263640" y="246888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6520" y="263347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272491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61518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Solution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2907792"/>
            <a:ext cx="3316934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BERT prior + </a:t>
            </a:r>
            <a:r>
              <a:rPr lang="en-US" sz="950" dirty="0" err="1"/>
              <a:t>GNews</a:t>
            </a:r>
            <a:r>
              <a:rPr lang="en-US" sz="950" dirty="0"/>
              <a:t> retrieval + </a:t>
            </a:r>
            <a:r>
              <a:rPr lang="en-US" sz="950" dirty="0" err="1"/>
              <a:t>DeBERTa</a:t>
            </a:r>
            <a:r>
              <a:rPr lang="en-US" sz="950" dirty="0"/>
              <a:t>-NLI verification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85800" y="3520439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" y="3685031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" y="377647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666744"/>
            <a:ext cx="2445157" cy="2923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 lang="en-US" sz="1300" b="1" dirty="0"/>
              <a:t>Implementation Architecture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1463040" y="3959352"/>
            <a:ext cx="3980577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Runtime workflow, modules, aggregation, sentiment, topic, and chat UI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6263640" y="3520439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46520" y="3685031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377647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366674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79" y="3959352"/>
            <a:ext cx="3280065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BERT baseline, NLI fine-tuning, and metric improvements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685800" y="457200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68680" y="4736592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482803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718304"/>
            <a:ext cx="3044680" cy="2923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 lang="en-US" sz="1300" b="1" dirty="0"/>
              <a:t>Demo / Case Study &amp; Error Analysis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463040" y="5010912"/>
            <a:ext cx="3179075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Sentence-level evidence trail and realistic failure modes</a:t>
            </a: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6263640" y="457200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446520" y="4736592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55664" y="482803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471830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Future Work &amp; Conclusion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79" y="5010912"/>
            <a:ext cx="2746265" cy="238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rPr lang="en-US" sz="950" dirty="0"/>
              <a:t>Retrieval, data, aggregation, and final takeaway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Background &amp; Motivation: Why News Verification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466090" y="1122680"/>
            <a:ext cx="6583680" cy="1078865"/>
            <a:chOff x="734" y="1944"/>
            <a:chExt cx="10368" cy="1699"/>
          </a:xfrm>
        </p:grpSpPr>
        <p:sp>
          <p:nvSpPr>
            <p:cNvPr id="10" name="TextBox 9"/>
            <p:cNvSpPr txBox="1"/>
            <p:nvPr/>
          </p:nvSpPr>
          <p:spPr>
            <a:xfrm>
              <a:off x="734" y="1944"/>
              <a:ext cx="10368" cy="6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>
                <a:defRPr sz="2400" b="1" i="0">
                  <a:solidFill>
                    <a:srgbClr val="052646"/>
                  </a:solidFill>
                  <a:latin typeface="Arial" panose="020B0604020202020204"/>
                </a:defRPr>
              </a:pPr>
              <a:r>
                <a:t>Online news moves faster than manual fact-checking.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4" y="2707"/>
              <a:ext cx="10224" cy="936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>
                <a:defRPr sz="1600" b="0" i="0">
                  <a:solidFill>
                    <a:srgbClr val="5B6979"/>
                  </a:solidFill>
                  <a:latin typeface="Arial" panose="020B0604020202020204"/>
                </a:defRPr>
              </a:pPr>
              <a:r>
                <a:t>Readers often see claims that look professional, neutral, and credible — but may still be unsupported, outdated, or false.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8004810" y="1972310"/>
            <a:ext cx="3013710" cy="38430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430" y="1734185"/>
            <a:ext cx="2185035" cy="24066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1600" b="1" i="0">
                <a:solidFill>
                  <a:srgbClr val="052646"/>
                </a:solidFill>
                <a:latin typeface="Arial" panose="020B0604020202020204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55635" y="234442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4535" y="243014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Real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635" y="3002915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4535" y="308864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Unsupported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5635" y="366141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4535" y="374713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Misleading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635" y="431927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4535" y="440563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7848DC"/>
                </a:solidFill>
                <a:latin typeface="Arial" panose="020B0604020202020204"/>
              </a:defRPr>
            </a:pPr>
            <a:r>
              <a:t>Outdated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80360"/>
            <a:ext cx="269748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880360"/>
            <a:ext cx="269748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308152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Speed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590" y="3520440"/>
            <a:ext cx="23355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News spreads immediately; verification takes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2880360"/>
            <a:ext cx="269748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703320" y="2880360"/>
            <a:ext cx="269748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0" y="308152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Trust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0310" y="3520440"/>
            <a:ext cx="25133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Readers need visible evidence, not only model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17720"/>
            <a:ext cx="269748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4617720"/>
            <a:ext cx="269748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481888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AI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735" y="5257800"/>
            <a:ext cx="25723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Generated or rewritten content makes surface style less reliable.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4617720"/>
            <a:ext cx="269748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703320" y="4617720"/>
            <a:ext cx="2697480" cy="54864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81888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Mixed truth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0820" y="5257800"/>
            <a:ext cx="224282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One article may combine supported and unsupported statements.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5952490"/>
            <a:ext cx="3657600" cy="393192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8120" y="6053074"/>
            <a:ext cx="320040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Need: a transparent first-pass verification assistant.</a:t>
            </a:r>
          </a:p>
        </p:txBody>
      </p:sp>
      <p:sp>
        <p:nvSpPr>
          <p:cNvPr id="44" name="Rounded Rectangle 11"/>
          <p:cNvSpPr/>
          <p:nvPr/>
        </p:nvSpPr>
        <p:spPr>
          <a:xfrm>
            <a:off x="8004810" y="1974850"/>
            <a:ext cx="3013710" cy="38430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3"/>
          <p:cNvSpPr/>
          <p:nvPr/>
        </p:nvSpPr>
        <p:spPr>
          <a:xfrm>
            <a:off x="8377555" y="299720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4"/>
          <p:cNvSpPr txBox="1"/>
          <p:nvPr/>
        </p:nvSpPr>
        <p:spPr>
          <a:xfrm>
            <a:off x="8466455" y="308292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Real report</a:t>
            </a:r>
          </a:p>
        </p:txBody>
      </p:sp>
      <p:sp>
        <p:nvSpPr>
          <p:cNvPr id="47" name="Rounded Rectangle 15"/>
          <p:cNvSpPr/>
          <p:nvPr/>
        </p:nvSpPr>
        <p:spPr>
          <a:xfrm>
            <a:off x="8377555" y="3655695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6"/>
          <p:cNvSpPr txBox="1"/>
          <p:nvPr/>
        </p:nvSpPr>
        <p:spPr>
          <a:xfrm>
            <a:off x="8466455" y="374142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Unsupported claim</a:t>
            </a:r>
          </a:p>
        </p:txBody>
      </p:sp>
      <p:sp>
        <p:nvSpPr>
          <p:cNvPr id="49" name="Rounded Rectangle 17"/>
          <p:cNvSpPr/>
          <p:nvPr/>
        </p:nvSpPr>
        <p:spPr>
          <a:xfrm>
            <a:off x="8377555" y="431419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8"/>
          <p:cNvSpPr txBox="1"/>
          <p:nvPr/>
        </p:nvSpPr>
        <p:spPr>
          <a:xfrm>
            <a:off x="8466455" y="439991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Misleading context</a:t>
            </a:r>
          </a:p>
        </p:txBody>
      </p:sp>
      <p:sp>
        <p:nvSpPr>
          <p:cNvPr id="51" name="Rounded Rectangle 19"/>
          <p:cNvSpPr/>
          <p:nvPr/>
        </p:nvSpPr>
        <p:spPr>
          <a:xfrm>
            <a:off x="8377555" y="497205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0"/>
          <p:cNvSpPr txBox="1"/>
          <p:nvPr/>
        </p:nvSpPr>
        <p:spPr>
          <a:xfrm>
            <a:off x="8466455" y="505841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7848DC"/>
                </a:solidFill>
                <a:latin typeface="Arial" panose="020B0604020202020204"/>
              </a:defRPr>
            </a:pPr>
            <a:r>
              <a:t>Outdated evidence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410960" y="236029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16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>
                <a:sym typeface="+mn-ea"/>
              </a:rPr>
              <a:t>NEWS OVERLOAD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Business Problem: Why Binary Fake/Real Classification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37920"/>
            <a:ext cx="1051687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 high-accuracy classifier can still fail in real use because it gives a document-level label without checking evidence.</a:t>
            </a: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685800" y="1965960"/>
            <a:ext cx="3246120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685800" y="1965960"/>
            <a:ext cx="324612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371600" y="216712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NO EXPLAINABILITY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931545" y="2606040"/>
            <a:ext cx="28632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9"/>
                </a:solidFill>
                <a:latin typeface="Arial" panose="020B0604020202020204"/>
              </a:defRPr>
            </a:pPr>
            <a:r>
              <a:t>A fake/real score cannot pinpoint which sentence or claim is false.</a:t>
            </a: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4480560" y="1965960"/>
            <a:ext cx="3246120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4480560" y="1965960"/>
            <a:ext cx="324612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4922520" y="216712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SOURCE &amp; TOPIC BIAS</a:t>
            </a: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4627880" y="2606040"/>
            <a:ext cx="29616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9"/>
                </a:solidFill>
                <a:latin typeface="Arial" panose="020B0604020202020204"/>
              </a:defRPr>
            </a:pPr>
            <a:r>
              <a:t>Models may learn source reputation, topic patterns, or writing style shortcuts.</a:t>
            </a:r>
          </a:p>
        </p:txBody>
      </p:sp>
      <p:sp>
        <p:nvSpPr>
          <p:cNvPr id="21" name="Rounded Rectangle 20"/>
          <p:cNvSpPr/>
          <p:nvPr>
            <p:custDataLst>
              <p:tags r:id="rId9"/>
            </p:custDataLst>
          </p:nvPr>
        </p:nvSpPr>
        <p:spPr>
          <a:xfrm>
            <a:off x="8275320" y="1965960"/>
            <a:ext cx="3246120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>
            <p:custDataLst>
              <p:tags r:id="rId10"/>
            </p:custDataLst>
          </p:nvPr>
        </p:nvSpPr>
        <p:spPr>
          <a:xfrm>
            <a:off x="8275320" y="1965960"/>
            <a:ext cx="324612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>
            <p:custDataLst>
              <p:tags r:id="rId11"/>
            </p:custDataLst>
          </p:nvPr>
        </p:nvSpPr>
        <p:spPr>
          <a:xfrm>
            <a:off x="8737600" y="216712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MIXED-TRUTH ARTICLES</a:t>
            </a:r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8476615" y="2633980"/>
            <a:ext cx="28803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9"/>
                </a:solidFill>
                <a:latin typeface="Arial" panose="020B0604020202020204"/>
              </a:defRPr>
            </a:pPr>
            <a:r>
              <a:t>Real articles often blend verified facts with outdated or unsupported claims.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10835640" cy="658368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75504"/>
            <a:ext cx="10332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Business need: verify sentence-level factual statements with retrievable external evidence, not only classify the whole article.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Business Value: Transparent First-pass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51623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system is not a replacement for professional fact-checking. It is a fast assistant that helps users inspect evidence before trusting or sharing news.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242316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Check news used in assignments or discussions.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20440" y="1965960"/>
            <a:ext cx="242316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2160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Journalists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Quickly inspect claims before deeper investigation.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965960"/>
            <a:ext cx="242316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Researchers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Explore misinformation cases and evidence trails.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20" y="1965960"/>
            <a:ext cx="242316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9088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General readers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See why an article is likely true, false, or unverified.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0520"/>
            <a:ext cx="3063240" cy="11430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407408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Sentence-level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73168"/>
            <a:ext cx="26974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Users can inspect specific claims, not only final labels.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160520"/>
            <a:ext cx="3063240" cy="11430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600" y="4407408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Traceable 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773168"/>
            <a:ext cx="26974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Evidence includes source, date, URL, and snippet.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4160520"/>
            <a:ext cx="3063240" cy="11430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19" y="4407408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Explainable verdict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773168"/>
            <a:ext cx="26974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Supported, Refuted, and NEI labels are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Proposed Solution: Evidence-based Verification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Move from style-based fake/real classification to evidence-backed sentence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Article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user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claim-like pieces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095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External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GNews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7123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NLI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support / refute / NEI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1151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Final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likely true / false / unverified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40480"/>
            <a:ext cx="329184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" y="3840480"/>
            <a:ext cx="329184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4041648"/>
            <a:ext cx="288950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Core design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480560"/>
            <a:ext cx="28895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BERT provides a fast article-level prior only.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840480"/>
            <a:ext cx="329184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34840" y="3840480"/>
            <a:ext cx="329184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36007" y="4041648"/>
            <a:ext cx="288950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Core design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4480560"/>
            <a:ext cx="28895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GNews connects the system to live external evidence.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840480"/>
            <a:ext cx="329184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46720" y="3840480"/>
            <a:ext cx="329184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7888" y="4041648"/>
            <a:ext cx="288950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Core design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480560"/>
            <a:ext cx="28895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NLI performs semantic evidence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System Overview: High-level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72184" y="1938528"/>
            <a:ext cx="749808" cy="749808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17904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Input &amp;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290" y="3383280"/>
            <a:ext cx="200406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User submits a news article; the system removes URLs and normalizes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25112" y="1938528"/>
            <a:ext cx="749808" cy="749808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0832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6650" y="3401695"/>
            <a:ext cx="220345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Each sentence is used to query GNews and collect evidence candidates.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656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78040" y="1938528"/>
            <a:ext cx="749808" cy="749808"/>
          </a:xfrm>
          <a:prstGeom prst="ellipse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383280"/>
            <a:ext cx="1979295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DeBERTa-NLI compares evidence with each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4584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030967" y="1938528"/>
            <a:ext cx="749808" cy="749808"/>
          </a:xfrm>
          <a:prstGeom prst="ellipse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76688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455" y="3383280"/>
            <a:ext cx="205232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final verdict is shown with sentence labels, evidence, sentiment, topics, and chat UI.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86400"/>
            <a:ext cx="10835640" cy="50292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650992"/>
            <a:ext cx="104241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Storyline: verify claims with evidence first, then aggregate sentence-level results into an explainable article-level verdict.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564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Architecture: From Article Input to Evidence-backed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64" name="Rounded Rectangle 9"/>
          <p:cNvSpPr/>
          <p:nvPr/>
        </p:nvSpPr>
        <p:spPr>
          <a:xfrm>
            <a:off x="8209280" y="923290"/>
            <a:ext cx="3677920" cy="5324475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文本框 62"/>
          <p:cNvSpPr txBox="1"/>
          <p:nvPr/>
        </p:nvSpPr>
        <p:spPr>
          <a:xfrm>
            <a:off x="8383905" y="1348105"/>
            <a:ext cx="320611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The system separates training and inference.</a:t>
            </a:r>
          </a:p>
          <a:p>
            <a:endParaRPr lang="en-US" altLang="zh-CN"/>
          </a:p>
          <a:p>
            <a:r>
              <a:rPr lang="en-US" altLang="zh-CN"/>
              <a:t>During training, we fine-tune:</a:t>
            </a:r>
          </a:p>
          <a:p>
            <a:r>
              <a:rPr lang="en-US" altLang="zh-CN"/>
              <a:t>• BERT as an article-level prior</a:t>
            </a:r>
          </a:p>
          <a:p>
            <a:r>
              <a:rPr lang="en-US" altLang="zh-CN"/>
              <a:t>• DeBERTa-NLI as the sentence-level verifier</a:t>
            </a:r>
          </a:p>
          <a:p>
            <a:endParaRPr lang="en-US" altLang="zh-CN"/>
          </a:p>
          <a:p>
            <a:r>
              <a:rPr lang="en-US" altLang="zh-CN"/>
              <a:t>During inference, each article sentence is matched with GNews evidence and classified as: Supported / Refuted / NEI</a:t>
            </a:r>
          </a:p>
          <a:p>
            <a:endParaRPr lang="en-US" altLang="zh-CN"/>
          </a:p>
          <a:p>
            <a:r>
              <a:rPr lang="en-US" altLang="zh-CN"/>
              <a:t>The final verdict is generated by aggregating sentence-level NLI results with the BERT prior.</a:t>
            </a:r>
          </a:p>
        </p:txBody>
      </p:sp>
      <p:pic>
        <p:nvPicPr>
          <p:cNvPr id="65" name="图片 64" descr="3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4300"/>
            <a:ext cx="7780655" cy="4542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Datasets Used: Each Source Has a Different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600200"/>
            <a:ext cx="2423160" cy="7315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23,196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Fake/Real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510" y="2971800"/>
            <a:ext cx="2038350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GossipCop + PolitiFact title-level examples for BERT screening.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2152" y="1600200"/>
            <a:ext cx="2423160" cy="73152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66744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39,000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News NLI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735" y="2971800"/>
            <a:ext cx="2042160" cy="529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Balanced premise-hypothesis-label samples for DeBERTa verifier fine-tuning.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18504" y="1600200"/>
            <a:ext cx="2423160" cy="73152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Live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GNews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971800"/>
            <a:ext cx="2005965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Runtime evidence source, not a training dataset.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34856" y="1600200"/>
            <a:ext cx="2423160" cy="73152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small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Claim Extraction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185" y="2971800"/>
            <a:ext cx="1993900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Auxiliary Flan-T5 claim extraction dataset with rule fallback.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983480"/>
            <a:ext cx="9966960" cy="658368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5184648"/>
            <a:ext cx="9509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Important distinction: offline models are trained before deployment; GNews supplies current evidence during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1: BERT Baseline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" y="1658620"/>
            <a:ext cx="5486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Role in system: article-level prior, not the final fact checker.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" y="2115820"/>
            <a:ext cx="9544050" cy="506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local data are mainly title/headline-level. Therefore, BERT estimates whether the input resembles fake or real examples, while factual verification is delegated to retrieval + NLI.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255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0.8752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6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02255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0.9189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7975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Binary F1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2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88254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0.8245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3974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8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4255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68.0%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9974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Fake 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9974" y="3994022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after fine-tuning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010" y="5406390"/>
            <a:ext cx="11542395" cy="655955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9950" y="5614035"/>
            <a:ext cx="10944860" cy="17843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11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Takeaway: useful for fast screening, but not sufficient because 368 fake items were still predicted as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2: Sentence-level GNews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85800" y="1417320"/>
            <a:ext cx="3200400" cy="1965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320040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86968" y="1618488"/>
            <a:ext cx="279806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 splitting</a:t>
            </a: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886968" y="2057400"/>
            <a:ext cx="27980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Preserve original sentence wording for more reliable search.</a:t>
            </a: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868680" y="146304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STEP 01</a:t>
            </a:r>
          </a:p>
        </p:txBody>
      </p:sp>
      <p:sp>
        <p:nvSpPr>
          <p:cNvPr id="15" name="Rounded Rectangle 14"/>
          <p:cNvSpPr/>
          <p:nvPr>
            <p:custDataLst>
              <p:tags r:id="rId6"/>
            </p:custDataLst>
          </p:nvPr>
        </p:nvSpPr>
        <p:spPr>
          <a:xfrm>
            <a:off x="4416552" y="1417320"/>
            <a:ext cx="3200400" cy="1965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>
            <p:custDataLst>
              <p:tags r:id="rId7"/>
            </p:custDataLst>
          </p:nvPr>
        </p:nvSpPr>
        <p:spPr>
          <a:xfrm>
            <a:off x="4416552" y="1417320"/>
            <a:ext cx="320040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4617720" y="1618488"/>
            <a:ext cx="279806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GNews search</a:t>
            </a: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4617720" y="2057400"/>
            <a:ext cx="27980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Query-safe sanitation, punctuation cleanup, and length control.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4599432" y="150368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STEP 02</a:t>
            </a:r>
          </a:p>
        </p:txBody>
      </p:sp>
      <p:sp>
        <p:nvSpPr>
          <p:cNvPr id="20" name="Rounded Rectangle 19"/>
          <p:cNvSpPr/>
          <p:nvPr>
            <p:custDataLst>
              <p:tags r:id="rId11"/>
            </p:custDataLst>
          </p:nvPr>
        </p:nvSpPr>
        <p:spPr>
          <a:xfrm>
            <a:off x="8147304" y="1417320"/>
            <a:ext cx="3200400" cy="1965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8147304" y="1417320"/>
            <a:ext cx="320040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8348472" y="1618488"/>
            <a:ext cx="279806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Evidence reranking</a:t>
            </a: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8348472" y="2057400"/>
            <a:ext cx="27980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Rank by lexical overlap, entities, numbers, source credibility, and deduplication.</a:t>
            </a: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8330183" y="148336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STEP 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069080"/>
            <a:ext cx="9966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4297680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Retriever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681728"/>
            <a:ext cx="9235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Top evidence candidates with title, description, content snippet, source, publication date, URL, and relevance score.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623560"/>
            <a:ext cx="9966960" cy="384048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5742432"/>
            <a:ext cx="950976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value: every sentence can be traced to the query it triggered and the evidence selected for NLI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3: Fine-tuned DeBERTa-NLI Verifier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2926080" cy="9601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56231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PREMISE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39696"/>
            <a:ext cx="2514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Retrieved evidence snippet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2926080" cy="9601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2"/>
            <a:ext cx="10058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65576"/>
            <a:ext cx="2514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 from input article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33172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57400"/>
            <a:ext cx="2697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2331720"/>
            <a:ext cx="2240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Fine-tuned</a:t>
            </a:r>
            <a:br/>
            <a:r>
              <a:t>DeBERTa-v3 NLI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926080"/>
            <a:ext cx="22402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chunked evidence</a:t>
            </a:r>
            <a:br/>
            <a:r>
              <a:t>strongest signal</a:t>
            </a:r>
            <a:br/>
            <a:r>
              <a:t>echo discounting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0604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00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1810512"/>
            <a:ext cx="246888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Contradiction → Refuted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743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2953512"/>
            <a:ext cx="246888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Neutral → NEI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46888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Entailment →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49240"/>
            <a:ext cx="10287000" cy="530352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5532120"/>
            <a:ext cx="9875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Why NLI: it models contradiction, paraphrase, and semantic relevance better than simple keyword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4: Aggregation, Interpretability, and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630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2468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Many 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30552"/>
            <a:ext cx="24688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Likely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55648"/>
            <a:ext cx="2468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Many refuted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30552"/>
            <a:ext cx="24688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D23741"/>
                </a:solidFill>
                <a:latin typeface="Arial" panose="020B0604020202020204"/>
              </a:defRPr>
            </a:pPr>
            <a:r>
              <a:t>Likely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4630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1755648"/>
            <a:ext cx="2468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Mostly NEI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30552"/>
            <a:ext cx="24688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Unverified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32461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324612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538728"/>
            <a:ext cx="28437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Sentiment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977639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RoBERTa sentiment with VADER and keyword fallback; tone interpretation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3337560"/>
            <a:ext cx="32461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79" y="3337560"/>
            <a:ext cx="324612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7" y="3538728"/>
            <a:ext cx="28437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LDA Topic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7" y="3977639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CountVectorizer + LDA with optional BERTopic; dataset exploration 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3337560"/>
            <a:ext cx="32461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19" y="3337560"/>
            <a:ext cx="324612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3538728"/>
            <a:ext cx="28437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Streamlit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977639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Rule-based interface that triggers existing functions and caches pipeline outputs.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440680"/>
            <a:ext cx="10652760" cy="50292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614416"/>
            <a:ext cx="10287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Honesty point: sentiment, topics, and chat improve usability, but they are not direct truth-verification signals.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Design: What We Tested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508760"/>
            <a:ext cx="242316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BERT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4,640 held-out samples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Test whether the classifier is a useful article-level prior.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02152" y="1508760"/>
            <a:ext cx="242316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NLI verifier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4,500 balanced NLI test pairs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Test whether retrieved evidence can be semantically matched to claims.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18504" y="1508760"/>
            <a:ext cx="242316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Fine-tuning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Pretrained vs fine-tuned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Measure how much domain-specific news training improves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34856" y="1508760"/>
            <a:ext cx="242316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36024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End-to-end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sentence → evidence → label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Check whether the evidence trail is understandable in a real use case.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Metrics used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5915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7647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Precision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9379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Recall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2843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4575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Confusion Matrix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623560"/>
            <a:ext cx="10469880" cy="3474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7280" y="5742432"/>
            <a:ext cx="100126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question: are the trained components reliable enough to support a practical evidence-based verification workflow?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Result 1: BERT Baseline Is Useful but Not Enough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15</a:t>
            </a:r>
          </a:p>
        </p:txBody>
      </p:sp>
      <p:pic>
        <p:nvPicPr>
          <p:cNvPr id="10" name="Picture 9" descr="bert_confusion_matrix_blue_white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73580"/>
            <a:ext cx="4663440" cy="35582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141732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Held-out test set: 4,640 samples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74519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057400"/>
            <a:ext cx="1600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0.8752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328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74519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057400"/>
            <a:ext cx="1600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0.9189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328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Binary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74519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9800" y="2057400"/>
            <a:ext cx="1600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0.8245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25328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37560"/>
            <a:ext cx="27432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212079"/>
            <a:ext cx="4937760" cy="13716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4514372"/>
            <a:ext cx="749808" cy="697707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4258340"/>
            <a:ext cx="960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0.4292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03519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3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Majority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431466"/>
            <a:ext cx="749808" cy="780613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54112" y="4175434"/>
            <a:ext cx="960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0.4802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5303519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3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Untrained BERT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3871772"/>
            <a:ext cx="749808" cy="1340307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1432" y="3615740"/>
            <a:ext cx="960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0.8245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303519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30" b="0" i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BERT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5806440"/>
            <a:ext cx="5577840" cy="41148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5943600"/>
            <a:ext cx="525780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70" b="1" i="0">
                <a:solidFill>
                  <a:srgbClr val="FFFFFF"/>
                </a:solidFill>
                <a:latin typeface="Arial" panose="020B0604020202020204"/>
              </a:defRPr>
            </a:pPr>
            <a:r>
              <a:t>Interpretation: BERT improves after fine-tuning, but missed fake cases justify evidence-based verification.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Result 2: News-specific NLI Fine-tuning Is the Main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3840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Held-out test set: 4,500 balanced NLI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8745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78307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+18.36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41448"/>
            <a:ext cx="169163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 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783080"/>
            <a:ext cx="18745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79" y="1965960"/>
            <a:ext cx="178307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0.8643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41448"/>
            <a:ext cx="169163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Fine-tuned Macro-F1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783080"/>
            <a:ext cx="18745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1965960"/>
            <a:ext cx="178307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0.9072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441448"/>
            <a:ext cx="169163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Entailment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3108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Overall metric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244352"/>
            <a:ext cx="292608" cy="903719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34440" y="4001981"/>
            <a:ext cx="292608" cy="1146090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Macro-P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193438"/>
            <a:ext cx="292608" cy="954633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0" y="4001318"/>
            <a:ext cx="292608" cy="1146753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79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Macro-R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39" y="4244352"/>
            <a:ext cx="292608" cy="903719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86200" y="4001981"/>
            <a:ext cx="292608" cy="1146090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9159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245545"/>
            <a:ext cx="292608" cy="902526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212080" y="4002113"/>
            <a:ext cx="292608" cy="1145958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8680" y="5687568"/>
            <a:ext cx="164592" cy="7315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" y="5650992"/>
            <a:ext cx="1554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 i="0">
                <a:solidFill>
                  <a:srgbClr val="5B6979"/>
                </a:solidFill>
                <a:latin typeface="Arial" panose="020B0604020202020204"/>
              </a:defRPr>
            </a:pPr>
            <a:r>
              <a:t>Original DeBERTa-v3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5687568"/>
            <a:ext cx="164592" cy="73152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99232" y="5650992"/>
            <a:ext cx="1554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 i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News NLI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417320"/>
            <a:ext cx="3749039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26679" y="1700784"/>
            <a:ext cx="3291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Per-class F1 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33172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Contradiction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377439"/>
            <a:ext cx="591982" cy="11887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61120" y="2606039"/>
            <a:ext cx="772302" cy="118872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21240" y="2395727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0.647 → 0.845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33756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Neutral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383279"/>
            <a:ext cx="607253" cy="11887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611879"/>
            <a:ext cx="769010" cy="118872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21240" y="3401568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0.664 → 0.841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34340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Entailment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4389120"/>
            <a:ext cx="668152" cy="11887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961120" y="4617720"/>
            <a:ext cx="829543" cy="118872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21240" y="4407408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0.731 → 0.907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5303520"/>
            <a:ext cx="3246120" cy="529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Operational takeaway: contradiction recall increased from 52.13% to 81.87%, reducing missed refuting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02489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0.6816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" y="3782525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93976" y="397398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0.7200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9736" y="378186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19856" y="402489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0.6816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5615" y="3782525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5736" y="4026089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0.6807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11496" y="3782657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440680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9"/>
                </a:solidFill>
              </a:defRPr>
            </a:pPr>
            <a:r>
              <a:t>Values shown above each bar: original DeBERTa-v3 vs fine-tuned News NLI.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Demo / Case Study: Make the Evidence Trail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384048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54480"/>
            <a:ext cx="369417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Sentence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192024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177393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Top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155448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554480"/>
            <a:ext cx="140817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NLI 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315468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152" y="1554480"/>
            <a:ext cx="300837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Why it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82880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993392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Brockman disclosed financial ties and a nearly $30B stake.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182880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993392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Reuters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828800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993392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Supported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199339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Strong evidence match for financial-interest statement.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542032"/>
            <a:ext cx="38404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706624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Musk filed a lawsuit over the for-profit versus nonprofit issue.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542032"/>
            <a:ext cx="19202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2706624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Economic Times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542032"/>
            <a:ext cx="15544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706624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Supported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542032"/>
            <a:ext cx="31546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2440" y="2706624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Evidence directly addresses litigation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25526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3419856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trial and ChatGPT launch happened in 2022.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325526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3419856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MarketScreener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255264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419856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1" i="0">
                <a:solidFill>
                  <a:srgbClr val="279F60"/>
                </a:solidFill>
                <a:latin typeface="Arial" panose="020B0604020202020204"/>
              </a:defRPr>
            </a:pPr>
            <a:r>
              <a:t>NEI → Supported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255264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92440" y="3419856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NLI helps avoid overreacting to unrelated numbers.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709160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Main error sources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7240" y="5074920"/>
            <a:ext cx="2331720" cy="54864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Retrieval errors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related but insufficient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566160" y="5074920"/>
            <a:ext cx="2331720" cy="54864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67328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Snippet truncation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7328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weak premise quality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79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55079" y="5074920"/>
            <a:ext cx="233172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56247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Multi-fact sentences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6247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one sentence contains mixed claims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3999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143999" y="5074920"/>
            <a:ext cx="233172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45167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Aggregation sensitivity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7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one wrong refuted label may dominate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Future Work and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Next improvements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19072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Better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93391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sentence selection, reranking, and source filtering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450591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532887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432303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More validated NLI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706624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manual claim-evidence pairs for cleaner evaluation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163824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246120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145536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Confidence weighting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19856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calibrated aggregation instead of simple counting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3877056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58768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Longer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133088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multi-hop evidence and long article-body 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325880"/>
            <a:ext cx="5166360" cy="41148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645920"/>
            <a:ext cx="4480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Final 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2402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23500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266FB4"/>
                </a:solidFill>
                <a:latin typeface="Arial" panose="020B0604020202020204"/>
              </a:defRPr>
            </a:pPr>
            <a:r>
              <a:t>BERT prior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260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0358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GNews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6118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37216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7848DC"/>
                </a:solidFill>
                <a:latin typeface="Arial" panose="020B0604020202020204"/>
              </a:defRPr>
            </a:pPr>
            <a:r>
              <a:t>NLI reasoning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976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4074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Explainable verdict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45075"/>
            <a:ext cx="4480560" cy="414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The system is a transparent evidence-based verification assistant, not a replacement for professional fact-checking.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806440"/>
            <a:ext cx="10378440" cy="41148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934456"/>
            <a:ext cx="992124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Conclusion: evidence-backed sentence verification is more transparent than pure article-level fake/real classification.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3.6,&quot;left&quot;:54,&quot;top&quot;:154.8,&quot;width&quot;:853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11.6,&quot;width&quot;:839.52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1570</Words>
  <Application>Microsoft Macintosh PowerPoint</Application>
  <PresentationFormat>Widescreen</PresentationFormat>
  <Paragraphs>327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Zhang Yuxuan</cp:lastModifiedBy>
  <cp:revision>19</cp:revision>
  <dcterms:created xsi:type="dcterms:W3CDTF">2013-01-27T09:14:00Z</dcterms:created>
  <dcterms:modified xsi:type="dcterms:W3CDTF">2026-05-10T11:47:48Z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4CEF0E06BD024F0F8ACA6370FC369C81_13</vt:lpwstr>
  </property>
</Properties>
</file>