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74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5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3"/>
    <p:restoredTop sz="94684"/>
  </p:normalViewPr>
  <p:slideViewPr>
    <p:cSldViewPr snapToGrid="0" snapToObjects="1">
      <p:cViewPr varScale="1">
        <p:scale>
          <a:sx n="145" d="100"/>
          <a:sy n="145" d="100"/>
        </p:scale>
        <p:origin x="184" y="200"/>
      </p:cViewPr>
      <p:guideLst>
        <p:guide orient="horz" pos="211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20.xml"/><Relationship Id="rId13" Type="http://schemas.openxmlformats.org/officeDocument/2006/relationships/tags" Target="../tags/tag25.xml"/><Relationship Id="rId3" Type="http://schemas.openxmlformats.org/officeDocument/2006/relationships/tags" Target="../tags/tag15.xml"/><Relationship Id="rId7" Type="http://schemas.openxmlformats.org/officeDocument/2006/relationships/tags" Target="../tags/tag19.xml"/><Relationship Id="rId12" Type="http://schemas.openxmlformats.org/officeDocument/2006/relationships/tags" Target="../tags/tag24.xml"/><Relationship Id="rId2" Type="http://schemas.openxmlformats.org/officeDocument/2006/relationships/tags" Target="../tags/tag14.xml"/><Relationship Id="rId16" Type="http://schemas.openxmlformats.org/officeDocument/2006/relationships/slideLayout" Target="../slideLayouts/slideLayout7.xml"/><Relationship Id="rId1" Type="http://schemas.openxmlformats.org/officeDocument/2006/relationships/tags" Target="../tags/tag13.xml"/><Relationship Id="rId6" Type="http://schemas.openxmlformats.org/officeDocument/2006/relationships/tags" Target="../tags/tag18.xml"/><Relationship Id="rId11" Type="http://schemas.openxmlformats.org/officeDocument/2006/relationships/tags" Target="../tags/tag23.xml"/><Relationship Id="rId5" Type="http://schemas.openxmlformats.org/officeDocument/2006/relationships/tags" Target="../tags/tag17.xml"/><Relationship Id="rId15" Type="http://schemas.openxmlformats.org/officeDocument/2006/relationships/tags" Target="../tags/tag27.xml"/><Relationship Id="rId10" Type="http://schemas.openxmlformats.org/officeDocument/2006/relationships/tags" Target="../tags/tag22.xml"/><Relationship Id="rId4" Type="http://schemas.openxmlformats.org/officeDocument/2006/relationships/tags" Target="../tags/tag16.xml"/><Relationship Id="rId9" Type="http://schemas.openxmlformats.org/officeDocument/2006/relationships/tags" Target="../tags/tag21.xml"/><Relationship Id="rId14" Type="http://schemas.openxmlformats.org/officeDocument/2006/relationships/tags" Target="../tags/tag2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/>
          <p:nvPr/>
        </p:nvPicPr>
        <p:blipFill>
          <a:blip r:embed="rId3"/>
          <a:stretch>
            <a:fillRect/>
          </a:stretch>
        </p:blipFill>
        <p:spPr>
          <a:xfrm>
            <a:off x="3427095" y="891540"/>
            <a:ext cx="8764270" cy="4990465"/>
          </a:xfrm>
          <a:prstGeom prst="rect">
            <a:avLst/>
          </a:prstGeom>
          <a:effectLst>
            <a:softEdge rad="635000"/>
          </a:effectLst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B35">
              <a:alpha val="88000"/>
            </a:srgbClr>
          </a:solidFill>
          <a:ln w="12700">
            <a:solidFill>
              <a:srgbClr val="001B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1"/>
          <p:cNvSpPr/>
          <p:nvPr/>
        </p:nvSpPr>
        <p:spPr>
          <a:xfrm>
            <a:off x="545338" y="2658110"/>
            <a:ext cx="7805448" cy="10515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2400" b="1" u="sng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FACT-BASED NEWS VERIFICATION SYSTEM</a:t>
            </a:r>
          </a:p>
          <a:p>
            <a:r>
              <a:rPr lang="en-US" sz="36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Hybrid System with BERT Classification, </a:t>
            </a:r>
            <a:r>
              <a:rPr lang="en-US" sz="3600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GNews</a:t>
            </a:r>
            <a:r>
              <a:rPr lang="en-US" sz="36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Evidence Retrieval, and</a:t>
            </a:r>
          </a:p>
          <a:p>
            <a:r>
              <a:rPr lang="en-US" sz="36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Fine-tuned NLI Verification</a:t>
            </a:r>
          </a:p>
        </p:txBody>
      </p:sp>
      <p:sp>
        <p:nvSpPr>
          <p:cNvPr id="9" name="Text 6"/>
          <p:cNvSpPr/>
          <p:nvPr/>
        </p:nvSpPr>
        <p:spPr>
          <a:xfrm>
            <a:off x="777240" y="5504688"/>
            <a:ext cx="4206240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Group1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 Yuchen         A0326248B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Zhao Jiahui         A0329852U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Zhang Yuxuan     A0285664N</a:t>
            </a:r>
          </a:p>
        </p:txBody>
      </p:sp>
      <p:sp>
        <p:nvSpPr>
          <p:cNvPr id="10" name="Text 7"/>
          <p:cNvSpPr/>
          <p:nvPr/>
        </p:nvSpPr>
        <p:spPr>
          <a:xfrm>
            <a:off x="11384280" y="6519672"/>
            <a:ext cx="320040" cy="1371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6B7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9751324" cy="47705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2500" b="1" dirty="0"/>
              <a:t>Agenda: From Problem Context to Evidence-based Verification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158191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7335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56362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Background &amp; Motivation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856232"/>
            <a:ext cx="2828018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Why fast, transparent news verification is needed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46520" y="158191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55664" y="167335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79" y="1563624"/>
            <a:ext cx="3296095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Business Problem, Objectives &amp; Scope</a:t>
            </a:r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7040879" y="1856232"/>
            <a:ext cx="3664786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Why fake/real labels are insufficient, and what the system covers</a:t>
            </a:r>
            <a:endParaRPr dirty="0"/>
          </a:p>
        </p:txBody>
      </p:sp>
      <p:sp>
        <p:nvSpPr>
          <p:cNvPr id="20" name="Rounded Rectangle 19"/>
          <p:cNvSpPr/>
          <p:nvPr/>
        </p:nvSpPr>
        <p:spPr>
          <a:xfrm>
            <a:off x="685800" y="246888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68680" y="263347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272491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615184"/>
            <a:ext cx="2573140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Data and Evidence Resources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1463040" y="2907792"/>
            <a:ext cx="3801041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 err="1"/>
              <a:t>FakeNewsNet</a:t>
            </a:r>
            <a:r>
              <a:rPr lang="en-US" sz="950" dirty="0"/>
              <a:t>-style data, factual-consistency NLI data, and </a:t>
            </a:r>
            <a:r>
              <a:rPr lang="en-US" sz="950" dirty="0" err="1"/>
              <a:t>GNews</a:t>
            </a:r>
            <a:endParaRPr dirty="0"/>
          </a:p>
        </p:txBody>
      </p:sp>
      <p:sp>
        <p:nvSpPr>
          <p:cNvPr id="25" name="Rounded Rectangle 24"/>
          <p:cNvSpPr/>
          <p:nvPr/>
        </p:nvSpPr>
        <p:spPr>
          <a:xfrm>
            <a:off x="6263640" y="246888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46520" y="263347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55664" y="272491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79" y="261518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Solution Overview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79" y="2907792"/>
            <a:ext cx="3316934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BERT prior + </a:t>
            </a:r>
            <a:r>
              <a:rPr lang="en-US" sz="950" dirty="0" err="1"/>
              <a:t>GNews</a:t>
            </a:r>
            <a:r>
              <a:rPr lang="en-US" sz="950" dirty="0"/>
              <a:t> retrieval + </a:t>
            </a:r>
            <a:r>
              <a:rPr lang="en-US" sz="950" dirty="0" err="1"/>
              <a:t>DeBERTa</a:t>
            </a:r>
            <a:r>
              <a:rPr lang="en-US" sz="950" dirty="0"/>
              <a:t>-NLI verification</a:t>
            </a:r>
            <a:endParaRPr dirty="0"/>
          </a:p>
        </p:txBody>
      </p:sp>
      <p:sp>
        <p:nvSpPr>
          <p:cNvPr id="30" name="Rounded Rectangle 29"/>
          <p:cNvSpPr/>
          <p:nvPr/>
        </p:nvSpPr>
        <p:spPr>
          <a:xfrm>
            <a:off x="685800" y="3520439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68680" y="3685031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377647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666744"/>
            <a:ext cx="2445157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Implementation Architecture</a:t>
            </a:r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1463040" y="3959352"/>
            <a:ext cx="3980577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Runtime workflow, modules, aggregation, sentiment, topic, and chat UI</a:t>
            </a:r>
            <a:endParaRPr dirty="0"/>
          </a:p>
        </p:txBody>
      </p:sp>
      <p:sp>
        <p:nvSpPr>
          <p:cNvPr id="35" name="Rounded Rectangle 34"/>
          <p:cNvSpPr/>
          <p:nvPr/>
        </p:nvSpPr>
        <p:spPr>
          <a:xfrm>
            <a:off x="6263640" y="3520439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446520" y="3685031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55664" y="377647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79" y="366674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Results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79" y="3959352"/>
            <a:ext cx="328006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BERT baseline, NLI fine-tuning, and metric improvements</a:t>
            </a:r>
            <a:endParaRPr dirty="0"/>
          </a:p>
        </p:txBody>
      </p:sp>
      <p:sp>
        <p:nvSpPr>
          <p:cNvPr id="40" name="Rounded Rectangle 39"/>
          <p:cNvSpPr/>
          <p:nvPr/>
        </p:nvSpPr>
        <p:spPr>
          <a:xfrm>
            <a:off x="685800" y="457200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868680" y="4736592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77824" y="482803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4718304"/>
            <a:ext cx="3044680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Demo / Case Study &amp; Error Analysis</a:t>
            </a:r>
            <a:endParaRPr dirty="0"/>
          </a:p>
        </p:txBody>
      </p:sp>
      <p:sp>
        <p:nvSpPr>
          <p:cNvPr id="44" name="TextBox 43"/>
          <p:cNvSpPr txBox="1"/>
          <p:nvPr/>
        </p:nvSpPr>
        <p:spPr>
          <a:xfrm>
            <a:off x="1463040" y="5010912"/>
            <a:ext cx="317907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Sentence-level evidence trail and realistic failure modes</a:t>
            </a:r>
            <a:endParaRPr dirty="0"/>
          </a:p>
        </p:txBody>
      </p:sp>
      <p:sp>
        <p:nvSpPr>
          <p:cNvPr id="45" name="Rounded Rectangle 44"/>
          <p:cNvSpPr/>
          <p:nvPr/>
        </p:nvSpPr>
        <p:spPr>
          <a:xfrm>
            <a:off x="6263640" y="457200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6446520" y="4736592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55664" y="482803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79" y="471830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Future Work &amp; Conclusion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79" y="5010912"/>
            <a:ext cx="274626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Retrieval, data, aggregation, and final takeaway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Background &amp; Motivation: The Verification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4994" y="1136269"/>
            <a:ext cx="503008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Readers need quick screening, but they also need a visible reason to trust the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430" y="1734185"/>
            <a:ext cx="2185035" cy="240665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1600" b="1" i="0">
                <a:solidFill>
                  <a:srgbClr val="052646"/>
                </a:solidFill>
                <a:latin typeface="Arial" panose="020B0604020202020204"/>
              </a:defRPr>
            </a:pPr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55635" y="234442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44535" y="2430145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279F60"/>
                </a:solidFill>
                <a:latin typeface="Arial" panose="020B0604020202020204"/>
              </a:defRPr>
            </a:pPr>
            <a:r>
              <a:t>Fast reporting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55635" y="3002915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44535" y="3088640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FF8F00"/>
                </a:solidFill>
                <a:latin typeface="Arial" panose="020B0604020202020204"/>
              </a:defRPr>
            </a:pPr>
            <a:r>
              <a:t>Unsupported facts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5635" y="366141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4535" y="3747135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D23741"/>
                </a:solidFill>
                <a:latin typeface="Arial" panose="020B0604020202020204"/>
              </a:defRPr>
            </a:pPr>
            <a:r>
              <a:t>Missing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5635" y="431927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4535" y="4405630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7848DC"/>
                </a:solidFill>
                <a:latin typeface="Arial" panose="020B0604020202020204"/>
              </a:defRPr>
            </a:pPr>
            <a:r>
              <a:t>Outdated evidence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47FC9E-A92E-CD2A-A592-015B4FB8F85D}"/>
              </a:ext>
            </a:extLst>
          </p:cNvPr>
          <p:cNvGrpSpPr/>
          <p:nvPr/>
        </p:nvGrpSpPr>
        <p:grpSpPr>
          <a:xfrm>
            <a:off x="1005840" y="2097312"/>
            <a:ext cx="2697480" cy="1508760"/>
            <a:chOff x="685800" y="2880360"/>
            <a:chExt cx="2697480" cy="1508760"/>
          </a:xfrm>
        </p:grpSpPr>
        <p:sp>
          <p:nvSpPr>
            <p:cNvPr id="22" name="Rounded Rectangle 21"/>
            <p:cNvSpPr/>
            <p:nvPr/>
          </p:nvSpPr>
          <p:spPr>
            <a:xfrm>
              <a:off x="685800" y="2880360"/>
              <a:ext cx="2697480" cy="15087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85800" y="3353925"/>
              <a:ext cx="2697480" cy="54864"/>
            </a:xfrm>
            <a:prstGeom prst="rect">
              <a:avLst/>
            </a:prstGeom>
            <a:solidFill>
              <a:srgbClr val="FF8F00"/>
            </a:solidFill>
            <a:ln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490160" y="2989361"/>
              <a:ext cx="1088760" cy="307777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4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Speed gap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64870" y="3520440"/>
              <a:ext cx="233553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News spreads in minutes; checking claims manually takes much longer.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C150B24-544F-BC0E-DAB9-8DC24A9A3CA3}"/>
              </a:ext>
            </a:extLst>
          </p:cNvPr>
          <p:cNvGrpSpPr/>
          <p:nvPr/>
        </p:nvGrpSpPr>
        <p:grpSpPr>
          <a:xfrm>
            <a:off x="4023360" y="2097312"/>
            <a:ext cx="2697480" cy="1508760"/>
            <a:chOff x="3703320" y="2880360"/>
            <a:chExt cx="2697480" cy="1508760"/>
          </a:xfrm>
        </p:grpSpPr>
        <p:sp>
          <p:nvSpPr>
            <p:cNvPr id="27" name="Rounded Rectangle 26"/>
            <p:cNvSpPr/>
            <p:nvPr/>
          </p:nvSpPr>
          <p:spPr>
            <a:xfrm>
              <a:off x="3703320" y="2880360"/>
              <a:ext cx="2697480" cy="15087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703320" y="3353925"/>
              <a:ext cx="2697480" cy="54864"/>
            </a:xfrm>
            <a:prstGeom prst="rect">
              <a:avLst/>
            </a:prstGeom>
            <a:solidFill>
              <a:srgbClr val="266FB4"/>
            </a:solidFill>
            <a:ln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557501" y="2984039"/>
              <a:ext cx="989117" cy="307777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4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Trust gap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869847" y="3524958"/>
              <a:ext cx="233553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A model score is not enough without the evidence behind it.</a:t>
              </a:r>
            </a:p>
          </p:txBody>
        </p:sp>
      </p:grpSp>
      <p:sp>
        <p:nvSpPr>
          <p:cNvPr id="32" name="Rounded Rectangle 31"/>
          <p:cNvSpPr/>
          <p:nvPr/>
        </p:nvSpPr>
        <p:spPr>
          <a:xfrm>
            <a:off x="1003935" y="4048441"/>
            <a:ext cx="2697480" cy="1508761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02030" y="4520301"/>
            <a:ext cx="2697480" cy="54864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62797" y="4152463"/>
            <a:ext cx="979755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Style gap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4910" y="4705606"/>
            <a:ext cx="23355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Professional wording can still contain false, outdated, or unverifiable claims.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0820" y="4045243"/>
            <a:ext cx="269748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018915" y="4528621"/>
            <a:ext cx="2697480" cy="54864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795524" y="4146827"/>
            <a:ext cx="1148071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Mixed truth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9887" y="4703236"/>
            <a:ext cx="23355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One article may combine supported, refuted, and insufficiently evidenced statements.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2030" y="5993174"/>
            <a:ext cx="10016490" cy="340796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Need: a transparent first-pass verification assistant that links claims to evidence. </a:t>
            </a:r>
            <a:endParaRPr dirty="0"/>
          </a:p>
        </p:txBody>
      </p:sp>
      <p:sp>
        <p:nvSpPr>
          <p:cNvPr id="44" name="Rounded Rectangle 11"/>
          <p:cNvSpPr/>
          <p:nvPr/>
        </p:nvSpPr>
        <p:spPr>
          <a:xfrm>
            <a:off x="8004810" y="2097312"/>
            <a:ext cx="3013710" cy="3456691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6D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13"/>
          <p:cNvSpPr/>
          <p:nvPr/>
        </p:nvSpPr>
        <p:spPr>
          <a:xfrm>
            <a:off x="8377555" y="282067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Fast reporting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47" name="Rounded Rectangle 15"/>
          <p:cNvSpPr/>
          <p:nvPr/>
        </p:nvSpPr>
        <p:spPr>
          <a:xfrm>
            <a:off x="8377555" y="3470617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Unsupported facts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9" name="Rounded Rectangle 17"/>
          <p:cNvSpPr/>
          <p:nvPr/>
        </p:nvSpPr>
        <p:spPr>
          <a:xfrm>
            <a:off x="8377555" y="4120368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Missing context</a:t>
            </a:r>
            <a:endParaRPr dirty="0">
              <a:solidFill>
                <a:srgbClr val="C00000"/>
              </a:solidFill>
            </a:endParaRPr>
          </a:p>
        </p:txBody>
      </p:sp>
      <p:sp>
        <p:nvSpPr>
          <p:cNvPr id="51" name="Rounded Rectangle 19"/>
          <p:cNvSpPr/>
          <p:nvPr/>
        </p:nvSpPr>
        <p:spPr>
          <a:xfrm>
            <a:off x="8377555" y="4770119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Outdated </a:t>
            </a:r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evidance</a:t>
            </a:r>
            <a:endParaRPr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377555" y="2233692"/>
            <a:ext cx="225996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>
              <a:defRPr sz="16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>
                <a:sym typeface="+mn-ea"/>
              </a:rPr>
              <a:t>EVIDENCE GAP</a:t>
            </a:r>
            <a:endParaRPr lang="zh-CN" altLang="en-US" dirty="0">
              <a:sym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AB9E0E-42A6-F362-1D30-51F9AFCD132E}"/>
              </a:ext>
            </a:extLst>
          </p:cNvPr>
          <p:cNvSpPr txBox="1"/>
          <p:nvPr/>
        </p:nvSpPr>
        <p:spPr>
          <a:xfrm>
            <a:off x="566927" y="1140968"/>
            <a:ext cx="5030081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Online news and social-media links spread faster than manual verification workflows. </a:t>
            </a:r>
            <a:endParaRPr dirty="0"/>
          </a:p>
        </p:txBody>
      </p:sp>
      <p:sp>
        <p:nvSpPr>
          <p:cNvPr id="7" name="Left-Right Arrow 6">
            <a:extLst>
              <a:ext uri="{FF2B5EF4-FFF2-40B4-BE49-F238E27FC236}">
                <a16:creationId xmlns:a16="http://schemas.microsoft.com/office/drawing/2014/main" id="{2383E83A-7009-02F9-C119-BDC0715DACFB}"/>
              </a:ext>
            </a:extLst>
          </p:cNvPr>
          <p:cNvSpPr/>
          <p:nvPr/>
        </p:nvSpPr>
        <p:spPr>
          <a:xfrm>
            <a:off x="5143500" y="1299640"/>
            <a:ext cx="1451494" cy="267429"/>
          </a:xfrm>
          <a:prstGeom prst="left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Business Problem, Objectives &amp;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04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4BD24C-619E-2278-4B8F-44C35F2AD20D}"/>
              </a:ext>
            </a:extLst>
          </p:cNvPr>
          <p:cNvGrpSpPr/>
          <p:nvPr/>
        </p:nvGrpSpPr>
        <p:grpSpPr>
          <a:xfrm>
            <a:off x="685800" y="3379212"/>
            <a:ext cx="3246120" cy="1755648"/>
            <a:chOff x="685800" y="2552735"/>
            <a:chExt cx="3246120" cy="1755648"/>
          </a:xfrm>
        </p:grpSpPr>
        <p:sp>
          <p:nvSpPr>
            <p:cNvPr id="11" name="Rounded Rectangle 10"/>
            <p:cNvSpPr/>
            <p:nvPr>
              <p:custDataLst>
                <p:tags r:id="rId9"/>
              </p:custDataLst>
            </p:nvPr>
          </p:nvSpPr>
          <p:spPr>
            <a:xfrm>
              <a:off x="685800" y="2552735"/>
              <a:ext cx="3246120" cy="1755648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>
              <p:custDataLst>
                <p:tags r:id="rId10"/>
              </p:custDataLst>
            </p:nvPr>
          </p:nvSpPr>
          <p:spPr>
            <a:xfrm>
              <a:off x="685800" y="3079418"/>
              <a:ext cx="3246120" cy="54864"/>
            </a:xfrm>
            <a:prstGeom prst="rect">
              <a:avLst/>
            </a:prstGeom>
            <a:solidFill>
              <a:srgbClr val="FF8F00"/>
            </a:solidFill>
            <a:ln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>
              <p:custDataLst>
                <p:tags r:id="rId11"/>
              </p:custDataLst>
            </p:nvPr>
          </p:nvSpPr>
          <p:spPr>
            <a:xfrm>
              <a:off x="1001611" y="2666485"/>
              <a:ext cx="2614498" cy="307777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4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DOCUMENT-LEVEL LABELS</a:t>
              </a:r>
            </a:p>
          </p:txBody>
        </p:sp>
        <p:sp>
          <p:nvSpPr>
            <p:cNvPr id="15" name="TextBox 14"/>
            <p:cNvSpPr txBox="1"/>
            <p:nvPr>
              <p:custDataLst>
                <p:tags r:id="rId12"/>
              </p:custDataLst>
            </p:nvPr>
          </p:nvSpPr>
          <p:spPr>
            <a:xfrm>
              <a:off x="958005" y="3326306"/>
              <a:ext cx="270170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The output does not identify which sentence or claim deserves human review.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EB39273-8F51-36F8-4225-42938F959D3F}"/>
              </a:ext>
            </a:extLst>
          </p:cNvPr>
          <p:cNvGrpSpPr/>
          <p:nvPr/>
        </p:nvGrpSpPr>
        <p:grpSpPr>
          <a:xfrm>
            <a:off x="4469044" y="3377653"/>
            <a:ext cx="3246120" cy="1755648"/>
            <a:chOff x="4472787" y="2551176"/>
            <a:chExt cx="3246120" cy="1755648"/>
          </a:xfrm>
        </p:grpSpPr>
        <p:sp>
          <p:nvSpPr>
            <p:cNvPr id="16" name="Rounded Rectangle 15"/>
            <p:cNvSpPr/>
            <p:nvPr>
              <p:custDataLst>
                <p:tags r:id="rId5"/>
              </p:custDataLst>
            </p:nvPr>
          </p:nvSpPr>
          <p:spPr>
            <a:xfrm>
              <a:off x="4472787" y="2551176"/>
              <a:ext cx="3246120" cy="1755648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ectangle 16"/>
            <p:cNvSpPr/>
            <p:nvPr>
              <p:custDataLst>
                <p:tags r:id="rId6"/>
              </p:custDataLst>
            </p:nvPr>
          </p:nvSpPr>
          <p:spPr>
            <a:xfrm>
              <a:off x="4472787" y="3077331"/>
              <a:ext cx="3246120" cy="54864"/>
            </a:xfrm>
            <a:prstGeom prst="rect">
              <a:avLst/>
            </a:prstGeom>
            <a:solidFill>
              <a:srgbClr val="266FB4"/>
            </a:solidFill>
            <a:ln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>
              <p:custDataLst>
                <p:tags r:id="rId7"/>
              </p:custDataLst>
            </p:nvPr>
          </p:nvSpPr>
          <p:spPr>
            <a:xfrm>
              <a:off x="5011408" y="2666485"/>
              <a:ext cx="2169184" cy="307777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4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SHORTCUT LEARNING</a:t>
              </a:r>
            </a:p>
          </p:txBody>
        </p:sp>
        <p:sp>
          <p:nvSpPr>
            <p:cNvPr id="20" name="TextBox 19"/>
            <p:cNvSpPr txBox="1"/>
            <p:nvPr>
              <p:custDataLst>
                <p:tags r:id="rId8"/>
              </p:custDataLst>
            </p:nvPr>
          </p:nvSpPr>
          <p:spPr>
            <a:xfrm>
              <a:off x="4788598" y="3320447"/>
              <a:ext cx="2614498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dirty="0"/>
                <a:t>Models may learn source, topic, or writing-style patterns instead of factual correctness.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EB5A04A-EE61-E7F6-C974-8536A1063200}"/>
              </a:ext>
            </a:extLst>
          </p:cNvPr>
          <p:cNvGrpSpPr/>
          <p:nvPr/>
        </p:nvGrpSpPr>
        <p:grpSpPr>
          <a:xfrm>
            <a:off x="8252288" y="3377652"/>
            <a:ext cx="3246120" cy="1755649"/>
            <a:chOff x="8275320" y="2551175"/>
            <a:chExt cx="3246120" cy="1755649"/>
          </a:xfrm>
        </p:grpSpPr>
        <p:sp>
          <p:nvSpPr>
            <p:cNvPr id="21" name="Rounded Rectangle 20"/>
            <p:cNvSpPr/>
            <p:nvPr>
              <p:custDataLst>
                <p:tags r:id="rId1"/>
              </p:custDataLst>
            </p:nvPr>
          </p:nvSpPr>
          <p:spPr>
            <a:xfrm>
              <a:off x="8275320" y="2551175"/>
              <a:ext cx="3246120" cy="1755649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Rectangle 21"/>
            <p:cNvSpPr/>
            <p:nvPr>
              <p:custDataLst>
                <p:tags r:id="rId2"/>
              </p:custDataLst>
            </p:nvPr>
          </p:nvSpPr>
          <p:spPr>
            <a:xfrm>
              <a:off x="8275320" y="3077331"/>
              <a:ext cx="3246120" cy="54864"/>
            </a:xfrm>
            <a:prstGeom prst="rect">
              <a:avLst/>
            </a:prstGeom>
            <a:solidFill>
              <a:srgbClr val="7848DC"/>
            </a:solidFill>
            <a:ln>
              <a:solidFill>
                <a:srgbClr val="7848D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/>
            <p:cNvSpPr txBox="1"/>
            <p:nvPr>
              <p:custDataLst>
                <p:tags r:id="rId3"/>
              </p:custDataLst>
            </p:nvPr>
          </p:nvSpPr>
          <p:spPr>
            <a:xfrm>
              <a:off x="8949274" y="2664398"/>
              <a:ext cx="1898212" cy="307777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4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PRACTICAL SCOPE</a:t>
              </a:r>
            </a:p>
          </p:txBody>
        </p:sp>
        <p:sp>
          <p:nvSpPr>
            <p:cNvPr id="25" name="TextBox 24"/>
            <p:cNvSpPr txBox="1"/>
            <p:nvPr>
              <p:custDataLst>
                <p:tags r:id="rId4"/>
              </p:custDataLst>
            </p:nvPr>
          </p:nvSpPr>
          <p:spPr>
            <a:xfrm>
              <a:off x="8609546" y="3314580"/>
              <a:ext cx="2614498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dirty="0"/>
                <a:t>English text news, sentence-level evidence checking, and first-pass support/refute/NEI screening.</a:t>
              </a:r>
            </a:p>
          </p:txBody>
        </p:sp>
      </p:grpSp>
      <p:sp>
        <p:nvSpPr>
          <p:cNvPr id="26" name="Rounded Rectangle 25"/>
          <p:cNvSpPr/>
          <p:nvPr/>
        </p:nvSpPr>
        <p:spPr>
          <a:xfrm>
            <a:off x="1001611" y="5754358"/>
            <a:ext cx="10016490" cy="579612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Objective: combine a BERT prior with </a:t>
            </a:r>
            <a:r>
              <a:rPr lang="en-US" dirty="0" err="1"/>
              <a:t>GNews</a:t>
            </a:r>
            <a:r>
              <a:rPr lang="en-US" dirty="0"/>
              <a:t> retrieval and fine-tuned NLI to produce an explainable article-level verdict.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216310-0960-EB51-E633-7C5D4E818A46}"/>
              </a:ext>
            </a:extLst>
          </p:cNvPr>
          <p:cNvSpPr txBox="1"/>
          <p:nvPr/>
        </p:nvSpPr>
        <p:spPr>
          <a:xfrm>
            <a:off x="685800" y="1140968"/>
            <a:ext cx="10812608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A fake/real classifier gives a quick document-level label, but it cannot explain which factual statements are supported, refuted, or uncertain.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DABB431-165A-EE2E-109B-A0676FAB87ED}"/>
              </a:ext>
            </a:extLst>
          </p:cNvPr>
          <p:cNvSpPr/>
          <p:nvPr/>
        </p:nvSpPr>
        <p:spPr>
          <a:xfrm>
            <a:off x="4477398" y="4547378"/>
            <a:ext cx="3236897" cy="11430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Business Value: Faster Triage with Inspectable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19077"/>
            <a:ext cx="10516235" cy="583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The system reduces first-pass verification effort by retrieving external evidence and showing which statements need attention before users trust or share an article.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51B61D6-4FD6-D6BE-C77E-DB19BF97969A}"/>
              </a:ext>
            </a:extLst>
          </p:cNvPr>
          <p:cNvGrpSpPr/>
          <p:nvPr/>
        </p:nvGrpSpPr>
        <p:grpSpPr>
          <a:xfrm>
            <a:off x="632306" y="2433463"/>
            <a:ext cx="10927080" cy="1560538"/>
            <a:chOff x="685800" y="1959902"/>
            <a:chExt cx="10927080" cy="1560538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AB30A7E-2D40-CA23-31E7-255497B6F5EE}"/>
                </a:ext>
              </a:extLst>
            </p:cNvPr>
            <p:cNvGrpSpPr/>
            <p:nvPr/>
          </p:nvGrpSpPr>
          <p:grpSpPr>
            <a:xfrm>
              <a:off x="685800" y="1965960"/>
              <a:ext cx="2423160" cy="1554480"/>
              <a:chOff x="685800" y="1965960"/>
              <a:chExt cx="2423160" cy="1554480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68580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85800" y="2483528"/>
                <a:ext cx="2423160" cy="54864"/>
              </a:xfrm>
              <a:prstGeom prst="rect">
                <a:avLst/>
              </a:prstGeom>
              <a:solidFill>
                <a:srgbClr val="266FB4"/>
              </a:solidFill>
              <a:ln>
                <a:solidFill>
                  <a:srgbClr val="266FB4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122969" y="2069662"/>
                <a:ext cx="1548821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General readers</a:t>
                </a: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780288" y="2679896"/>
                <a:ext cx="22219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Check suspicious articles before sharing them.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9D4AC53-04BD-12DD-B7EC-D8B8BC74C4ED}"/>
                </a:ext>
              </a:extLst>
            </p:cNvPr>
            <p:cNvGrpSpPr/>
            <p:nvPr/>
          </p:nvGrpSpPr>
          <p:grpSpPr>
            <a:xfrm>
              <a:off x="3520439" y="1959902"/>
              <a:ext cx="2423161" cy="1554480"/>
              <a:chOff x="3520439" y="1965960"/>
              <a:chExt cx="2423161" cy="1554480"/>
            </a:xfrm>
          </p:grpSpPr>
          <p:sp>
            <p:nvSpPr>
              <p:cNvPr id="15" name="Rounded Rectangle 14"/>
              <p:cNvSpPr/>
              <p:nvPr/>
            </p:nvSpPr>
            <p:spPr>
              <a:xfrm>
                <a:off x="352044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3520439" y="2477198"/>
                <a:ext cx="2423160" cy="54864"/>
              </a:xfrm>
              <a:prstGeom prst="rect">
                <a:avLst/>
              </a:prstGeom>
              <a:solidFill>
                <a:srgbClr val="FF8F00"/>
              </a:solidFill>
              <a:ln>
                <a:solidFill>
                  <a:srgbClr val="FF8F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4257370" y="2069662"/>
                <a:ext cx="949299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Students</a:t>
                </a:r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3614928" y="2679896"/>
                <a:ext cx="222199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Learn the difference between style-based classification and evidence-based verification.</a:t>
                </a: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EB65D67-717B-96D3-30E1-6E3D3EFE1BCF}"/>
                </a:ext>
              </a:extLst>
            </p:cNvPr>
            <p:cNvGrpSpPr/>
            <p:nvPr/>
          </p:nvGrpSpPr>
          <p:grpSpPr>
            <a:xfrm>
              <a:off x="6355079" y="1965960"/>
              <a:ext cx="2423161" cy="1554480"/>
              <a:chOff x="6355079" y="1965960"/>
              <a:chExt cx="2423161" cy="1554480"/>
            </a:xfrm>
          </p:grpSpPr>
          <p:sp>
            <p:nvSpPr>
              <p:cNvPr id="19" name="Rounded Rectangle 18"/>
              <p:cNvSpPr/>
              <p:nvPr/>
            </p:nvSpPr>
            <p:spPr>
              <a:xfrm>
                <a:off x="635508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6355079" y="2477198"/>
                <a:ext cx="2423160" cy="54864"/>
              </a:xfrm>
              <a:prstGeom prst="rect">
                <a:avLst/>
              </a:prstGeom>
              <a:solidFill>
                <a:srgbClr val="7848DC"/>
              </a:solidFill>
              <a:ln>
                <a:solidFill>
                  <a:srgbClr val="7848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6997434" y="2064893"/>
                <a:ext cx="1138452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Journalists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6449568" y="2679896"/>
                <a:ext cx="222199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Surface unsupported statements before deeper editorial review.</a:t>
                </a: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97AEED2-FC3D-8036-6D8F-6F2A85190957}"/>
                </a:ext>
              </a:extLst>
            </p:cNvPr>
            <p:cNvGrpSpPr/>
            <p:nvPr/>
          </p:nvGrpSpPr>
          <p:grpSpPr>
            <a:xfrm>
              <a:off x="9189720" y="1965960"/>
              <a:ext cx="2423160" cy="1554480"/>
              <a:chOff x="9189720" y="1965960"/>
              <a:chExt cx="2423160" cy="1554480"/>
            </a:xfrm>
          </p:grpSpPr>
          <p:sp>
            <p:nvSpPr>
              <p:cNvPr id="23" name="Rounded Rectangle 22"/>
              <p:cNvSpPr/>
              <p:nvPr/>
            </p:nvSpPr>
            <p:spPr>
              <a:xfrm>
                <a:off x="918972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9189720" y="2476662"/>
                <a:ext cx="2423160" cy="54864"/>
              </a:xfrm>
              <a:prstGeom prst="rect">
                <a:avLst/>
              </a:prstGeom>
              <a:solidFill>
                <a:srgbClr val="279F60"/>
              </a:solidFill>
              <a:ln>
                <a:solidFill>
                  <a:srgbClr val="279F6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9771160" y="2075794"/>
                <a:ext cx="1260280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Researchers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9284208" y="2679896"/>
                <a:ext cx="222199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Inspect misinformation cases, topics, sentiment, and evidence trails.</a:t>
                </a:r>
              </a:p>
            </p:txBody>
          </p:sp>
        </p:grpSp>
      </p:grpSp>
      <p:sp>
        <p:nvSpPr>
          <p:cNvPr id="27" name="Rounded Rectangle 26"/>
          <p:cNvSpPr/>
          <p:nvPr/>
        </p:nvSpPr>
        <p:spPr>
          <a:xfrm>
            <a:off x="685799" y="4547378"/>
            <a:ext cx="3236897" cy="11430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44501" y="4639038"/>
            <a:ext cx="2119491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Sentence-level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34" y="5000113"/>
            <a:ext cx="291142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Users can inspect specific supported, refuted, and NEI statements.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73922" y="4639038"/>
            <a:ext cx="1643847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Traceable sources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2430" y="5000113"/>
            <a:ext cx="291142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Evidence shows source, date, URL, snippet, and relevance context.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4547378"/>
            <a:ext cx="3063240" cy="11430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98098" y="4639038"/>
            <a:ext cx="1709122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Explainable verdict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10954" y="5000113"/>
            <a:ext cx="2691082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The final article label is tied back to BERT prior plus sentence-level NLI results.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Proposed Solution: Evidence-based Verification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10515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Move from style-based fake/real classification to evidence-backed sentence verification.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40"/>
            <a:ext cx="1600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" y="2276856"/>
            <a:ext cx="1453896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Article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542032"/>
            <a:ext cx="1453896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user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2350008"/>
            <a:ext cx="3200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000" b="1" i="0">
                <a:solidFill>
                  <a:srgbClr val="5B6979"/>
                </a:solidFill>
                <a:latin typeface="Arial" panose="020B0604020202020204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2148840"/>
            <a:ext cx="1600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90672" y="2276856"/>
            <a:ext cx="1453896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Sentence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2542032"/>
            <a:ext cx="1453896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claim-like pieces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350008"/>
            <a:ext cx="3200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000" b="1" i="0">
                <a:solidFill>
                  <a:srgbClr val="5B6979"/>
                </a:solidFill>
                <a:latin typeface="Arial" panose="020B0604020202020204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7800" y="2148840"/>
            <a:ext cx="1600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30952" y="2276856"/>
            <a:ext cx="1453896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External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952" y="2542032"/>
            <a:ext cx="1453896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GNews 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8" y="2350008"/>
            <a:ext cx="3200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000" b="1" i="0">
                <a:solidFill>
                  <a:srgbClr val="5B6979"/>
                </a:solidFill>
                <a:latin typeface="Arial" panose="020B0604020202020204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2148840"/>
            <a:ext cx="1600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71232" y="2276856"/>
            <a:ext cx="1453896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NLI reasoning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2542032"/>
            <a:ext cx="1453896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support / refute / NEI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2350008"/>
            <a:ext cx="3200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000" b="1" i="0">
                <a:solidFill>
                  <a:srgbClr val="5B6979"/>
                </a:solidFill>
                <a:latin typeface="Arial" panose="020B0604020202020204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38360" y="2148840"/>
            <a:ext cx="1600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11512" y="2276856"/>
            <a:ext cx="1453896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Final verdict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1512" y="2542032"/>
            <a:ext cx="1453896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likely true / false / unverified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3840480"/>
            <a:ext cx="329184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22960" y="3840480"/>
            <a:ext cx="3291840" cy="54864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24128" y="4041648"/>
            <a:ext cx="288950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Core design 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480560"/>
            <a:ext cx="2889504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t>BERT provides a fast article-level prior only.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3840480"/>
            <a:ext cx="329184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434840" y="3840480"/>
            <a:ext cx="329184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36007" y="4041648"/>
            <a:ext cx="288950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Core design 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6007" y="4480560"/>
            <a:ext cx="2889504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t>GNews connects the system to live external evidence.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3840480"/>
            <a:ext cx="329184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046720" y="3840480"/>
            <a:ext cx="3291840" cy="54864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47888" y="4041648"/>
            <a:ext cx="288950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Core design 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4480560"/>
            <a:ext cx="2889504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t>Fine-tuned NLI performs semantic evidence verification.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System Overview: High-level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472184" y="1938528"/>
            <a:ext cx="749808" cy="749808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7904" y="2121408"/>
            <a:ext cx="6400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26080"/>
            <a:ext cx="19659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Input &amp;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290" y="3383280"/>
            <a:ext cx="2004060" cy="575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User submits a news article; the system removes URLs and normalizes 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38728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325112" y="1938528"/>
            <a:ext cx="749808" cy="749808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70832" y="2121408"/>
            <a:ext cx="6400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7328" y="2926080"/>
            <a:ext cx="19659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Retrieve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6650" y="3401695"/>
            <a:ext cx="2203450" cy="575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Each sentence is used to query GNews and collect evidence candidates.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91656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178040" y="1938528"/>
            <a:ext cx="749808" cy="749808"/>
          </a:xfrm>
          <a:prstGeom prst="ellipse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0" y="2121408"/>
            <a:ext cx="6400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0256" y="2926080"/>
            <a:ext cx="19659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383280"/>
            <a:ext cx="1979295" cy="575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Fine-tuned DeBERTa-NLI compares evidence with each sentence.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44584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030967" y="1938528"/>
            <a:ext cx="749808" cy="749808"/>
          </a:xfrm>
          <a:prstGeom prst="ellipse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76688" y="2121408"/>
            <a:ext cx="6400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3184" y="2926080"/>
            <a:ext cx="19659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2455" y="3383280"/>
            <a:ext cx="2052320" cy="575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The final verdict is shown with sentence labels, evidence, sentiment, topics, and chat UI.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486400"/>
            <a:ext cx="10835640" cy="502920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5650992"/>
            <a:ext cx="1042416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Storyline: verify claims with evidence first, then aggregate sentence-level results into an explainable article-level verdict.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564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Implementation Architecture: From Article Input to Evidence-backed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08</a:t>
            </a:r>
          </a:p>
        </p:txBody>
      </p:sp>
      <p:sp>
        <p:nvSpPr>
          <p:cNvPr id="64" name="Rounded Rectangle 9"/>
          <p:cNvSpPr/>
          <p:nvPr/>
        </p:nvSpPr>
        <p:spPr>
          <a:xfrm>
            <a:off x="8209280" y="923290"/>
            <a:ext cx="3677920" cy="5324475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文本框 62"/>
          <p:cNvSpPr txBox="1"/>
          <p:nvPr/>
        </p:nvSpPr>
        <p:spPr>
          <a:xfrm>
            <a:off x="8383905" y="1348105"/>
            <a:ext cx="3206115" cy="45231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The system separates training and inference.</a:t>
            </a:r>
          </a:p>
          <a:p>
            <a:endParaRPr lang="en-US" altLang="zh-CN"/>
          </a:p>
          <a:p>
            <a:r>
              <a:rPr lang="en-US" altLang="zh-CN"/>
              <a:t>During training, we fine-tune:</a:t>
            </a:r>
          </a:p>
          <a:p>
            <a:r>
              <a:rPr lang="en-US" altLang="zh-CN"/>
              <a:t>• BERT as an article-level prior</a:t>
            </a:r>
          </a:p>
          <a:p>
            <a:r>
              <a:rPr lang="en-US" altLang="zh-CN"/>
              <a:t>• DeBERTa-NLI as the sentence-level verifier</a:t>
            </a:r>
          </a:p>
          <a:p>
            <a:endParaRPr lang="en-US" altLang="zh-CN"/>
          </a:p>
          <a:p>
            <a:r>
              <a:rPr lang="en-US" altLang="zh-CN"/>
              <a:t>During inference, each article sentence is matched with GNews evidence and classified as: Supported / Refuted / NEI</a:t>
            </a:r>
          </a:p>
          <a:p>
            <a:endParaRPr lang="en-US" altLang="zh-CN"/>
          </a:p>
          <a:p>
            <a:r>
              <a:rPr lang="en-US" altLang="zh-CN"/>
              <a:t>The final verdict is generated by aggregating sentence-level NLI results with the BERT prior.</a:t>
            </a:r>
          </a:p>
        </p:txBody>
      </p:sp>
      <p:pic>
        <p:nvPicPr>
          <p:cNvPr id="65" name="图片 64" descr="3.draw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4300"/>
            <a:ext cx="7780655" cy="454279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Datasets Used: Each Source Has a Different 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00200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1600200"/>
            <a:ext cx="2423160" cy="7315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" y="1947672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23,196 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542032"/>
            <a:ext cx="2103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Fake/Real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510" y="2971800"/>
            <a:ext cx="2038350" cy="383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GossipCop + PolitiFact title-level examples for BERT screening.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2152" y="1600200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02152" y="1600200"/>
            <a:ext cx="2423160" cy="73152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66744" y="1947672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t>39,000 pairs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6744" y="2542032"/>
            <a:ext cx="2103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News NLI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1735" y="2971800"/>
            <a:ext cx="2042160" cy="529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Balanced premise-hypothesis-label samples for DeBERTa verifier fine-tuning.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600200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18504" y="1600200"/>
            <a:ext cx="2423160" cy="73152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83096" y="1947672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FF8F00"/>
                </a:solidFill>
                <a:latin typeface="Arial" panose="020B0604020202020204"/>
              </a:defRPr>
            </a:pPr>
            <a:r>
              <a:t>Live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2542032"/>
            <a:ext cx="2103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GNews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971800"/>
            <a:ext cx="2005965" cy="383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Runtime evidence source, not a training dataset.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6" y="1600200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34856" y="1600200"/>
            <a:ext cx="2423160" cy="73152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1947672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small JSON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8" y="2542032"/>
            <a:ext cx="2103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Claim Extraction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54185" y="2971800"/>
            <a:ext cx="1993900" cy="383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Auxiliary Flan-T5 claim extraction dataset with rule fallback.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3000" y="4983480"/>
            <a:ext cx="9966960" cy="658368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71600" y="5184648"/>
            <a:ext cx="950976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Important distinction: offline models are trained before deployment; GNews supplies current evidence during runtime.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Implementation Detail 1: BERT Baseline Classifier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010" y="1658620"/>
            <a:ext cx="54864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9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Role in system: article-level prior, not the final fact checker.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010" y="2115820"/>
            <a:ext cx="9544050" cy="5067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The local data are mainly title/headline-level. Therefore, BERT estimates whether the input resembles fake or real examples, while factual verification is delegated to retrieval + NLI.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535" y="3061335"/>
            <a:ext cx="201168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255" y="3244215"/>
            <a:ext cx="192024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0.8752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975" y="3719703"/>
            <a:ext cx="18288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Accuracy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56535" y="3061335"/>
            <a:ext cx="201168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02255" y="3244215"/>
            <a:ext cx="192024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0.9189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47975" y="3719703"/>
            <a:ext cx="18288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Binary F1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42535" y="3061335"/>
            <a:ext cx="201168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88254" y="3244215"/>
            <a:ext cx="192024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t>0.8245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3974" y="3719703"/>
            <a:ext cx="18288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8535" y="3061335"/>
            <a:ext cx="201168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74255" y="3244215"/>
            <a:ext cx="192024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FF8F00"/>
                </a:solidFill>
                <a:latin typeface="Arial" panose="020B0604020202020204"/>
              </a:defRPr>
            </a:pPr>
            <a:r>
              <a:t>68.0%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9974" y="3719703"/>
            <a:ext cx="18288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Fake Recall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9974" y="3994022"/>
            <a:ext cx="1828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after fine-tuning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010" y="5406390"/>
            <a:ext cx="11542395" cy="655955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9950" y="5614035"/>
            <a:ext cx="10944860" cy="178435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Takeaway: useful for fast screening, but not sufficient because 368 fake items were still predicted as real.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Implementation Detail 2: Sentence-level GNews Retrieval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11</a:t>
            </a:r>
          </a:p>
        </p:txBody>
      </p:sp>
      <p:sp>
        <p:nvSpPr>
          <p:cNvPr id="10" name="Rounded Rectangle 9"/>
          <p:cNvSpPr/>
          <p:nvPr>
            <p:custDataLst>
              <p:tags r:id="rId1"/>
            </p:custDataLst>
          </p:nvPr>
        </p:nvSpPr>
        <p:spPr>
          <a:xfrm>
            <a:off x="685800" y="1417320"/>
            <a:ext cx="3200400" cy="19659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>
            <p:custDataLst>
              <p:tags r:id="rId2"/>
            </p:custDataLst>
          </p:nvPr>
        </p:nvSpPr>
        <p:spPr>
          <a:xfrm>
            <a:off x="685800" y="1417320"/>
            <a:ext cx="3200400" cy="54864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>
            <p:custDataLst>
              <p:tags r:id="rId3"/>
            </p:custDataLst>
          </p:nvPr>
        </p:nvSpPr>
        <p:spPr>
          <a:xfrm>
            <a:off x="886968" y="1618488"/>
            <a:ext cx="279806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Sentence splitting</a:t>
            </a:r>
          </a:p>
        </p:txBody>
      </p:sp>
      <p:sp>
        <p:nvSpPr>
          <p:cNvPr id="13" name="TextBox 12"/>
          <p:cNvSpPr txBox="1"/>
          <p:nvPr>
            <p:custDataLst>
              <p:tags r:id="rId4"/>
            </p:custDataLst>
          </p:nvPr>
        </p:nvSpPr>
        <p:spPr>
          <a:xfrm>
            <a:off x="886968" y="2057400"/>
            <a:ext cx="2798064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t>Preserve original sentence wording for more reliable search.</a:t>
            </a:r>
          </a:p>
        </p:txBody>
      </p:sp>
      <p:sp>
        <p:nvSpPr>
          <p:cNvPr id="14" name="TextBox 13"/>
          <p:cNvSpPr txBox="1"/>
          <p:nvPr>
            <p:custDataLst>
              <p:tags r:id="rId5"/>
            </p:custDataLst>
          </p:nvPr>
        </p:nvSpPr>
        <p:spPr>
          <a:xfrm>
            <a:off x="868680" y="1463040"/>
            <a:ext cx="8229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STEP 01</a:t>
            </a:r>
          </a:p>
        </p:txBody>
      </p:sp>
      <p:sp>
        <p:nvSpPr>
          <p:cNvPr id="15" name="Rounded Rectangle 14"/>
          <p:cNvSpPr/>
          <p:nvPr>
            <p:custDataLst>
              <p:tags r:id="rId6"/>
            </p:custDataLst>
          </p:nvPr>
        </p:nvSpPr>
        <p:spPr>
          <a:xfrm>
            <a:off x="4416552" y="1417320"/>
            <a:ext cx="3200400" cy="19659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>
            <p:custDataLst>
              <p:tags r:id="rId7"/>
            </p:custDataLst>
          </p:nvPr>
        </p:nvSpPr>
        <p:spPr>
          <a:xfrm>
            <a:off x="4416552" y="1417320"/>
            <a:ext cx="320040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>
            <p:custDataLst>
              <p:tags r:id="rId8"/>
            </p:custDataLst>
          </p:nvPr>
        </p:nvSpPr>
        <p:spPr>
          <a:xfrm>
            <a:off x="4617720" y="1618488"/>
            <a:ext cx="279806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GNews search</a:t>
            </a:r>
          </a:p>
        </p:txBody>
      </p:sp>
      <p:sp>
        <p:nvSpPr>
          <p:cNvPr id="18" name="TextBox 17"/>
          <p:cNvSpPr txBox="1"/>
          <p:nvPr>
            <p:custDataLst>
              <p:tags r:id="rId9"/>
            </p:custDataLst>
          </p:nvPr>
        </p:nvSpPr>
        <p:spPr>
          <a:xfrm>
            <a:off x="4617720" y="2057400"/>
            <a:ext cx="2798064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t>Query-safe sanitation, punctuation cleanup, and length control.</a:t>
            </a:r>
          </a:p>
        </p:txBody>
      </p:sp>
      <p:sp>
        <p:nvSpPr>
          <p:cNvPr id="19" name="TextBox 18"/>
          <p:cNvSpPr txBox="1"/>
          <p:nvPr>
            <p:custDataLst>
              <p:tags r:id="rId10"/>
            </p:custDataLst>
          </p:nvPr>
        </p:nvSpPr>
        <p:spPr>
          <a:xfrm>
            <a:off x="4599432" y="1503680"/>
            <a:ext cx="8229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00" b="1" i="0">
                <a:solidFill>
                  <a:srgbClr val="FF8F00"/>
                </a:solidFill>
                <a:latin typeface="Arial" panose="020B0604020202020204"/>
              </a:defRPr>
            </a:pPr>
            <a:r>
              <a:t>STEP 02</a:t>
            </a:r>
          </a:p>
        </p:txBody>
      </p:sp>
      <p:sp>
        <p:nvSpPr>
          <p:cNvPr id="20" name="Rounded Rectangle 19"/>
          <p:cNvSpPr/>
          <p:nvPr>
            <p:custDataLst>
              <p:tags r:id="rId11"/>
            </p:custDataLst>
          </p:nvPr>
        </p:nvSpPr>
        <p:spPr>
          <a:xfrm>
            <a:off x="8147304" y="1417320"/>
            <a:ext cx="3200400" cy="19659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>
            <p:custDataLst>
              <p:tags r:id="rId12"/>
            </p:custDataLst>
          </p:nvPr>
        </p:nvSpPr>
        <p:spPr>
          <a:xfrm>
            <a:off x="8147304" y="1417320"/>
            <a:ext cx="3200400" cy="54864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>
            <p:custDataLst>
              <p:tags r:id="rId13"/>
            </p:custDataLst>
          </p:nvPr>
        </p:nvSpPr>
        <p:spPr>
          <a:xfrm>
            <a:off x="8348472" y="1618488"/>
            <a:ext cx="279806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Evidence reranking</a:t>
            </a:r>
          </a:p>
        </p:txBody>
      </p:sp>
      <p:sp>
        <p:nvSpPr>
          <p:cNvPr id="23" name="TextBox 22"/>
          <p:cNvSpPr txBox="1"/>
          <p:nvPr>
            <p:custDataLst>
              <p:tags r:id="rId14"/>
            </p:custDataLst>
          </p:nvPr>
        </p:nvSpPr>
        <p:spPr>
          <a:xfrm>
            <a:off x="8348472" y="2057400"/>
            <a:ext cx="2798064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t>Rank by lexical overlap, entities, numbers, source credibility, and deduplication.</a:t>
            </a:r>
          </a:p>
        </p:txBody>
      </p:sp>
      <p:sp>
        <p:nvSpPr>
          <p:cNvPr id="24" name="TextBox 23"/>
          <p:cNvSpPr txBox="1"/>
          <p:nvPr>
            <p:custDataLst>
              <p:tags r:id="rId15"/>
            </p:custDataLst>
          </p:nvPr>
        </p:nvSpPr>
        <p:spPr>
          <a:xfrm>
            <a:off x="8330183" y="1483360"/>
            <a:ext cx="8229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STEP 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069080"/>
            <a:ext cx="99669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25880" y="4297680"/>
            <a:ext cx="20116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Retriever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681728"/>
            <a:ext cx="9235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Top evidence candidates with title, description, content snippet, source, publication date, URL, and relevance score.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280" y="5623560"/>
            <a:ext cx="9966960" cy="384048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5742432"/>
            <a:ext cx="9509760" cy="1371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Implementation value: every sentence can be traced to the query it triggered and the evidence selected for NLI verification.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Implementation Detail 3: Fine-tuned DeBERTa-NLI Verifier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2926080" cy="96012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856231"/>
            <a:ext cx="82296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PREMISE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139696"/>
            <a:ext cx="25146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Retrieved evidence snippet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71800"/>
            <a:ext cx="2926080" cy="96012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100584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HYPOTHESIS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5576"/>
            <a:ext cx="25146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Sentence from input article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331720"/>
            <a:ext cx="3200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400" b="1" i="0">
                <a:solidFill>
                  <a:srgbClr val="5B6979"/>
                </a:solidFill>
                <a:latin typeface="Arial" panose="020B0604020202020204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246120"/>
            <a:ext cx="3200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400" b="1" i="0">
                <a:solidFill>
                  <a:srgbClr val="5B6979"/>
                </a:solidFill>
                <a:latin typeface="Arial" panose="020B0604020202020204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2057400"/>
            <a:ext cx="26974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00600" y="2331720"/>
            <a:ext cx="22402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Fine-tuned</a:t>
            </a:r>
            <a:br/>
            <a:r>
              <a:t>DeBERTa-v3 NLI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926080"/>
            <a:ext cx="22402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chunked evidence</a:t>
            </a:r>
            <a:br/>
            <a:r>
              <a:t>strongest signal</a:t>
            </a:r>
            <a:br/>
            <a:r>
              <a:t>echo discounting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606040"/>
            <a:ext cx="3200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400" b="1" i="0">
                <a:solidFill>
                  <a:srgbClr val="5B6979"/>
                </a:solidFill>
                <a:latin typeface="Arial" panose="020B0604020202020204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00200"/>
            <a:ext cx="27432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1810512"/>
            <a:ext cx="2468880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150" b="1" i="0">
                <a:solidFill>
                  <a:srgbClr val="D23741"/>
                </a:solidFill>
                <a:latin typeface="Arial" panose="020B0604020202020204"/>
              </a:defRPr>
            </a:pPr>
            <a:r>
              <a:t>Contradiction → Refuted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743200"/>
            <a:ext cx="27432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66760" y="2953512"/>
            <a:ext cx="2468880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150" b="1" i="0">
                <a:solidFill>
                  <a:srgbClr val="FF8F00"/>
                </a:solidFill>
                <a:latin typeface="Arial" panose="020B0604020202020204"/>
              </a:defRPr>
            </a:pPr>
            <a:r>
              <a:t>Neutral → NEI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886200"/>
            <a:ext cx="27432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66760" y="4096512"/>
            <a:ext cx="2468880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150" b="1" i="0">
                <a:solidFill>
                  <a:srgbClr val="279F60"/>
                </a:solidFill>
                <a:latin typeface="Arial" panose="020B0604020202020204"/>
              </a:defRPr>
            </a:pPr>
            <a:r>
              <a:t>Entailment → Supported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5349240"/>
            <a:ext cx="10287000" cy="530352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43000" y="5532120"/>
            <a:ext cx="987552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Why NLI: it models contradiction, paraphrase, and semantic relevance better than simple keyword overlap.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Implementation Detail 4: Aggregation, Interpretability, and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463040"/>
            <a:ext cx="28346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1755648"/>
            <a:ext cx="246888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Many supported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30552"/>
            <a:ext cx="24688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Likely True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463040"/>
            <a:ext cx="28346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1755648"/>
            <a:ext cx="246888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Many refuted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130552"/>
            <a:ext cx="24688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 i="0">
                <a:solidFill>
                  <a:srgbClr val="D23741"/>
                </a:solidFill>
                <a:latin typeface="Arial" panose="020B0604020202020204"/>
              </a:defRPr>
            </a:pPr>
            <a:r>
              <a:t>Likely False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1463040"/>
            <a:ext cx="28346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63840" y="1755648"/>
            <a:ext cx="246888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Mostly NEI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130552"/>
            <a:ext cx="24688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 i="0">
                <a:solidFill>
                  <a:srgbClr val="FF8F00"/>
                </a:solidFill>
                <a:latin typeface="Arial" panose="020B0604020202020204"/>
              </a:defRPr>
            </a:pPr>
            <a:r>
              <a:t>Unverified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337560"/>
            <a:ext cx="32461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3337560"/>
            <a:ext cx="3246120" cy="54864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3538728"/>
            <a:ext cx="28437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Sentiment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977639"/>
            <a:ext cx="28437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RoBERTa sentiment with VADER and keyword fallback; tone interpretation only.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79" y="3337560"/>
            <a:ext cx="32461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26279" y="3337560"/>
            <a:ext cx="3246120" cy="54864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27447" y="3538728"/>
            <a:ext cx="28437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LDA Topic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7447" y="3977639"/>
            <a:ext cx="28437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CountVectorizer + LDA with optional BERTopic; dataset exploration only.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19" y="3337560"/>
            <a:ext cx="32461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75319" y="3337560"/>
            <a:ext cx="3246120" cy="54864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6488" y="3538728"/>
            <a:ext cx="28437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Streamlit Chat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3977639"/>
            <a:ext cx="28437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Rule-based interface that triggers existing functions and caches pipeline outputs.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440680"/>
            <a:ext cx="10652760" cy="502920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60120" y="5614416"/>
            <a:ext cx="1028700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Honesty point: sentiment, topics, and chat improve usability, but they are not direct truth-verification signals.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Design: What We Tested and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08760"/>
            <a:ext cx="24231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1508760"/>
            <a:ext cx="2423160" cy="54864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6968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BERT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148839"/>
            <a:ext cx="202082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4,640 held-out samples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Test whether the classifier is a useful article-level prior.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2152" y="1508760"/>
            <a:ext cx="24231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02152" y="1508760"/>
            <a:ext cx="2423160" cy="54864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NLI verifier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148839"/>
            <a:ext cx="202082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4,500 balanced NLI test pairs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Test whether retrieved evidence can be semantically matched to claims.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1508760"/>
            <a:ext cx="24231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18504" y="1508760"/>
            <a:ext cx="242316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9672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Fine-tuning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2148839"/>
            <a:ext cx="202082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Pretrained vs fine-tuned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Measure how much domain-specific news training improves performance.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34856" y="1508760"/>
            <a:ext cx="24231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34856" y="1508760"/>
            <a:ext cx="2423160" cy="54864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36024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End-to-end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6024" y="2148839"/>
            <a:ext cx="202082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sentence → evidence → label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t>Check whether the evidence trail is understandable in a real use case.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983480"/>
            <a:ext cx="1371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Metrics used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31720" y="4864608"/>
            <a:ext cx="1143000" cy="420624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59152" y="5001768"/>
            <a:ext cx="1078992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8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Accuracy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39" y="4864608"/>
            <a:ext cx="1143000" cy="420624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76472" y="5001768"/>
            <a:ext cx="1078992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80" b="1" i="0">
                <a:solidFill>
                  <a:srgbClr val="052646"/>
                </a:solidFill>
                <a:latin typeface="Arial" panose="020B0604020202020204"/>
              </a:defRPr>
            </a:pPr>
            <a:r>
              <a:t>Precision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66360" y="4864608"/>
            <a:ext cx="1143000" cy="420624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93792" y="5001768"/>
            <a:ext cx="1078992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80" b="1" i="0">
                <a:solidFill>
                  <a:srgbClr val="052646"/>
                </a:solidFill>
                <a:latin typeface="Arial" panose="020B0604020202020204"/>
              </a:defRPr>
            </a:pPr>
            <a:r>
              <a:t>Recall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4864608"/>
            <a:ext cx="1143000" cy="420624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11112" y="5001768"/>
            <a:ext cx="1078992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8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01000" y="4864608"/>
            <a:ext cx="1143000" cy="420624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28432" y="5001768"/>
            <a:ext cx="1078992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8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18320" y="4864608"/>
            <a:ext cx="1143000" cy="420624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445752" y="5001768"/>
            <a:ext cx="1078992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8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Confusion Matrix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623560"/>
            <a:ext cx="10469880" cy="3474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97280" y="5742432"/>
            <a:ext cx="10012680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question: are the trained components reliable enough to support a practical evidence-based verification workflow?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Result 1: BERT Baseline Is Useful but Not Enough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15</a:t>
            </a:r>
          </a:p>
        </p:txBody>
      </p:sp>
      <p:pic>
        <p:nvPicPr>
          <p:cNvPr id="10" name="Picture 9" descr="bert_confusion_matrix_blue_white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73580"/>
            <a:ext cx="4663440" cy="35582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2160" y="1417320"/>
            <a:ext cx="41148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Held-out test set: 4,640 samples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874519"/>
            <a:ext cx="1691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97880" y="2057400"/>
            <a:ext cx="1600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0.8752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532887"/>
            <a:ext cx="15087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874519"/>
            <a:ext cx="1691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0" y="2057400"/>
            <a:ext cx="1600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0.9189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532887"/>
            <a:ext cx="15087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Binary F1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1874519"/>
            <a:ext cx="1691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29800" y="2057400"/>
            <a:ext cx="1600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t>0.8245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19" y="2532887"/>
            <a:ext cx="15087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337560"/>
            <a:ext cx="274320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 comparison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5212079"/>
            <a:ext cx="4937760" cy="13716"/>
          </a:xfrm>
          <a:prstGeom prst="rect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46520" y="4514372"/>
            <a:ext cx="749808" cy="697707"/>
          </a:xfrm>
          <a:prstGeom prst="rect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36792" y="4258340"/>
            <a:ext cx="96012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0.4292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303519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3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Majority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4431466"/>
            <a:ext cx="749808" cy="780613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54112" y="4175434"/>
            <a:ext cx="96012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0.4802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5303519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30" b="0" i="0">
                <a:solidFill>
                  <a:srgbClr val="5B6979"/>
                </a:solidFill>
                <a:latin typeface="Arial" panose="020B0604020202020204"/>
              </a:defRPr>
            </a:pPr>
            <a:r>
              <a:t>Untrained BERT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81160" y="3871772"/>
            <a:ext cx="749808" cy="1340307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71432" y="3615740"/>
            <a:ext cx="96012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0.8245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303519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30" b="0" i="0">
                <a:solidFill>
                  <a:srgbClr val="5B6979"/>
                </a:solidFill>
                <a:latin typeface="Arial" panose="020B0604020202020204"/>
              </a:defRPr>
            </a:pPr>
            <a:r>
              <a:t>Fine-tuned BERT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6440" y="5806440"/>
            <a:ext cx="5577840" cy="411480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89320" y="5943600"/>
            <a:ext cx="5257800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70" b="1" i="0">
                <a:solidFill>
                  <a:srgbClr val="FFFFFF"/>
                </a:solidFill>
                <a:latin typeface="Arial" panose="020B0604020202020204"/>
              </a:defRPr>
            </a:pPr>
            <a:r>
              <a:t>Interpretation: BERT improves after fine-tuning, but missed fake cases justify evidence-based verification.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Result 2: News-specific NLI Fine-tuning Is the Main Upgrade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234440"/>
            <a:ext cx="3840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Held-out test set: 4,500 balanced NLI pairs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18745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65960"/>
            <a:ext cx="1783079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t>+18.36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441448"/>
            <a:ext cx="169163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 gain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1783080"/>
            <a:ext cx="18745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79" y="1965960"/>
            <a:ext cx="1783079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0.8643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441448"/>
            <a:ext cx="169163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Fine-tuned Macro-F1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1783080"/>
            <a:ext cx="18745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1965960"/>
            <a:ext cx="1783079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0.9072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441448"/>
            <a:ext cx="169163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Entailment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310896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Overall metric comparison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Accuracy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244352"/>
            <a:ext cx="292608" cy="903719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234440" y="4001981"/>
            <a:ext cx="292608" cy="1146090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057400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Macro-P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4193438"/>
            <a:ext cx="292608" cy="954633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560320" y="4001318"/>
            <a:ext cx="292608" cy="1146753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83279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Macro-R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20439" y="4244352"/>
            <a:ext cx="292608" cy="903719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886200" y="4001981"/>
            <a:ext cx="292608" cy="1146090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09159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Macro-F1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4245545"/>
            <a:ext cx="292608" cy="902526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212080" y="4002113"/>
            <a:ext cx="292608" cy="1145958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68680" y="5687568"/>
            <a:ext cx="164592" cy="7315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78992" y="5650992"/>
            <a:ext cx="1554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 i="0">
                <a:solidFill>
                  <a:srgbClr val="5B6979"/>
                </a:solidFill>
                <a:latin typeface="Arial" panose="020B0604020202020204"/>
              </a:defRPr>
            </a:pPr>
            <a:r>
              <a:t>Original DeBERTa-v3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5687568"/>
            <a:ext cx="164592" cy="73152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999232" y="5650992"/>
            <a:ext cx="1554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 i="0">
                <a:solidFill>
                  <a:srgbClr val="5B6979"/>
                </a:solidFill>
                <a:latin typeface="Arial" panose="020B0604020202020204"/>
              </a:defRPr>
            </a:pPr>
            <a:r>
              <a:t>Fine-tuned News NLI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79" y="1417320"/>
            <a:ext cx="3749039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26679" y="1700784"/>
            <a:ext cx="329184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Per-class F1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2331720"/>
            <a:ext cx="10972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Contradiction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2377439"/>
            <a:ext cx="591982" cy="11887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961120" y="2606039"/>
            <a:ext cx="772302" cy="118872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921240" y="2395727"/>
            <a:ext cx="11430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0.647 → 0.845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18120" y="3337560"/>
            <a:ext cx="10972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Neutral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61120" y="3383279"/>
            <a:ext cx="607253" cy="11887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961120" y="3611879"/>
            <a:ext cx="769010" cy="118872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921240" y="3401568"/>
            <a:ext cx="11430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0.664 → 0.841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8120" y="4343400"/>
            <a:ext cx="10972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Entailment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120" y="4389120"/>
            <a:ext cx="668152" cy="11887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961120" y="4617720"/>
            <a:ext cx="829543" cy="118872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921240" y="4407408"/>
            <a:ext cx="11430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0.731 → 0.907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18120" y="5303520"/>
            <a:ext cx="3246120" cy="529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 i="0">
                <a:solidFill>
                  <a:srgbClr val="D23741"/>
                </a:solidFill>
                <a:latin typeface="Arial" panose="020B0604020202020204"/>
              </a:defRPr>
            </a:pPr>
            <a:r>
              <a:t>Operational takeaway: contradiction recall increased from 52.13% to 81.87%, reducing missed refuting evidence.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024896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0.6816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3856" y="3782525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93976" y="3973982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0.7200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59736" y="3781862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19856" y="4024896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0.6816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85615" y="3782525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45736" y="4026089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0.6807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1496" y="3782657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" y="5440680"/>
            <a:ext cx="4892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B6979"/>
                </a:solidFill>
              </a:defRPr>
            </a:pPr>
            <a:r>
              <a:t>Values shown above each bar: original DeBERTa-v3 vs fine-tuned News NLI.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Demo / Case Study: Make the Evidence Trail Visible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417320"/>
            <a:ext cx="3840480" cy="411480"/>
          </a:xfrm>
          <a:prstGeom prst="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1554480"/>
            <a:ext cx="3694176" cy="91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Sentence unit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417320"/>
            <a:ext cx="1920240" cy="411480"/>
          </a:xfrm>
          <a:prstGeom prst="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1554480"/>
            <a:ext cx="1773936" cy="91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Top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417320"/>
            <a:ext cx="1554480" cy="411480"/>
          </a:xfrm>
          <a:prstGeom prst="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554480"/>
            <a:ext cx="1408176" cy="91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NLI label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1417320"/>
            <a:ext cx="3154680" cy="411480"/>
          </a:xfrm>
          <a:prstGeom prst="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74152" y="1554480"/>
            <a:ext cx="3008376" cy="91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Why it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1828800"/>
            <a:ext cx="3840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993392"/>
            <a:ext cx="3657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Brockman disclosed financial ties and a nearly $30B stake.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1828800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17720" y="1993392"/>
            <a:ext cx="17373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Reuters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1828800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7960" y="1993392"/>
            <a:ext cx="1371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1" i="0">
                <a:solidFill>
                  <a:srgbClr val="279F60"/>
                </a:solidFill>
                <a:latin typeface="Arial" panose="020B0604020202020204"/>
              </a:defRPr>
            </a:pPr>
            <a:r>
              <a:t>Supported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1828800"/>
            <a:ext cx="3154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2440" y="1993392"/>
            <a:ext cx="2971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Strong evidence match for financial-interest statement.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2542032"/>
            <a:ext cx="384048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2706624"/>
            <a:ext cx="3657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Musk filed a lawsuit over the for-profit versus nonprofit issue.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26280" y="2542032"/>
            <a:ext cx="192024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17720" y="2706624"/>
            <a:ext cx="17373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Economic Times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2542032"/>
            <a:ext cx="155448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37960" y="2706624"/>
            <a:ext cx="1371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1" i="0">
                <a:solidFill>
                  <a:srgbClr val="279F60"/>
                </a:solidFill>
                <a:latin typeface="Arial" panose="020B0604020202020204"/>
              </a:defRPr>
            </a:pPr>
            <a:r>
              <a:t>Supported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01000" y="2542032"/>
            <a:ext cx="315468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92440" y="2706624"/>
            <a:ext cx="2971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Evidence directly addresses litigation context.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255264"/>
            <a:ext cx="3840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3419856"/>
            <a:ext cx="3657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The trial and ChatGPT launch happened in 2022.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26280" y="3255264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17720" y="3419856"/>
            <a:ext cx="17373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MarketScreener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3255264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37960" y="3419856"/>
            <a:ext cx="1371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1" i="0">
                <a:solidFill>
                  <a:srgbClr val="279F60"/>
                </a:solidFill>
                <a:latin typeface="Arial" panose="020B0604020202020204"/>
              </a:defRPr>
            </a:pPr>
            <a:r>
              <a:t>NEI → Supported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1000" y="3255264"/>
            <a:ext cx="3154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092440" y="3419856"/>
            <a:ext cx="2971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60" b="0" i="0">
                <a:solidFill>
                  <a:srgbClr val="5B6979"/>
                </a:solidFill>
                <a:latin typeface="Arial" panose="020B0604020202020204"/>
              </a:defRPr>
            </a:pPr>
            <a:r>
              <a:t>NLI helps avoid overreacting to unrelated numbers.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4709160"/>
            <a:ext cx="20116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Main error sources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074920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77240" y="5074920"/>
            <a:ext cx="2331720" cy="54864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8408" y="5276088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Retrieval errors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" y="5715000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related but insufficient evidence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66160" y="5074920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566160" y="5074920"/>
            <a:ext cx="2331720" cy="54864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767328" y="5276088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Snippet truncation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67328" y="5715000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weak premise quality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55079" y="5074920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355079" y="5074920"/>
            <a:ext cx="233172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56247" y="5276088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Multi-fact sentences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6247" y="5715000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one sentence contains mixed claims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43999" y="5074920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143999" y="5074920"/>
            <a:ext cx="233172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45167" y="5276088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Aggregation sensitivity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45167" y="5715000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one wrong refuted label may dominate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Future Work and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22860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6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Next improvements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1737360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6112" y="1819656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719072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Better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993391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sentence selection, reranking, and source filtering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2450591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2532887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432303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More validated NLI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706624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manual claim-evidence pairs for cleaner evaluation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3163824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3246120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145536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Confidence weighting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419856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calibrated aggregation instead of simple counting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3877056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3959352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858768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Longer verification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133088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multi-hop evidence and long article-body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1325880"/>
            <a:ext cx="5166360" cy="41148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63640" y="1645920"/>
            <a:ext cx="44805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Final message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2402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29400" y="2350008"/>
            <a:ext cx="3840480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266FB4"/>
                </a:solidFill>
                <a:latin typeface="Arial" panose="020B0604020202020204"/>
              </a:defRPr>
            </a:pPr>
            <a:r>
              <a:t>BERT prior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9260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0" y="3035808"/>
            <a:ext cx="3840480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FF8F00"/>
                </a:solidFill>
                <a:latin typeface="Arial" panose="020B0604020202020204"/>
              </a:defRPr>
            </a:pPr>
            <a:r>
              <a:t>GNews 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36118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3721608"/>
            <a:ext cx="3840480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7848DC"/>
                </a:solidFill>
                <a:latin typeface="Arial" panose="020B0604020202020204"/>
              </a:defRPr>
            </a:pPr>
            <a:r>
              <a:t>NLI reasoning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2976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29400" y="4407408"/>
            <a:ext cx="3840480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279F60"/>
                </a:solidFill>
                <a:latin typeface="Arial" panose="020B0604020202020204"/>
              </a:defRPr>
            </a:pPr>
            <a:r>
              <a:t>Explainable verdict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45075"/>
            <a:ext cx="4480560" cy="414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The system is a transparent evidence-based verification assistant, not a replacement for professional fact-checking.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806440"/>
            <a:ext cx="10378440" cy="411480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934456"/>
            <a:ext cx="9921240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1" i="0">
                <a:solidFill>
                  <a:srgbClr val="FFFFFF"/>
                </a:solidFill>
                <a:latin typeface="Arial" panose="020B0604020202020204"/>
              </a:defRPr>
            </a:pPr>
            <a:r>
              <a:t>Conclusion: evidence-backed sentence verification is more transparent than pure article-level fake/real classification.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1601</Words>
  <Application>Microsoft Macintosh PowerPoint</Application>
  <PresentationFormat>Widescreen</PresentationFormat>
  <Paragraphs>327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Zhang Yuxuan</cp:lastModifiedBy>
  <cp:revision>38</cp:revision>
  <dcterms:created xsi:type="dcterms:W3CDTF">2013-01-27T09:14:00Z</dcterms:created>
  <dcterms:modified xsi:type="dcterms:W3CDTF">2026-05-10T12:32:11Z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4CEF0E06BD024F0F8ACA6370FC369C81_13</vt:lpwstr>
  </property>
</Properties>
</file>