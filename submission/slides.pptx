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70" r:id="rId14"/>
    <p:sldId id="275" r:id="rId15"/>
    <p:sldId id="272" r:id="rId16"/>
    <p:sldId id="276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/>
    <p:restoredTop sz="94684"/>
  </p:normalViewPr>
  <p:slideViewPr>
    <p:cSldViewPr snapToGrid="0" snapToObjects="1">
      <p:cViewPr varScale="1">
        <p:scale>
          <a:sx n="146" d="100"/>
          <a:sy n="146" d="100"/>
        </p:scale>
        <p:origin x="360" y="168"/>
      </p:cViewPr>
      <p:guideLst>
        <p:guide orient="horz" pos="211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0.xml"/><Relationship Id="rId13" Type="http://schemas.openxmlformats.org/officeDocument/2006/relationships/tags" Target="../tags/tag25.xml"/><Relationship Id="rId3" Type="http://schemas.openxmlformats.org/officeDocument/2006/relationships/tags" Target="../tags/tag15.xml"/><Relationship Id="rId7" Type="http://schemas.openxmlformats.org/officeDocument/2006/relationships/tags" Target="../tags/tag19.xml"/><Relationship Id="rId12" Type="http://schemas.openxmlformats.org/officeDocument/2006/relationships/tags" Target="../tags/tag24.xml"/><Relationship Id="rId2" Type="http://schemas.openxmlformats.org/officeDocument/2006/relationships/tags" Target="../tags/tag14.xml"/><Relationship Id="rId16" Type="http://schemas.openxmlformats.org/officeDocument/2006/relationships/slideLayout" Target="../slideLayouts/slideLayout7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11" Type="http://schemas.openxmlformats.org/officeDocument/2006/relationships/tags" Target="../tags/tag23.xml"/><Relationship Id="rId5" Type="http://schemas.openxmlformats.org/officeDocument/2006/relationships/tags" Target="../tags/tag17.xml"/><Relationship Id="rId15" Type="http://schemas.openxmlformats.org/officeDocument/2006/relationships/tags" Target="../tags/tag27.xml"/><Relationship Id="rId10" Type="http://schemas.openxmlformats.org/officeDocument/2006/relationships/tags" Target="../tags/tag22.xml"/><Relationship Id="rId4" Type="http://schemas.openxmlformats.org/officeDocument/2006/relationships/tags" Target="../tags/tag16.xml"/><Relationship Id="rId9" Type="http://schemas.openxmlformats.org/officeDocument/2006/relationships/tags" Target="../tags/tag21.xml"/><Relationship Id="rId14" Type="http://schemas.openxmlformats.org/officeDocument/2006/relationships/tags" Target="../tags/tag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13" Type="http://schemas.openxmlformats.org/officeDocument/2006/relationships/tags" Target="../tags/tag40.xml"/><Relationship Id="rId18" Type="http://schemas.openxmlformats.org/officeDocument/2006/relationships/image" Target="../media/image5.png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tags" Target="../tags/tag39.xml"/><Relationship Id="rId17" Type="http://schemas.openxmlformats.org/officeDocument/2006/relationships/image" Target="../media/image4.png"/><Relationship Id="rId2" Type="http://schemas.openxmlformats.org/officeDocument/2006/relationships/tags" Target="../tags/tag29.xml"/><Relationship Id="rId16" Type="http://schemas.openxmlformats.org/officeDocument/2006/relationships/slideLayout" Target="../slideLayouts/slideLayout7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tags" Target="../tags/tag38.xml"/><Relationship Id="rId5" Type="http://schemas.openxmlformats.org/officeDocument/2006/relationships/tags" Target="../tags/tag32.xml"/><Relationship Id="rId15" Type="http://schemas.openxmlformats.org/officeDocument/2006/relationships/tags" Target="../tags/tag42.xml"/><Relationship Id="rId10" Type="http://schemas.openxmlformats.org/officeDocument/2006/relationships/tags" Target="../tags/tag37.xml"/><Relationship Id="rId19" Type="http://schemas.openxmlformats.org/officeDocument/2006/relationships/image" Target="../media/image6.png"/><Relationship Id="rId4" Type="http://schemas.openxmlformats.org/officeDocument/2006/relationships/tags" Target="../tags/tag31.xml"/><Relationship Id="rId9" Type="http://schemas.openxmlformats.org/officeDocument/2006/relationships/tags" Target="../tags/tag36.xml"/><Relationship Id="rId14" Type="http://schemas.openxmlformats.org/officeDocument/2006/relationships/tags" Target="../tags/tag4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/>
        </p:nvPicPr>
        <p:blipFill>
          <a:blip r:embed="rId3"/>
          <a:stretch>
            <a:fillRect/>
          </a:stretch>
        </p:blipFill>
        <p:spPr>
          <a:xfrm>
            <a:off x="3427095" y="891540"/>
            <a:ext cx="8764270" cy="4990465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B35">
              <a:alpha val="88000"/>
            </a:srgbClr>
          </a:solidFill>
          <a:ln w="12700">
            <a:solidFill>
              <a:srgbClr val="001B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1"/>
          <p:cNvSpPr/>
          <p:nvPr/>
        </p:nvSpPr>
        <p:spPr>
          <a:xfrm>
            <a:off x="545338" y="2658110"/>
            <a:ext cx="7805448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u="sng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FACT-BASED NEWS VERIFICATION SYSTEM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Hybrid System with BERT Classification, </a:t>
            </a:r>
            <a:r>
              <a:rPr lang="en-US" sz="3600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GNews</a:t>
            </a:r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Evidence Retrieval, and</a:t>
            </a:r>
          </a:p>
          <a:p>
            <a:r>
              <a:rPr lang="en-US" sz="36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Fine-tuned NLI Verification</a:t>
            </a:r>
          </a:p>
        </p:txBody>
      </p:sp>
      <p:sp>
        <p:nvSpPr>
          <p:cNvPr id="9" name="Text 6"/>
          <p:cNvSpPr/>
          <p:nvPr/>
        </p:nvSpPr>
        <p:spPr>
          <a:xfrm>
            <a:off x="777240" y="5504688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Group1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 Yuchen         A0326248B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Zhao Jiahui         A0329852U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BF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Yuxuan     A0285664N</a:t>
            </a:r>
          </a:p>
        </p:txBody>
      </p:sp>
      <p:sp>
        <p:nvSpPr>
          <p:cNvPr id="10" name="Text 7"/>
          <p:cNvSpPr/>
          <p:nvPr/>
        </p:nvSpPr>
        <p:spPr>
          <a:xfrm>
            <a:off x="11384280" y="6519672"/>
            <a:ext cx="320040" cy="1371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6B7F9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9751324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500" b="1" dirty="0"/>
              <a:t>Agenda: From Problem Context to Evidence-based Verification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Background &amp; Motivation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856232"/>
            <a:ext cx="2828018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fast, transparent news verification is needed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46520" y="158191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55664" y="167335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79" y="1563624"/>
            <a:ext cx="3296095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Business Problem, Objectives &amp; Scope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040879" y="1856232"/>
            <a:ext cx="3664786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Why fake/real labels are insufficient, and what the system covers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8580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868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615184"/>
            <a:ext cx="257314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Data and Evidence Resources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463040" y="2907792"/>
            <a:ext cx="3801041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 err="1"/>
              <a:t>FakeNewsNet</a:t>
            </a:r>
            <a:r>
              <a:rPr lang="en-US" sz="950" dirty="0"/>
              <a:t>-style data, factual-consistency NLI data, and </a:t>
            </a:r>
            <a:r>
              <a:rPr lang="en-US" sz="950" dirty="0" err="1"/>
              <a:t>GNews</a:t>
            </a:r>
            <a:endParaRPr dirty="0"/>
          </a:p>
        </p:txBody>
      </p:sp>
      <p:sp>
        <p:nvSpPr>
          <p:cNvPr id="25" name="Rounded Rectangle 24"/>
          <p:cNvSpPr/>
          <p:nvPr/>
        </p:nvSpPr>
        <p:spPr>
          <a:xfrm>
            <a:off x="6263640" y="246888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20" y="2633472"/>
            <a:ext cx="420624" cy="420624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272491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79" y="261518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Solution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79" y="2907792"/>
            <a:ext cx="3316934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prior + </a:t>
            </a:r>
            <a:r>
              <a:rPr lang="en-US" sz="950" dirty="0" err="1"/>
              <a:t>GNews</a:t>
            </a:r>
            <a:r>
              <a:rPr lang="en-US" sz="950" dirty="0"/>
              <a:t> retrieval + </a:t>
            </a:r>
            <a:r>
              <a:rPr lang="en-US" sz="950" dirty="0" err="1"/>
              <a:t>DeBERTa</a:t>
            </a:r>
            <a:r>
              <a:rPr lang="en-US" sz="950" dirty="0"/>
              <a:t>-NLI verification</a:t>
            </a:r>
            <a:endParaRPr dirty="0"/>
          </a:p>
        </p:txBody>
      </p:sp>
      <p:sp>
        <p:nvSpPr>
          <p:cNvPr id="30" name="Rounded Rectangle 29"/>
          <p:cNvSpPr/>
          <p:nvPr/>
        </p:nvSpPr>
        <p:spPr>
          <a:xfrm>
            <a:off x="68580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6868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66744"/>
            <a:ext cx="244515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Implementation Architecture</a:t>
            </a: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1463040" y="3959352"/>
            <a:ext cx="3980577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Runtime workflow, modules, aggregation, sentiment, topic, and chat UI</a:t>
            </a:r>
            <a:endParaRPr dirty="0"/>
          </a:p>
        </p:txBody>
      </p:sp>
      <p:sp>
        <p:nvSpPr>
          <p:cNvPr id="35" name="Rounded Rectangle 34"/>
          <p:cNvSpPr/>
          <p:nvPr/>
        </p:nvSpPr>
        <p:spPr>
          <a:xfrm>
            <a:off x="6263640" y="3520439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46520" y="3685031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55664" y="377647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79" y="366674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3959352"/>
            <a:ext cx="32800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BERT baseline, NLI fine-tuning, and metric improvements</a:t>
            </a:r>
            <a:endParaRPr dirty="0"/>
          </a:p>
        </p:txBody>
      </p:sp>
      <p:sp>
        <p:nvSpPr>
          <p:cNvPr id="40" name="Rounded Rectangle 39"/>
          <p:cNvSpPr/>
          <p:nvPr/>
        </p:nvSpPr>
        <p:spPr>
          <a:xfrm>
            <a:off x="68580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6868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718304"/>
            <a:ext cx="3044680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1300" b="1" dirty="0"/>
              <a:t>Demo / Case Study &amp; Error Analysis</a:t>
            </a:r>
            <a:endParaRPr dirty="0"/>
          </a:p>
        </p:txBody>
      </p:sp>
      <p:sp>
        <p:nvSpPr>
          <p:cNvPr id="44" name="TextBox 43"/>
          <p:cNvSpPr txBox="1"/>
          <p:nvPr/>
        </p:nvSpPr>
        <p:spPr>
          <a:xfrm>
            <a:off x="1463040" y="5010912"/>
            <a:ext cx="317907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Sentence-level evidence trail and realistic failure modes</a:t>
            </a:r>
            <a:endParaRPr dirty="0"/>
          </a:p>
        </p:txBody>
      </p:sp>
      <p:sp>
        <p:nvSpPr>
          <p:cNvPr id="45" name="Rounded Rectangle 44"/>
          <p:cNvSpPr/>
          <p:nvPr/>
        </p:nvSpPr>
        <p:spPr>
          <a:xfrm>
            <a:off x="6263640" y="4572000"/>
            <a:ext cx="516636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446520" y="4736592"/>
            <a:ext cx="420624" cy="420624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55664" y="4828032"/>
            <a:ext cx="402336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79" y="4718304"/>
            <a:ext cx="4114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&amp; Conclusion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79" y="5010912"/>
            <a:ext cx="274626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sz="950" dirty="0"/>
              <a:t>Retrieval, data, aggregation, and final takeaway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Background &amp; Motivation: The Verification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4994" y="1136269"/>
            <a:ext cx="503008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Readers need quick screening, but they also need a visible reason to trust the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430" y="1734185"/>
            <a:ext cx="2185035" cy="24066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55635" y="234442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44535" y="243014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Fast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5635" y="3002915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4535" y="308864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Unsupported facts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5635" y="366141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4535" y="3747135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Missing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5635" y="43192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4535" y="4405630"/>
            <a:ext cx="2033905" cy="12065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9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Outdated evidence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47FC9E-A92E-CD2A-A592-015B4FB8F85D}"/>
              </a:ext>
            </a:extLst>
          </p:cNvPr>
          <p:cNvGrpSpPr/>
          <p:nvPr/>
        </p:nvGrpSpPr>
        <p:grpSpPr>
          <a:xfrm>
            <a:off x="1005840" y="2097312"/>
            <a:ext cx="2697480" cy="1508760"/>
            <a:chOff x="685800" y="2880360"/>
            <a:chExt cx="2697480" cy="1508760"/>
          </a:xfrm>
        </p:grpSpPr>
        <p:sp>
          <p:nvSpPr>
            <p:cNvPr id="22" name="Rounded Rectangle 21"/>
            <p:cNvSpPr/>
            <p:nvPr/>
          </p:nvSpPr>
          <p:spPr>
            <a:xfrm>
              <a:off x="68580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85800" y="3353925"/>
              <a:ext cx="269748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490160" y="2989361"/>
              <a:ext cx="1088760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Speed gap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4870" y="3520440"/>
              <a:ext cx="233553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News spreads in minutes; checking claims manually takes much longer.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C150B24-544F-BC0E-DAB9-8DC24A9A3CA3}"/>
              </a:ext>
            </a:extLst>
          </p:cNvPr>
          <p:cNvGrpSpPr/>
          <p:nvPr/>
        </p:nvGrpSpPr>
        <p:grpSpPr>
          <a:xfrm>
            <a:off x="4023360" y="2097312"/>
            <a:ext cx="2697480" cy="1508760"/>
            <a:chOff x="3703320" y="2880360"/>
            <a:chExt cx="2697480" cy="1508760"/>
          </a:xfrm>
        </p:grpSpPr>
        <p:sp>
          <p:nvSpPr>
            <p:cNvPr id="27" name="Rounded Rectangle 26"/>
            <p:cNvSpPr/>
            <p:nvPr/>
          </p:nvSpPr>
          <p:spPr>
            <a:xfrm>
              <a:off x="3703320" y="2880360"/>
              <a:ext cx="2697480" cy="15087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03320" y="3353925"/>
              <a:ext cx="269748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557501" y="2984039"/>
              <a:ext cx="989117" cy="307777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4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Trust gap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869847" y="3524958"/>
              <a:ext cx="233553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A model score is not enough without the evidence behind it.</a:t>
              </a:r>
            </a:p>
          </p:txBody>
        </p:sp>
      </p:grpSp>
      <p:sp>
        <p:nvSpPr>
          <p:cNvPr id="32" name="Rounded Rectangle 31"/>
          <p:cNvSpPr/>
          <p:nvPr/>
        </p:nvSpPr>
        <p:spPr>
          <a:xfrm>
            <a:off x="1003935" y="4048441"/>
            <a:ext cx="2697480" cy="1508761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02030" y="4520301"/>
            <a:ext cx="269748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62797" y="4152463"/>
            <a:ext cx="979755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Style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4910" y="4705606"/>
            <a:ext cx="2335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Professional wording can still contain false, outdated, or unverifiable claims.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0820" y="4045243"/>
            <a:ext cx="269748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18915" y="4528621"/>
            <a:ext cx="269748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95524" y="4146827"/>
            <a:ext cx="1148071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Mixed truth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9887" y="4703236"/>
            <a:ext cx="2335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One article may combine supported, refuted, and insufficiently evidenced statements.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" y="5993174"/>
            <a:ext cx="10016490" cy="340796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Need</a:t>
            </a:r>
            <a:r>
              <a:rPr lang="en-US" dirty="0"/>
              <a:t>: a transparent first-pass verification assistant that links claims to evidence. </a:t>
            </a:r>
            <a:endParaRPr dirty="0"/>
          </a:p>
        </p:txBody>
      </p:sp>
      <p:sp>
        <p:nvSpPr>
          <p:cNvPr id="44" name="Rounded Rectangle 11"/>
          <p:cNvSpPr/>
          <p:nvPr/>
        </p:nvSpPr>
        <p:spPr>
          <a:xfrm>
            <a:off x="8004810" y="2097312"/>
            <a:ext cx="3013710" cy="3456691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13"/>
          <p:cNvSpPr/>
          <p:nvPr/>
        </p:nvSpPr>
        <p:spPr>
          <a:xfrm>
            <a:off x="8377555" y="2820670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Fast reporting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47" name="Rounded Rectangle 15"/>
          <p:cNvSpPr/>
          <p:nvPr/>
        </p:nvSpPr>
        <p:spPr>
          <a:xfrm>
            <a:off x="8377555" y="3470617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Unsupported facts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9" name="Rounded Rectangle 17"/>
          <p:cNvSpPr/>
          <p:nvPr/>
        </p:nvSpPr>
        <p:spPr>
          <a:xfrm>
            <a:off x="8377555" y="4120368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Missing context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51" name="Rounded Rectangle 19"/>
          <p:cNvSpPr/>
          <p:nvPr/>
        </p:nvSpPr>
        <p:spPr>
          <a:xfrm>
            <a:off x="8377555" y="4770119"/>
            <a:ext cx="2259965" cy="353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Outdated evidence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377555" y="2233692"/>
            <a:ext cx="225996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>
                <a:sym typeface="+mn-ea"/>
              </a:rPr>
              <a:t>EVIDENCE GAP</a:t>
            </a:r>
            <a:endParaRPr lang="zh-CN" altLang="en-US" dirty="0">
              <a:sym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AB9E0E-42A6-F362-1D30-51F9AFCD132E}"/>
              </a:ext>
            </a:extLst>
          </p:cNvPr>
          <p:cNvSpPr txBox="1"/>
          <p:nvPr/>
        </p:nvSpPr>
        <p:spPr>
          <a:xfrm>
            <a:off x="566927" y="1140968"/>
            <a:ext cx="5030081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Online news and social-media links spread faster than manual verification workflows. </a:t>
            </a:r>
            <a:endParaRPr dirty="0"/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2383E83A-7009-02F9-C119-BDC0715DACFB}"/>
              </a:ext>
            </a:extLst>
          </p:cNvPr>
          <p:cNvSpPr/>
          <p:nvPr/>
        </p:nvSpPr>
        <p:spPr>
          <a:xfrm>
            <a:off x="5143500" y="1299640"/>
            <a:ext cx="1451494" cy="267429"/>
          </a:xfrm>
          <a:prstGeom prst="left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Problem, Objectives &amp; Scope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4251403-DCFF-B126-0F0B-618DEF2191EA}"/>
              </a:ext>
            </a:extLst>
          </p:cNvPr>
          <p:cNvGrpSpPr/>
          <p:nvPr/>
        </p:nvGrpSpPr>
        <p:grpSpPr>
          <a:xfrm>
            <a:off x="685800" y="2550396"/>
            <a:ext cx="10812608" cy="1757208"/>
            <a:chOff x="685800" y="1990238"/>
            <a:chExt cx="10812608" cy="17572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44BD24C-619E-2278-4B8F-44C35F2AD20D}"/>
                </a:ext>
              </a:extLst>
            </p:cNvPr>
            <p:cNvGrpSpPr/>
            <p:nvPr/>
          </p:nvGrpSpPr>
          <p:grpSpPr>
            <a:xfrm>
              <a:off x="685800" y="1991798"/>
              <a:ext cx="3246120" cy="1755648"/>
              <a:chOff x="685800" y="2552735"/>
              <a:chExt cx="3246120" cy="1755648"/>
            </a:xfrm>
          </p:grpSpPr>
          <p:sp>
            <p:nvSpPr>
              <p:cNvPr id="11" name="Rounded Rectangle 10"/>
              <p:cNvSpPr/>
              <p:nvPr>
                <p:custDataLst>
                  <p:tags r:id="rId9"/>
                </p:custDataLst>
              </p:nvPr>
            </p:nvSpPr>
            <p:spPr>
              <a:xfrm>
                <a:off x="685800" y="2552735"/>
                <a:ext cx="3246120" cy="1755648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>
                <p:custDataLst>
                  <p:tags r:id="rId10"/>
                </p:custDataLst>
              </p:nvPr>
            </p:nvSpPr>
            <p:spPr>
              <a:xfrm>
                <a:off x="685800" y="3079418"/>
                <a:ext cx="3246120" cy="54864"/>
              </a:xfrm>
              <a:prstGeom prst="rect">
                <a:avLst/>
              </a:prstGeom>
              <a:solidFill>
                <a:srgbClr val="FF8F00"/>
              </a:solidFill>
              <a:ln>
                <a:solidFill>
                  <a:srgbClr val="FF8F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TextBox 13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1001611" y="2666485"/>
                <a:ext cx="2614498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DOCUMENT-LEVEL LABELS</a:t>
                </a:r>
              </a:p>
            </p:txBody>
          </p:sp>
          <p:sp>
            <p:nvSpPr>
              <p:cNvPr id="15" name="TextBox 14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58005" y="3326306"/>
                <a:ext cx="270170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 dirty="0"/>
                  <a:t>The output does not identify which sentence or claim deserves human review.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EB39273-8F51-36F8-4225-42938F959D3F}"/>
                </a:ext>
              </a:extLst>
            </p:cNvPr>
            <p:cNvGrpSpPr/>
            <p:nvPr/>
          </p:nvGrpSpPr>
          <p:grpSpPr>
            <a:xfrm>
              <a:off x="4469044" y="1990239"/>
              <a:ext cx="3246120" cy="1755648"/>
              <a:chOff x="4472787" y="2551176"/>
              <a:chExt cx="3246120" cy="1755648"/>
            </a:xfrm>
          </p:grpSpPr>
          <p:sp>
            <p:nvSpPr>
              <p:cNvPr id="16" name="Rounded Rectangle 15"/>
              <p:cNvSpPr/>
              <p:nvPr>
                <p:custDataLst>
                  <p:tags r:id="rId5"/>
                </p:custDataLst>
              </p:nvPr>
            </p:nvSpPr>
            <p:spPr>
              <a:xfrm>
                <a:off x="4472787" y="2551176"/>
                <a:ext cx="3246120" cy="1755648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Rectangle 16"/>
              <p:cNvSpPr/>
              <p:nvPr>
                <p:custDataLst>
                  <p:tags r:id="rId6"/>
                </p:custDataLst>
              </p:nvPr>
            </p:nvSpPr>
            <p:spPr>
              <a:xfrm>
                <a:off x="4472787" y="3077331"/>
                <a:ext cx="3246120" cy="54864"/>
              </a:xfrm>
              <a:prstGeom prst="rect">
                <a:avLst/>
              </a:prstGeom>
              <a:solidFill>
                <a:srgbClr val="266FB4"/>
              </a:solidFill>
              <a:ln>
                <a:solidFill>
                  <a:srgbClr val="266FB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011408" y="2666485"/>
                <a:ext cx="2169184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SHORTCUT LEARNING</a:t>
                </a:r>
              </a:p>
            </p:txBody>
          </p:sp>
          <p:sp>
            <p:nvSpPr>
              <p:cNvPr id="20" name="TextBox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788598" y="3320447"/>
                <a:ext cx="26144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dirty="0"/>
                  <a:t>Models may learn source, topic, or writing-style patterns instead of factual correctness.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EB5A04A-EE61-E7F6-C974-8536A1063200}"/>
                </a:ext>
              </a:extLst>
            </p:cNvPr>
            <p:cNvGrpSpPr/>
            <p:nvPr/>
          </p:nvGrpSpPr>
          <p:grpSpPr>
            <a:xfrm>
              <a:off x="8252288" y="1990238"/>
              <a:ext cx="3246120" cy="1755649"/>
              <a:chOff x="8275320" y="2551175"/>
              <a:chExt cx="3246120" cy="1755649"/>
            </a:xfrm>
          </p:grpSpPr>
          <p:sp>
            <p:nvSpPr>
              <p:cNvPr id="21" name="Rounded Rectangle 20"/>
              <p:cNvSpPr/>
              <p:nvPr>
                <p:custDataLst>
                  <p:tags r:id="rId1"/>
                </p:custDataLst>
              </p:nvPr>
            </p:nvSpPr>
            <p:spPr>
              <a:xfrm>
                <a:off x="8275320" y="2551175"/>
                <a:ext cx="3246120" cy="1755649"/>
              </a:xfrm>
              <a:prstGeom prst="roundRect">
                <a:avLst/>
              </a:prstGeom>
              <a:solidFill>
                <a:srgbClr val="F4F7FA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Rectangle 21"/>
              <p:cNvSpPr/>
              <p:nvPr>
                <p:custDataLst>
                  <p:tags r:id="rId2"/>
                </p:custDataLst>
              </p:nvPr>
            </p:nvSpPr>
            <p:spPr>
              <a:xfrm>
                <a:off x="8275320" y="3077331"/>
                <a:ext cx="3246120" cy="54864"/>
              </a:xfrm>
              <a:prstGeom prst="rect">
                <a:avLst/>
              </a:prstGeom>
              <a:solidFill>
                <a:srgbClr val="7848DC"/>
              </a:solidFill>
              <a:ln>
                <a:solidFill>
                  <a:srgbClr val="784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8949274" y="2664398"/>
                <a:ext cx="1898212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PRACTICAL SCOPE</a:t>
                </a:r>
              </a:p>
            </p:txBody>
          </p:sp>
          <p:sp>
            <p:nvSpPr>
              <p:cNvPr id="25" name="TextBox 24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8609546" y="3314580"/>
                <a:ext cx="26144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dirty="0"/>
                  <a:t>English text news, sentence-level evidence checking, and first-pass support/refute/NEI screening.</a:t>
                </a:r>
              </a:p>
            </p:txBody>
          </p:sp>
        </p:grpSp>
      </p:grpSp>
      <p:sp>
        <p:nvSpPr>
          <p:cNvPr id="26" name="Rounded Rectangle 25"/>
          <p:cNvSpPr/>
          <p:nvPr/>
        </p:nvSpPr>
        <p:spPr>
          <a:xfrm>
            <a:off x="685800" y="5025332"/>
            <a:ext cx="10812608" cy="579612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Objective</a:t>
            </a:r>
          </a:p>
          <a:p>
            <a:pPr algn="ctr"/>
            <a:r>
              <a:rPr lang="en-US" dirty="0"/>
              <a:t>Combine a BERT prior with </a:t>
            </a:r>
            <a:r>
              <a:rPr lang="en-US" dirty="0" err="1"/>
              <a:t>GNews</a:t>
            </a:r>
            <a:r>
              <a:rPr lang="en-US" dirty="0"/>
              <a:t> retrieval and fine-tuned NLI to produce an explainable article-level verdict.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216310-0960-EB51-E633-7C5D4E818A46}"/>
              </a:ext>
            </a:extLst>
          </p:cNvPr>
          <p:cNvSpPr txBox="1"/>
          <p:nvPr/>
        </p:nvSpPr>
        <p:spPr>
          <a:xfrm>
            <a:off x="685800" y="1453336"/>
            <a:ext cx="10812608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A fake/real classifier gives a quick document-level label, but it cannot explain which factual statements are supported, refuted, or uncertain.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8F4E31-08B6-56D1-9963-0070EA5FB8F6}"/>
              </a:ext>
            </a:extLst>
          </p:cNvPr>
          <p:cNvSpPr txBox="1"/>
          <p:nvPr/>
        </p:nvSpPr>
        <p:spPr>
          <a:xfrm>
            <a:off x="11603148" y="6519672"/>
            <a:ext cx="284052" cy="20005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0</a:t>
            </a: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12A775CB-A8D5-478C-FC07-D450673E5D37}"/>
              </a:ext>
            </a:extLst>
          </p:cNvPr>
          <p:cNvSpPr/>
          <p:nvPr/>
        </p:nvSpPr>
        <p:spPr>
          <a:xfrm>
            <a:off x="8322489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DABB431-165A-EE2E-109B-A0676FAB87ED}"/>
              </a:ext>
            </a:extLst>
          </p:cNvPr>
          <p:cNvSpPr/>
          <p:nvPr/>
        </p:nvSpPr>
        <p:spPr>
          <a:xfrm>
            <a:off x="4477398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Business Value: Faster Triage with Inspectable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6" y="1419077"/>
            <a:ext cx="10927080" cy="583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The system reduces first-pass verification effort by retrieving external evidence and showing which statements need attention before users trust or share an article.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1B61D6-4FD6-D6BE-C77E-DB19BF97969A}"/>
              </a:ext>
            </a:extLst>
          </p:cNvPr>
          <p:cNvGrpSpPr/>
          <p:nvPr/>
        </p:nvGrpSpPr>
        <p:grpSpPr>
          <a:xfrm>
            <a:off x="632306" y="2433463"/>
            <a:ext cx="10927080" cy="1560538"/>
            <a:chOff x="685800" y="1959902"/>
            <a:chExt cx="10927080" cy="156053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AB30A7E-2D40-CA23-31E7-255497B6F5EE}"/>
                </a:ext>
              </a:extLst>
            </p:cNvPr>
            <p:cNvGrpSpPr/>
            <p:nvPr/>
          </p:nvGrpSpPr>
          <p:grpSpPr>
            <a:xfrm>
              <a:off x="685800" y="1965960"/>
              <a:ext cx="2423160" cy="1554480"/>
              <a:chOff x="685800" y="1965960"/>
              <a:chExt cx="2423160" cy="155448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8580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85800" y="2483528"/>
                <a:ext cx="2423160" cy="54864"/>
              </a:xfrm>
              <a:prstGeom prst="rect">
                <a:avLst/>
              </a:prstGeom>
              <a:solidFill>
                <a:srgbClr val="266FB4"/>
              </a:solidFill>
              <a:ln>
                <a:solidFill>
                  <a:srgbClr val="266FB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122969" y="2069662"/>
                <a:ext cx="1548821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General readers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780288" y="2679896"/>
                <a:ext cx="22219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Check suspicious articles before sharing them.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9D4AC53-04BD-12DD-B7EC-D8B8BC74C4ED}"/>
                </a:ext>
              </a:extLst>
            </p:cNvPr>
            <p:cNvGrpSpPr/>
            <p:nvPr/>
          </p:nvGrpSpPr>
          <p:grpSpPr>
            <a:xfrm>
              <a:off x="3520439" y="1959902"/>
              <a:ext cx="2423161" cy="1554480"/>
              <a:chOff x="3520439" y="1965960"/>
              <a:chExt cx="2423161" cy="1554480"/>
            </a:xfrm>
          </p:grpSpPr>
          <p:sp>
            <p:nvSpPr>
              <p:cNvPr id="15" name="Rounded Rectangle 14"/>
              <p:cNvSpPr/>
              <p:nvPr/>
            </p:nvSpPr>
            <p:spPr>
              <a:xfrm>
                <a:off x="352044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520439" y="2477198"/>
                <a:ext cx="2423160" cy="54864"/>
              </a:xfrm>
              <a:prstGeom prst="rect">
                <a:avLst/>
              </a:prstGeom>
              <a:solidFill>
                <a:srgbClr val="FF8F00"/>
              </a:solidFill>
              <a:ln>
                <a:solidFill>
                  <a:srgbClr val="FF8F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4257370" y="2069662"/>
                <a:ext cx="949299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Students</a:t>
                </a: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361492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Learn the difference between style-based classification and evidence-based verification.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EB65D67-717B-96D3-30E1-6E3D3EFE1BCF}"/>
                </a:ext>
              </a:extLst>
            </p:cNvPr>
            <p:cNvGrpSpPr/>
            <p:nvPr/>
          </p:nvGrpSpPr>
          <p:grpSpPr>
            <a:xfrm>
              <a:off x="6355079" y="1965960"/>
              <a:ext cx="2423161" cy="1554480"/>
              <a:chOff x="6355079" y="1965960"/>
              <a:chExt cx="2423161" cy="155448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635508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6355079" y="2477198"/>
                <a:ext cx="2423160" cy="54864"/>
              </a:xfrm>
              <a:prstGeom prst="rect">
                <a:avLst/>
              </a:prstGeom>
              <a:solidFill>
                <a:srgbClr val="7848DC"/>
              </a:solidFill>
              <a:ln>
                <a:solidFill>
                  <a:srgbClr val="7848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6997434" y="2064893"/>
                <a:ext cx="1138452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Journalists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644956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Surface unsupported statements before deeper editorial review.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97AEED2-FC3D-8036-6D8F-6F2A85190957}"/>
                </a:ext>
              </a:extLst>
            </p:cNvPr>
            <p:cNvGrpSpPr/>
            <p:nvPr/>
          </p:nvGrpSpPr>
          <p:grpSpPr>
            <a:xfrm>
              <a:off x="9189720" y="1965960"/>
              <a:ext cx="2423160" cy="1554480"/>
              <a:chOff x="9189720" y="1965960"/>
              <a:chExt cx="2423160" cy="1554480"/>
            </a:xfrm>
          </p:grpSpPr>
          <p:sp>
            <p:nvSpPr>
              <p:cNvPr id="23" name="Rounded Rectangle 22"/>
              <p:cNvSpPr/>
              <p:nvPr/>
            </p:nvSpPr>
            <p:spPr>
              <a:xfrm>
                <a:off x="9189720" y="1965960"/>
                <a:ext cx="2423160" cy="1554480"/>
              </a:xfrm>
              <a:prstGeom prst="roundRect">
                <a:avLst/>
              </a:prstGeom>
              <a:solidFill>
                <a:srgbClr val="FFFFFF"/>
              </a:solidFill>
              <a:ln w="12700">
                <a:solidFill>
                  <a:srgbClr val="DCE2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9189720" y="2476662"/>
                <a:ext cx="2423160" cy="54864"/>
              </a:xfrm>
              <a:prstGeom prst="rect">
                <a:avLst/>
              </a:prstGeom>
              <a:solidFill>
                <a:srgbClr val="279F60"/>
              </a:solidFill>
              <a:ln>
                <a:solidFill>
                  <a:srgbClr val="279F6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771160" y="2075794"/>
                <a:ext cx="1260280" cy="307777"/>
              </a:xfrm>
              <a:prstGeom prst="rect">
                <a:avLst/>
              </a:prstGeom>
              <a:noFill/>
            </p:spPr>
            <p:txBody>
              <a:bodyPr wrap="none" anchor="t">
                <a:spAutoFit/>
              </a:bodyPr>
              <a:lstStyle/>
              <a:p>
                <a:pPr algn="ctr">
                  <a:defRPr sz="1400" b="1" i="0">
                    <a:solidFill>
                      <a:srgbClr val="052646"/>
                    </a:solidFill>
                    <a:latin typeface="Arial" panose="020B0604020202020204"/>
                  </a:defRPr>
                </a:pPr>
                <a:r>
                  <a:rPr dirty="0"/>
                  <a:t>Researchers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9284208" y="2679896"/>
                <a:ext cx="222199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050" b="0">
                    <a:solidFill>
                      <a:srgbClr val="5B6979"/>
                    </a:solidFill>
                    <a:latin typeface="Arial" panose="020B0604020202020204"/>
                  </a:defRPr>
                </a:pPr>
                <a:r>
                  <a:rPr sz="1200"/>
                  <a:t>Inspect misinformation cases, topics, sentiment, and evidence trails.</a:t>
                </a:r>
              </a:p>
            </p:txBody>
          </p:sp>
        </p:grpSp>
      </p:grpSp>
      <p:sp>
        <p:nvSpPr>
          <p:cNvPr id="27" name="Rounded Rectangle 26"/>
          <p:cNvSpPr/>
          <p:nvPr/>
        </p:nvSpPr>
        <p:spPr>
          <a:xfrm>
            <a:off x="685799" y="4547378"/>
            <a:ext cx="3236897" cy="11430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44501" y="4639038"/>
            <a:ext cx="2119491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Sentence-level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34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Users can inspect specific supported, refuted, and NEI statements.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73922" y="4639038"/>
            <a:ext cx="1643847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Traceable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2430" y="5000113"/>
            <a:ext cx="291142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Evidence shows source, date, URL, snippet, and relevance context.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6376" y="4639038"/>
            <a:ext cx="1709122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Explainable verdict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0954" y="5000113"/>
            <a:ext cx="2845894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The final article label is tied back to BERT prior plus sentence-level NLI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Proposed Solution: Hybrid Evidence-based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6BDC6C-C3F8-E80B-CAD4-4CD411F7E7B0}"/>
              </a:ext>
            </a:extLst>
          </p:cNvPr>
          <p:cNvGrpSpPr/>
          <p:nvPr/>
        </p:nvGrpSpPr>
        <p:grpSpPr>
          <a:xfrm>
            <a:off x="822959" y="2475872"/>
            <a:ext cx="10515599" cy="749808"/>
            <a:chOff x="777239" y="2554249"/>
            <a:chExt cx="10561320" cy="749808"/>
          </a:xfrm>
        </p:grpSpPr>
        <p:sp>
          <p:nvSpPr>
            <p:cNvPr id="11" name="Rounded Rectangle 10"/>
            <p:cNvSpPr/>
            <p:nvPr/>
          </p:nvSpPr>
          <p:spPr>
            <a:xfrm>
              <a:off x="77723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5039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Article input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5039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cleaned news text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1751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9067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Sentence units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9067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preserve original wording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25779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3095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GNews evidence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3095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retrieval + reranking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9807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57123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NLI verification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57123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supported / refuted / NEI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38359" y="2554249"/>
              <a:ext cx="1600200" cy="74980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05264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811511" y="2682265"/>
              <a:ext cx="1453896" cy="22860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05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Final verdict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811511" y="2947441"/>
              <a:ext cx="1453896" cy="23774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85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likely true / false / unverified</a:t>
              </a:r>
            </a:p>
          </p:txBody>
        </p:sp>
      </p:grpSp>
      <p:sp>
        <p:nvSpPr>
          <p:cNvPr id="30" name="Rounded Rectangle 29"/>
          <p:cNvSpPr/>
          <p:nvPr/>
        </p:nvSpPr>
        <p:spPr>
          <a:xfrm>
            <a:off x="82296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60" y="4425696"/>
            <a:ext cx="329184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735373" y="399977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4631159"/>
            <a:ext cx="28895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BERT is a prior, not the final judge.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434839" y="4425696"/>
            <a:ext cx="329184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7225" y="399658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6007" y="4625730"/>
            <a:ext cx="2889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 err="1"/>
              <a:t>GNews</a:t>
            </a:r>
            <a:r>
              <a:rPr sz="1200" dirty="0"/>
              <a:t> supplies live external evidence at runtime.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840480"/>
            <a:ext cx="3291840" cy="1508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46719" y="4425696"/>
            <a:ext cx="329184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59106" y="3996586"/>
            <a:ext cx="1467068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Core design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7" y="4634889"/>
            <a:ext cx="2889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Fine-tuned </a:t>
            </a:r>
            <a:r>
              <a:rPr sz="1200" dirty="0" err="1"/>
              <a:t>DeBERTa</a:t>
            </a:r>
            <a:r>
              <a:rPr sz="1200" dirty="0"/>
              <a:t>-NLI performs semantic evidence checking.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969AA9-17AF-1740-89B5-1E6A37476EC9}"/>
              </a:ext>
            </a:extLst>
          </p:cNvPr>
          <p:cNvSpPr txBox="1"/>
          <p:nvPr/>
        </p:nvSpPr>
        <p:spPr>
          <a:xfrm>
            <a:off x="822959" y="1419077"/>
            <a:ext cx="105156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The system keeps BERT as a fast article-level prior, then verifies sentence-level claims against external news evidence.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4730A50-730C-F551-684C-4756039A43C3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>
            <a:off x="2416232" y="2850776"/>
            <a:ext cx="6373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73C738C-E369-CBE6-B38F-E9A22090A508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4646814" y="2850776"/>
            <a:ext cx="6373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9D0188-CA1F-D0F0-3B26-3B7D1E143937}"/>
              </a:ext>
            </a:extLst>
          </p:cNvPr>
          <p:cNvCxnSpPr>
            <a:stCxn id="19" idx="3"/>
            <a:endCxn id="23" idx="1"/>
          </p:cNvCxnSpPr>
          <p:nvPr/>
        </p:nvCxnSpPr>
        <p:spPr>
          <a:xfrm>
            <a:off x="6877395" y="2850776"/>
            <a:ext cx="6373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E2B0812-735C-EAA9-258B-5D0D720E9B84}"/>
              </a:ext>
            </a:extLst>
          </p:cNvPr>
          <p:cNvCxnSpPr>
            <a:stCxn id="23" idx="3"/>
            <a:endCxn id="27" idx="1"/>
          </p:cNvCxnSpPr>
          <p:nvPr/>
        </p:nvCxnSpPr>
        <p:spPr>
          <a:xfrm>
            <a:off x="9107977" y="2850776"/>
            <a:ext cx="6373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System Overview: Runtime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22476" y="1933956"/>
            <a:ext cx="749808" cy="749808"/>
          </a:xfrm>
          <a:prstGeom prst="ellipse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1</a:t>
            </a:r>
            <a:endParaRPr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1098924" y="2910801"/>
            <a:ext cx="1596912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Clean &amp;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" y="3522350"/>
            <a:ext cx="200406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Normalize the article and produce a BERT fake/real prior for fast screening.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8728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375404" y="1933956"/>
            <a:ext cx="749808" cy="749808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2</a:t>
            </a:r>
            <a:endParaRPr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3947043" y="2910801"/>
            <a:ext cx="1606530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Split &amp; 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4686" y="3516089"/>
            <a:ext cx="200297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Use sentence-level search units to query </a:t>
            </a:r>
            <a:r>
              <a:rPr sz="1200" dirty="0" err="1"/>
              <a:t>GNews</a:t>
            </a:r>
            <a:r>
              <a:rPr sz="1200" dirty="0"/>
              <a:t> and collect candidate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1656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228332" y="1933956"/>
            <a:ext cx="749808" cy="749808"/>
          </a:xfrm>
          <a:prstGeom prst="ellipse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3</a:t>
            </a:r>
            <a:endParaRPr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6798881" y="2910801"/>
            <a:ext cx="1608710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 err="1"/>
              <a:t>Rerank</a:t>
            </a:r>
            <a:r>
              <a:rPr dirty="0"/>
              <a:t> &amp; 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389" y="3516089"/>
            <a:ext cx="2020387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Rank evidence by overlap, entities, numbers, and source credibility; verify with </a:t>
            </a:r>
            <a:r>
              <a:rPr sz="1200" dirty="0" err="1"/>
              <a:t>DeBERTa</a:t>
            </a:r>
            <a:r>
              <a:rPr sz="1200" dirty="0"/>
              <a:t>-NLI.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1691640"/>
            <a:ext cx="2423160" cy="30175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081260" y="1933956"/>
            <a:ext cx="749808" cy="749808"/>
          </a:xfrm>
          <a:prstGeom prst="ellipse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4</a:t>
            </a:r>
            <a:endParaRPr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9423669" y="2910801"/>
            <a:ext cx="2064989" cy="32316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Aggregate &amp; 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6451" y="3516088"/>
            <a:ext cx="2032207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Combine sentence labels with the BERT prior and show evidence, sentiment, topics, and chat output.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04472C-6BCB-4696-A46B-FE115E311922}"/>
              </a:ext>
            </a:extLst>
          </p:cNvPr>
          <p:cNvSpPr/>
          <p:nvPr/>
        </p:nvSpPr>
        <p:spPr>
          <a:xfrm>
            <a:off x="685800" y="5532120"/>
            <a:ext cx="10981944" cy="340796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Storyline</a:t>
            </a:r>
            <a:r>
              <a:rPr lang="en-US" dirty="0"/>
              <a:t>: classification gives the prior; retrieval + NLI provide the evidence trail behind the final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564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Implementation Architecture: Runtime Path and Offline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08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599165" y="5967043"/>
            <a:ext cx="10993364" cy="3385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b="1" dirty="0"/>
              <a:t>Read left to right</a:t>
            </a:r>
            <a:r>
              <a:rPr lang="en-US" altLang="zh-CN" sz="1600" dirty="0"/>
              <a:t>: </a:t>
            </a:r>
            <a:r>
              <a:rPr lang="en-US" altLang="zh-CN" sz="1600" dirty="0" err="1"/>
              <a:t>Streamlit</a:t>
            </a:r>
            <a:r>
              <a:rPr lang="en-US" altLang="zh-CN" sz="1600" dirty="0"/>
              <a:t> app -&gt; BERT prior + </a:t>
            </a:r>
            <a:r>
              <a:rPr lang="en-US" altLang="zh-CN" sz="1600" dirty="0" err="1"/>
              <a:t>GNews</a:t>
            </a:r>
            <a:r>
              <a:rPr lang="en-US" altLang="zh-CN" sz="1600" dirty="0"/>
              <a:t> evidence -&gt; </a:t>
            </a:r>
            <a:r>
              <a:rPr lang="en-US" altLang="zh-CN" sz="1600" dirty="0" err="1"/>
              <a:t>DeBERTa</a:t>
            </a:r>
            <a:r>
              <a:rPr lang="en-US" altLang="zh-CN" sz="1600" dirty="0"/>
              <a:t>-NLI sentence labels -&gt; article-level verdict.</a:t>
            </a:r>
          </a:p>
        </p:txBody>
      </p:sp>
      <p:pic>
        <p:nvPicPr>
          <p:cNvPr id="65" name="图片 64" descr="3.draw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5" y="1106424"/>
            <a:ext cx="10993364" cy="4622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Data and Evidence Resources: Separate Training Data from Live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769545"/>
            <a:ext cx="2423160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23,196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333" y="3021007"/>
            <a:ext cx="1374094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Fake/Real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510" y="3450767"/>
            <a:ext cx="203835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 err="1"/>
              <a:t>GossipCop</a:t>
            </a:r>
            <a:r>
              <a:rPr sz="1200" dirty="0"/>
              <a:t> + PolitiFact title-level examples for the BERT screening prior.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02152" y="2769545"/>
            <a:ext cx="2423160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66744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39,000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3611" y="3021007"/>
            <a:ext cx="2520242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Factual-consistency NLI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735" y="3450767"/>
            <a:ext cx="204216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30K train / 4.5K validation / 4.5K test; balanced support, refute, and NEI labels.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18504" y="2769545"/>
            <a:ext cx="2423160" cy="7315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83096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t>Live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995" y="3021007"/>
            <a:ext cx="1068178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 err="1"/>
              <a:t>GNews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450767"/>
            <a:ext cx="200596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Runtime source for external articles; not used as model training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1713413"/>
            <a:ext cx="2423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34856" y="2769545"/>
            <a:ext cx="2423160" cy="7315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2060885"/>
            <a:ext cx="21031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auxiliary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5" y="3021007"/>
            <a:ext cx="1911101" cy="2923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Claim Extraction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185" y="3450767"/>
            <a:ext cx="19939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Flan-T5 claim extraction retained as an auxiliary module with rule fallback.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406C43-DD79-73B0-9612-24599FB0A4A5}"/>
              </a:ext>
            </a:extLst>
          </p:cNvPr>
          <p:cNvSpPr/>
          <p:nvPr/>
        </p:nvSpPr>
        <p:spPr>
          <a:xfrm>
            <a:off x="685800" y="5134503"/>
            <a:ext cx="10981944" cy="335981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Important distinction: </a:t>
            </a:r>
            <a:r>
              <a:rPr lang="en-US" dirty="0"/>
              <a:t>learned models are trained offline; GNews supplies current evidence during inference.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CAF595E-97D9-191F-E825-4A60397BCBA2}"/>
              </a:ext>
            </a:extLst>
          </p:cNvPr>
          <p:cNvSpPr/>
          <p:nvPr/>
        </p:nvSpPr>
        <p:spPr>
          <a:xfrm>
            <a:off x="3162464" y="4141731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DB885CA-7084-C0C6-376C-B11D17D514A4}"/>
              </a:ext>
            </a:extLst>
          </p:cNvPr>
          <p:cNvSpPr/>
          <p:nvPr/>
        </p:nvSpPr>
        <p:spPr>
          <a:xfrm>
            <a:off x="869950" y="4135667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145ED65-01EF-A7F7-793F-FF7CABD26A5A}"/>
              </a:ext>
            </a:extLst>
          </p:cNvPr>
          <p:cNvSpPr/>
          <p:nvPr/>
        </p:nvSpPr>
        <p:spPr>
          <a:xfrm>
            <a:off x="3164244" y="2905556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3696846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Implementation Detail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536" y="1356995"/>
            <a:ext cx="5216200" cy="6771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Role in system: fast article-level screening, not final factual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35" y="2052555"/>
            <a:ext cx="5216200" cy="7155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The fake/real data are mostly title-level, so BERT estimates a prior while sentence-level truth checking is handled by GNews retrieval and NLI.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730" y="2899492"/>
            <a:ext cx="1915287" cy="1028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05031" y="3023696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0.8752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728" y="3538348"/>
            <a:ext cx="731289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7545" y="3028771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rPr dirty="0"/>
              <a:t>0.9189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5232" y="3538347"/>
            <a:ext cx="737701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Binary 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3251" y="4251423"/>
            <a:ext cx="104868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rPr dirty="0"/>
              <a:t>0.8245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71742" y="4770691"/>
            <a:ext cx="72327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Macro-F1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7825" y="4251423"/>
            <a:ext cx="984564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FF8F00"/>
                </a:solidFill>
                <a:latin typeface="Arial" panose="020B0604020202020204"/>
              </a:defRPr>
            </a:pPr>
            <a:r>
              <a:rPr dirty="0"/>
              <a:t>68.0%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349" y="4765594"/>
            <a:ext cx="851515" cy="238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Fake 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7059" y="4927331"/>
            <a:ext cx="946093" cy="22313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after fine-tuning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950" y="5614035"/>
            <a:ext cx="10944860" cy="178435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ctr">
              <a:defRPr sz="1150" b="1" i="0">
                <a:solidFill>
                  <a:srgbClr val="FFFFFF"/>
                </a:solidFill>
                <a:latin typeface="Arial" panose="020B0604020202020204"/>
              </a:defRPr>
            </a:pPr>
            <a:r>
              <a:rPr dirty="0"/>
              <a:t>Takeaway: strong enough for screening, but 368 fake items were still predicted as real, so evidence verification is necessary.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A1B42-8C0B-52DF-028D-651BF63FE1CA}"/>
              </a:ext>
            </a:extLst>
          </p:cNvPr>
          <p:cNvSpPr txBox="1"/>
          <p:nvPr/>
        </p:nvSpPr>
        <p:spPr>
          <a:xfrm>
            <a:off x="566929" y="872529"/>
            <a:ext cx="5267662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2000" dirty="0"/>
              <a:t>BERT Baseline as a Prior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E3D439-A275-6611-5C2F-DF63A4873BBF}"/>
              </a:ext>
            </a:extLst>
          </p:cNvPr>
          <p:cNvSpPr txBox="1"/>
          <p:nvPr/>
        </p:nvSpPr>
        <p:spPr>
          <a:xfrm>
            <a:off x="5834590" y="868971"/>
            <a:ext cx="5790175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2000" dirty="0"/>
              <a:t>Sentence-level </a:t>
            </a:r>
            <a:r>
              <a:rPr sz="2000" dirty="0" err="1"/>
              <a:t>GNews</a:t>
            </a:r>
            <a:r>
              <a:rPr sz="2000" dirty="0"/>
              <a:t> Retrieval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33E64C1-C2BC-533B-7CE1-7511BFD7B4D1}"/>
              </a:ext>
            </a:extLst>
          </p:cNvPr>
          <p:cNvSpPr/>
          <p:nvPr/>
        </p:nvSpPr>
        <p:spPr>
          <a:xfrm>
            <a:off x="566929" y="5409218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Takeaway: </a:t>
            </a:r>
            <a:r>
              <a:rPr lang="en-US" dirty="0"/>
              <a:t>strong enough for screening, but 368 fake items were still predicted as real, so evidence verification is necessary.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B372D-2895-7560-7989-9F5F1BAA1BEC}"/>
              </a:ext>
            </a:extLst>
          </p:cNvPr>
          <p:cNvCxnSpPr>
            <a:cxnSpLocks/>
          </p:cNvCxnSpPr>
          <p:nvPr/>
        </p:nvCxnSpPr>
        <p:spPr>
          <a:xfrm>
            <a:off x="5834590" y="1394399"/>
            <a:ext cx="0" cy="454500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080B7E3-8135-7D2D-2E34-A4314BC819DE}"/>
              </a:ext>
            </a:extLst>
          </p:cNvPr>
          <p:cNvGrpSpPr/>
          <p:nvPr/>
        </p:nvGrpSpPr>
        <p:grpSpPr>
          <a:xfrm>
            <a:off x="6243695" y="1579068"/>
            <a:ext cx="2830605" cy="1351409"/>
            <a:chOff x="685800" y="1417320"/>
            <a:chExt cx="3200400" cy="1965960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207BC915-8414-CA49-0FB2-5765C417C4F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85800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03EDFBA-2A66-20FB-00FD-81113E82440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85800" y="2151200"/>
              <a:ext cx="320040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321D6E-B540-45C8-32BC-8F246129BB39}"/>
                </a:ext>
              </a:extLst>
            </p:cNvPr>
            <p:cNvSpPr txBox="1"/>
            <p:nvPr>
              <p:custDataLst>
                <p:tags r:id="rId13"/>
              </p:custDataLst>
            </p:nvPr>
          </p:nvSpPr>
          <p:spPr>
            <a:xfrm>
              <a:off x="886968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Sentence search units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065702-D86F-CFFA-4399-D540CB14B2D5}"/>
                </a:ext>
              </a:extLst>
            </p:cNvPr>
            <p:cNvSpPr txBox="1"/>
            <p:nvPr>
              <p:custDataLst>
                <p:tags r:id="rId14"/>
              </p:custDataLst>
            </p:nvPr>
          </p:nvSpPr>
          <p:spPr>
            <a:xfrm>
              <a:off x="886968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Default to original sentence wording because claim rewriting can hurt search reliability.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869CFB-F76C-2EA5-6327-285438F43F6E}"/>
                </a:ext>
              </a:extLst>
            </p:cNvPr>
            <p:cNvSpPr txBox="1"/>
            <p:nvPr>
              <p:custDataLst>
                <p:tags r:id="rId15"/>
              </p:custDataLst>
            </p:nvPr>
          </p:nvSpPr>
          <p:spPr>
            <a:xfrm>
              <a:off x="868680" y="146304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66FB4"/>
                  </a:solidFill>
                  <a:latin typeface="Arial" panose="020B0604020202020204"/>
                </a:defRPr>
              </a:pPr>
              <a:r>
                <a:t>STEP 01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3832C8-46E6-FB60-3E2D-93B5C6D04C09}"/>
              </a:ext>
            </a:extLst>
          </p:cNvPr>
          <p:cNvGrpSpPr/>
          <p:nvPr/>
        </p:nvGrpSpPr>
        <p:grpSpPr>
          <a:xfrm>
            <a:off x="6243695" y="3132000"/>
            <a:ext cx="2830603" cy="1351409"/>
            <a:chOff x="4416552" y="1417320"/>
            <a:chExt cx="3200400" cy="1965960"/>
          </a:xfrm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C3D492C1-471B-05A4-442C-D10C346AE879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4416552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4D3F5DE-A4A9-76F3-FB77-50B8E38DC77E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4416552" y="2140606"/>
              <a:ext cx="320040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FE4CDBA-8451-64C1-6D60-F91EC7F53BC2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4617720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GNews query builder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11E5D8B-D5E2-35A6-561F-8284A10F748C}"/>
                </a:ext>
              </a:extLst>
            </p:cNvPr>
            <p:cNvSpPr txBox="1"/>
            <p:nvPr>
              <p:custDataLst>
                <p:tags r:id="rId9"/>
              </p:custDataLst>
            </p:nvPr>
          </p:nvSpPr>
          <p:spPr>
            <a:xfrm>
              <a:off x="4617720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Sanitize URLs, punctuation, length, entities, numbers, and keywords for API-safe search.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26410F1-56A7-7F9D-3C34-EFC2C1E0FE43}"/>
                </a:ext>
              </a:extLst>
            </p:cNvPr>
            <p:cNvSpPr txBox="1"/>
            <p:nvPr>
              <p:custDataLst>
                <p:tags r:id="rId10"/>
              </p:custDataLst>
            </p:nvPr>
          </p:nvSpPr>
          <p:spPr>
            <a:xfrm>
              <a:off x="4617720" y="145956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FF8F00"/>
                  </a:solidFill>
                  <a:latin typeface="Arial" panose="020B0604020202020204"/>
                </a:defRPr>
              </a:pPr>
              <a:r>
                <a:rPr dirty="0"/>
                <a:t>STEP 02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29D5D3-A5EF-3B09-C1A8-DB4E8031E1EA}"/>
              </a:ext>
            </a:extLst>
          </p:cNvPr>
          <p:cNvGrpSpPr/>
          <p:nvPr/>
        </p:nvGrpSpPr>
        <p:grpSpPr>
          <a:xfrm>
            <a:off x="6243696" y="4682310"/>
            <a:ext cx="2830603" cy="1577875"/>
            <a:chOff x="8147304" y="1417319"/>
            <a:chExt cx="3209547" cy="2295409"/>
          </a:xfrm>
        </p:grpSpPr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CA537946-3DA4-6176-C8D6-EF811511BD45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8147304" y="1417319"/>
              <a:ext cx="3200400" cy="2295409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15FE5A8-5C7C-67D1-60A6-6DBD10C655E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8156451" y="2133894"/>
              <a:ext cx="3200400" cy="54864"/>
            </a:xfrm>
            <a:prstGeom prst="rect">
              <a:avLst/>
            </a:prstGeom>
            <a:solidFill>
              <a:srgbClr val="279F60"/>
            </a:solidFill>
            <a:ln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B0C3C03-3388-1F54-D7D9-D10388B79406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8348472" y="1618488"/>
              <a:ext cx="2798064" cy="320040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Evidence reranking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82DC301-E1CD-749F-D965-02CFA4439ED5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8348472" y="2319531"/>
              <a:ext cx="279806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Rank returned titles, descriptions, and snippets by overlap, entities, numbers, source relevance, and credibility.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7B89C44-2AF2-2087-138A-65A806033ED0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8348472" y="1458468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79F60"/>
                  </a:solidFill>
                  <a:latin typeface="Arial" panose="020B0604020202020204"/>
                </a:defRPr>
              </a:pPr>
              <a:r>
                <a:rPr dirty="0"/>
                <a:t>STEP 03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6FB16951-60FC-E829-F956-D84E339210E1}"/>
              </a:ext>
            </a:extLst>
          </p:cNvPr>
          <p:cNvSpPr txBox="1"/>
          <p:nvPr/>
        </p:nvSpPr>
        <p:spPr>
          <a:xfrm>
            <a:off x="9313189" y="2678423"/>
            <a:ext cx="1760092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Retriever output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A1A279-8E73-9DB0-B1FE-DB54E3D8D24E}"/>
              </a:ext>
            </a:extLst>
          </p:cNvPr>
          <p:cNvSpPr txBox="1"/>
          <p:nvPr/>
        </p:nvSpPr>
        <p:spPr>
          <a:xfrm>
            <a:off x="9313188" y="3062471"/>
            <a:ext cx="2574011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Top evidence with title, source, date, URL, snippet, relevance score, and credibility signal.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469CE7-44D9-E838-BFF8-9F5530E4768C}"/>
              </a:ext>
            </a:extLst>
          </p:cNvPr>
          <p:cNvSpPr txBox="1"/>
          <p:nvPr/>
        </p:nvSpPr>
        <p:spPr>
          <a:xfrm>
            <a:off x="9313188" y="4044653"/>
            <a:ext cx="2234377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dirty="0"/>
              <a:t>Implementation value</a:t>
            </a:r>
            <a:endParaRPr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1874B6-2EE7-5501-3FCA-D4582B684161}"/>
              </a:ext>
            </a:extLst>
          </p:cNvPr>
          <p:cNvSpPr txBox="1"/>
          <p:nvPr/>
        </p:nvSpPr>
        <p:spPr>
          <a:xfrm>
            <a:off x="9313188" y="4430318"/>
            <a:ext cx="2574011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Every sentence can be traced from query to evidence candidate to NLI label.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4820550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Implementation Detail</a:t>
            </a:r>
            <a:r>
              <a:rPr lang="en-US" dirty="0"/>
              <a:t>s (Cont.)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1326" y="1500142"/>
            <a:ext cx="2410097" cy="658369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0316" y="1589275"/>
            <a:ext cx="704039" cy="2308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5715" y="1802959"/>
            <a:ext cx="2241319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Retrieved evidence passage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4069" y="1500142"/>
            <a:ext cx="2410097" cy="658369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059" y="1589276"/>
            <a:ext cx="928459" cy="2308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90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458" y="1802959"/>
            <a:ext cx="2012089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12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Article sentence to verify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2544A9-4E29-FA1C-4ED6-D0BA42FB77BF}"/>
              </a:ext>
            </a:extLst>
          </p:cNvPr>
          <p:cNvGrpSpPr/>
          <p:nvPr/>
        </p:nvGrpSpPr>
        <p:grpSpPr>
          <a:xfrm>
            <a:off x="2028338" y="2785011"/>
            <a:ext cx="2792104" cy="1262818"/>
            <a:chOff x="4540458" y="2057400"/>
            <a:chExt cx="2792104" cy="1600200"/>
          </a:xfrm>
        </p:grpSpPr>
        <p:sp>
          <p:nvSpPr>
            <p:cNvPr id="18" name="Rounded Rectangle 17"/>
            <p:cNvSpPr/>
            <p:nvPr/>
          </p:nvSpPr>
          <p:spPr>
            <a:xfrm>
              <a:off x="4540458" y="2057400"/>
              <a:ext cx="2792104" cy="16002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56228" y="2345684"/>
              <a:ext cx="2760563" cy="353943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ctr">
                <a:defRPr sz="17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dirty="0"/>
                <a:t>Fine-tuned </a:t>
              </a:r>
              <a:r>
                <a:rPr dirty="0" err="1"/>
                <a:t>DeBERTa</a:t>
              </a:r>
              <a:r>
                <a:rPr dirty="0"/>
                <a:t>-NLI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735814" y="2813630"/>
              <a:ext cx="2401389" cy="78483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MNLI/FEVER/ANLI checkpoint | </a:t>
              </a:r>
              <a:endParaRPr lang="en-US" dirty="0"/>
            </a:p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chunked evidence | </a:t>
              </a:r>
              <a:endParaRPr lang="en-US" dirty="0"/>
            </a:p>
            <a:p>
              <a:pPr>
                <a:defRPr sz="9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dirty="0"/>
                <a:t>strongest credibility-weighted signal</a:t>
              </a:r>
              <a:br>
                <a:rPr dirty="0"/>
              </a:br>
              <a:br>
                <a:rPr dirty="0"/>
              </a:br>
              <a:endParaRPr dirty="0"/>
            </a:p>
          </p:txBody>
        </p:sp>
      </p:grpSp>
      <p:sp>
        <p:nvSpPr>
          <p:cNvPr id="22" name="Rounded Rectangle 21"/>
          <p:cNvSpPr/>
          <p:nvPr/>
        </p:nvSpPr>
        <p:spPr>
          <a:xfrm>
            <a:off x="281686" y="4702388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42" y="4737754"/>
            <a:ext cx="1911101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D23741"/>
                </a:solidFill>
                <a:latin typeface="Arial" panose="020B0604020202020204"/>
              </a:defRPr>
            </a:pPr>
            <a:r>
              <a:t>Contradiction -&gt; Refuted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53385" y="4702388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5547" y="4737754"/>
            <a:ext cx="1157688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Neutral -&gt; NEI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5084" y="4696921"/>
            <a:ext cx="1942011" cy="3288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8555" y="4732287"/>
            <a:ext cx="1895071" cy="269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50" b="1" i="0">
                <a:solidFill>
                  <a:srgbClr val="279F60"/>
                </a:solidFill>
                <a:latin typeface="Arial" panose="020B0604020202020204"/>
              </a:defRPr>
            </a:pPr>
            <a:r>
              <a:rPr dirty="0"/>
              <a:t>Entailment -&gt; Supported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CDDE15-D11B-694D-10C0-4E046B6E59BB}"/>
              </a:ext>
            </a:extLst>
          </p:cNvPr>
          <p:cNvSpPr txBox="1"/>
          <p:nvPr/>
        </p:nvSpPr>
        <p:spPr>
          <a:xfrm>
            <a:off x="566928" y="872529"/>
            <a:ext cx="625173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000" dirty="0"/>
              <a:t>Fine-tuned </a:t>
            </a:r>
            <a:r>
              <a:rPr lang="en-US" sz="2000" dirty="0" err="1"/>
              <a:t>DeBERTa</a:t>
            </a:r>
            <a:r>
              <a:rPr lang="en-US" sz="2000" dirty="0"/>
              <a:t>-NLI Verifier</a:t>
            </a:r>
            <a:endParaRPr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763C4C-B3A7-6C4C-144F-0BD0B6CC669B}"/>
              </a:ext>
            </a:extLst>
          </p:cNvPr>
          <p:cNvSpPr txBox="1"/>
          <p:nvPr/>
        </p:nvSpPr>
        <p:spPr>
          <a:xfrm>
            <a:off x="6818659" y="868971"/>
            <a:ext cx="4806106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000" dirty="0"/>
              <a:t>Aggregation, Interpretability, and UI</a:t>
            </a:r>
            <a:endParaRPr sz="2000" dirty="0"/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951881A-A022-DBB1-6DAE-5B791BABA863}"/>
              </a:ext>
            </a:extLst>
          </p:cNvPr>
          <p:cNvCxnSpPr>
            <a:stCxn id="13" idx="2"/>
            <a:endCxn id="18" idx="0"/>
          </p:cNvCxnSpPr>
          <p:nvPr/>
        </p:nvCxnSpPr>
        <p:spPr>
          <a:xfrm rot="16200000" flipH="1">
            <a:off x="2493504" y="1854125"/>
            <a:ext cx="626500" cy="1235272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28EB7656-7553-1820-4853-45248B758FB2}"/>
              </a:ext>
            </a:extLst>
          </p:cNvPr>
          <p:cNvCxnSpPr>
            <a:stCxn id="10" idx="2"/>
            <a:endCxn id="18" idx="0"/>
          </p:cNvCxnSpPr>
          <p:nvPr/>
        </p:nvCxnSpPr>
        <p:spPr>
          <a:xfrm rot="5400000">
            <a:off x="3767133" y="1815769"/>
            <a:ext cx="626500" cy="1311985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D90A5C7D-5AB9-6354-29F4-5EAB6AFD2EF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5400000">
            <a:off x="2011262" y="3289259"/>
            <a:ext cx="654559" cy="2171698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FFBFAF1C-146B-AEBD-72C6-06A3AE0CE1E5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 rot="16200000" flipH="1">
            <a:off x="3097111" y="4375107"/>
            <a:ext cx="654559" cy="1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50E646BB-3AE8-B15E-71A1-9FB8B94EC7BA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rot="16200000" flipH="1">
            <a:off x="4185694" y="3286525"/>
            <a:ext cx="649092" cy="2171700"/>
          </a:xfrm>
          <a:prstGeom prst="bentConnector3">
            <a:avLst/>
          </a:prstGeom>
          <a:ln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67AD94E-EF03-813B-2CA5-B58F4A697729}"/>
              </a:ext>
            </a:extLst>
          </p:cNvPr>
          <p:cNvSpPr/>
          <p:nvPr/>
        </p:nvSpPr>
        <p:spPr>
          <a:xfrm>
            <a:off x="964654" y="5386845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Why NLI: </a:t>
            </a:r>
            <a:r>
              <a:rPr lang="en-US" dirty="0"/>
              <a:t>it separates support, contradiction, and insufficient evidence better than lexical overlap alone.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C9D5F62-A53D-C876-59A7-554936776525}"/>
              </a:ext>
            </a:extLst>
          </p:cNvPr>
          <p:cNvGrpSpPr/>
          <p:nvPr/>
        </p:nvGrpSpPr>
        <p:grpSpPr>
          <a:xfrm>
            <a:off x="7048345" y="1697643"/>
            <a:ext cx="1807029" cy="658369"/>
            <a:chOff x="914400" y="1463040"/>
            <a:chExt cx="2834640" cy="123444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3EE2B4AC-4016-9290-ED8B-A0AA317B829C}"/>
                </a:ext>
              </a:extLst>
            </p:cNvPr>
            <p:cNvSpPr/>
            <p:nvPr/>
          </p:nvSpPr>
          <p:spPr>
            <a:xfrm>
              <a:off x="91440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F2A71CA-BF8B-D7FF-CFF8-EA44ECF957BE}"/>
                </a:ext>
              </a:extLst>
            </p:cNvPr>
            <p:cNvSpPr txBox="1"/>
            <p:nvPr/>
          </p:nvSpPr>
          <p:spPr>
            <a:xfrm>
              <a:off x="1188589" y="1637023"/>
              <a:ext cx="2286264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Mostly supported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59E608-34E8-C53F-88C4-6012E83E1D0F}"/>
                </a:ext>
              </a:extLst>
            </p:cNvPr>
            <p:cNvSpPr txBox="1"/>
            <p:nvPr/>
          </p:nvSpPr>
          <p:spPr>
            <a:xfrm>
              <a:off x="1291083" y="1982142"/>
              <a:ext cx="2081275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279F60"/>
                  </a:solidFill>
                  <a:latin typeface="Arial" panose="020B0604020202020204"/>
                </a:defRPr>
              </a:pPr>
              <a:r>
                <a:t>Likely True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631CEA-0B6B-53C0-0DE5-17C36BAB2464}"/>
              </a:ext>
            </a:extLst>
          </p:cNvPr>
          <p:cNvGrpSpPr/>
          <p:nvPr/>
        </p:nvGrpSpPr>
        <p:grpSpPr>
          <a:xfrm>
            <a:off x="7052334" y="2927216"/>
            <a:ext cx="1807029" cy="658369"/>
            <a:chOff x="4297680" y="1463040"/>
            <a:chExt cx="2834640" cy="1234440"/>
          </a:xfrm>
        </p:grpSpPr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0672536D-DCC6-CA9C-A8CD-0A7F24B3A183}"/>
                </a:ext>
              </a:extLst>
            </p:cNvPr>
            <p:cNvSpPr/>
            <p:nvPr/>
          </p:nvSpPr>
          <p:spPr>
            <a:xfrm>
              <a:off x="429768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2374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9110251-0F29-0FF3-04D7-79389D50A333}"/>
                </a:ext>
              </a:extLst>
            </p:cNvPr>
            <p:cNvSpPr txBox="1"/>
            <p:nvPr/>
          </p:nvSpPr>
          <p:spPr>
            <a:xfrm>
              <a:off x="4804468" y="1637023"/>
              <a:ext cx="1821065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Many refuted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2E259E-E174-3E2B-899A-314E9DF5BD97}"/>
                </a:ext>
              </a:extLst>
            </p:cNvPr>
            <p:cNvSpPr txBox="1"/>
            <p:nvPr/>
          </p:nvSpPr>
          <p:spPr>
            <a:xfrm>
              <a:off x="4597014" y="1982142"/>
              <a:ext cx="2235973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D23741"/>
                  </a:solidFill>
                  <a:latin typeface="Arial" panose="020B0604020202020204"/>
                </a:defRPr>
              </a:pPr>
              <a:r>
                <a:t>Likely False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663665F-3E2A-23A9-26FD-E48A3433B57F}"/>
              </a:ext>
            </a:extLst>
          </p:cNvPr>
          <p:cNvGrpSpPr/>
          <p:nvPr/>
        </p:nvGrpSpPr>
        <p:grpSpPr>
          <a:xfrm>
            <a:off x="7046484" y="4223828"/>
            <a:ext cx="1807029" cy="658369"/>
            <a:chOff x="7680960" y="1463040"/>
            <a:chExt cx="2834640" cy="1234440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0543C326-1821-DE91-971D-3CE231E5F9B9}"/>
                </a:ext>
              </a:extLst>
            </p:cNvPr>
            <p:cNvSpPr/>
            <p:nvPr/>
          </p:nvSpPr>
          <p:spPr>
            <a:xfrm>
              <a:off x="7680960" y="1463040"/>
              <a:ext cx="2834640" cy="123444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5E8278A-D439-4538-E8CB-B23C55C0517A}"/>
                </a:ext>
              </a:extLst>
            </p:cNvPr>
            <p:cNvSpPr txBox="1"/>
            <p:nvPr/>
          </p:nvSpPr>
          <p:spPr>
            <a:xfrm>
              <a:off x="7733713" y="1637023"/>
              <a:ext cx="2729136" cy="456705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300" b="0" i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t>Weak evidence / NEI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F2CB073-00C7-8A3C-56B3-6C934D31EA97}"/>
                </a:ext>
              </a:extLst>
            </p:cNvPr>
            <p:cNvSpPr txBox="1"/>
            <p:nvPr/>
          </p:nvSpPr>
          <p:spPr>
            <a:xfrm>
              <a:off x="8116082" y="1982142"/>
              <a:ext cx="1964398" cy="552853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700" b="1" i="0">
                  <a:solidFill>
                    <a:srgbClr val="FF8F00"/>
                  </a:solidFill>
                  <a:latin typeface="Arial" panose="020B0604020202020204"/>
                </a:defRPr>
              </a:pPr>
              <a:r>
                <a:t>Unverified</a:t>
              </a:r>
            </a:p>
          </p:txBody>
        </p:sp>
      </p:grp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0E9A6E7-6539-FAD3-CD51-6FD24EFFD210}"/>
              </a:ext>
            </a:extLst>
          </p:cNvPr>
          <p:cNvCxnSpPr>
            <a:cxnSpLocks/>
          </p:cNvCxnSpPr>
          <p:nvPr/>
        </p:nvCxnSpPr>
        <p:spPr>
          <a:xfrm>
            <a:off x="6818659" y="1402105"/>
            <a:ext cx="0" cy="454500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FE0AE3E-00F0-BEED-3561-A1C613767DE0}"/>
              </a:ext>
            </a:extLst>
          </p:cNvPr>
          <p:cNvGrpSpPr/>
          <p:nvPr/>
        </p:nvGrpSpPr>
        <p:grpSpPr>
          <a:xfrm>
            <a:off x="9175940" y="1491580"/>
            <a:ext cx="2797011" cy="1070494"/>
            <a:chOff x="9175940" y="1746731"/>
            <a:chExt cx="2797011" cy="1070494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98291115-7980-F51B-8816-8A94638E6B6E}"/>
                </a:ext>
              </a:extLst>
            </p:cNvPr>
            <p:cNvSpPr/>
            <p:nvPr/>
          </p:nvSpPr>
          <p:spPr>
            <a:xfrm>
              <a:off x="9175941" y="1746731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BA1AEBD-6317-0161-3766-85955C9616D8}"/>
                </a:ext>
              </a:extLst>
            </p:cNvPr>
            <p:cNvSpPr/>
            <p:nvPr/>
          </p:nvSpPr>
          <p:spPr>
            <a:xfrm>
              <a:off x="9175940" y="2080265"/>
              <a:ext cx="2797010" cy="47534"/>
            </a:xfrm>
            <a:prstGeom prst="rect">
              <a:avLst/>
            </a:prstGeom>
            <a:solidFill>
              <a:srgbClr val="279F60"/>
            </a:solidFill>
            <a:ln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6D4DDEB-25FC-5282-1AAC-515149610723}"/>
                </a:ext>
              </a:extLst>
            </p:cNvPr>
            <p:cNvSpPr txBox="1"/>
            <p:nvPr/>
          </p:nvSpPr>
          <p:spPr>
            <a:xfrm>
              <a:off x="9349277" y="1763565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Sentiment Analysis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432415F-3D7E-8A35-EC6C-ABDE0BA93A87}"/>
                </a:ext>
              </a:extLst>
            </p:cNvPr>
            <p:cNvSpPr txBox="1"/>
            <p:nvPr/>
          </p:nvSpPr>
          <p:spPr>
            <a:xfrm>
              <a:off x="9349277" y="2181556"/>
              <a:ext cx="2450338" cy="5599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RoBERTa sentiment with VADER fallback; tone display only, not a truth signal.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A186618-CC02-E5EE-B62A-F587FF2FFE97}"/>
              </a:ext>
            </a:extLst>
          </p:cNvPr>
          <p:cNvGrpSpPr/>
          <p:nvPr/>
        </p:nvGrpSpPr>
        <p:grpSpPr>
          <a:xfrm>
            <a:off x="9175940" y="2728336"/>
            <a:ext cx="2797010" cy="1070494"/>
            <a:chOff x="9175941" y="3364832"/>
            <a:chExt cx="2797010" cy="1070494"/>
          </a:xfrm>
        </p:grpSpPr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28DB0C0C-B801-C017-0A1E-5AC959AFC382}"/>
                </a:ext>
              </a:extLst>
            </p:cNvPr>
            <p:cNvSpPr/>
            <p:nvPr/>
          </p:nvSpPr>
          <p:spPr>
            <a:xfrm>
              <a:off x="9175941" y="3364832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9E65E5D-A9A2-0B91-9A63-05A114C6FE14}"/>
                </a:ext>
              </a:extLst>
            </p:cNvPr>
            <p:cNvSpPr/>
            <p:nvPr/>
          </p:nvSpPr>
          <p:spPr>
            <a:xfrm>
              <a:off x="9175941" y="3701384"/>
              <a:ext cx="2797010" cy="47534"/>
            </a:xfrm>
            <a:prstGeom prst="rect">
              <a:avLst/>
            </a:prstGeom>
            <a:solidFill>
              <a:srgbClr val="7848DC"/>
            </a:solidFill>
            <a:ln>
              <a:solidFill>
                <a:srgbClr val="7848D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A1E9079-0089-B31B-F1AD-FD44F885FC4E}"/>
                </a:ext>
              </a:extLst>
            </p:cNvPr>
            <p:cNvSpPr txBox="1"/>
            <p:nvPr/>
          </p:nvSpPr>
          <p:spPr>
            <a:xfrm>
              <a:off x="9349277" y="3381666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Topic Analysis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803A9DC-8F28-8216-1B55-10D902FE9928}"/>
                </a:ext>
              </a:extLst>
            </p:cNvPr>
            <p:cNvSpPr txBox="1"/>
            <p:nvPr/>
          </p:nvSpPr>
          <p:spPr>
            <a:xfrm>
              <a:off x="9349277" y="3799657"/>
              <a:ext cx="2450338" cy="3999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 dirty="0"/>
                <a:t>LDA with optional </a:t>
              </a:r>
              <a:r>
                <a:rPr sz="1200" dirty="0" err="1"/>
                <a:t>BERTopic</a:t>
              </a:r>
              <a:r>
                <a:rPr sz="1200" dirty="0"/>
                <a:t> for dataset exploration and article-topic inspection.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E4FE37-4880-3CB3-DB86-62CF00C015E8}"/>
              </a:ext>
            </a:extLst>
          </p:cNvPr>
          <p:cNvGrpSpPr/>
          <p:nvPr/>
        </p:nvGrpSpPr>
        <p:grpSpPr>
          <a:xfrm>
            <a:off x="9175940" y="3965436"/>
            <a:ext cx="2797010" cy="1070494"/>
            <a:chOff x="9175941" y="5001591"/>
            <a:chExt cx="2797010" cy="1070494"/>
          </a:xfrm>
        </p:grpSpPr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98F5A120-906B-44F6-0B53-89E9846AF0B2}"/>
                </a:ext>
              </a:extLst>
            </p:cNvPr>
            <p:cNvSpPr/>
            <p:nvPr/>
          </p:nvSpPr>
          <p:spPr>
            <a:xfrm>
              <a:off x="9175941" y="5001591"/>
              <a:ext cx="2797010" cy="1070494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84672B7-9830-E56E-B5C1-5CCFB5494970}"/>
                </a:ext>
              </a:extLst>
            </p:cNvPr>
            <p:cNvSpPr/>
            <p:nvPr/>
          </p:nvSpPr>
          <p:spPr>
            <a:xfrm>
              <a:off x="9175941" y="5335125"/>
              <a:ext cx="2797010" cy="4753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EC617AF-73B9-A86C-656E-E933D5499F3A}"/>
                </a:ext>
              </a:extLst>
            </p:cNvPr>
            <p:cNvSpPr txBox="1"/>
            <p:nvPr/>
          </p:nvSpPr>
          <p:spPr>
            <a:xfrm>
              <a:off x="9349278" y="5018425"/>
              <a:ext cx="2450338" cy="277279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3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t>Streamlit Chat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00315DA-7564-4675-29C3-00BA1937B771}"/>
                </a:ext>
              </a:extLst>
            </p:cNvPr>
            <p:cNvSpPr txBox="1"/>
            <p:nvPr/>
          </p:nvSpPr>
          <p:spPr>
            <a:xfrm>
              <a:off x="9349278" y="5436416"/>
              <a:ext cx="2450338" cy="5599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sz="1200"/>
                <a:t>Rule-based chat interface reuses cached pipeline results from the verification workflow.</a:t>
              </a:r>
            </a:p>
          </p:txBody>
        </p:sp>
      </p:grp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4070F04B-C456-F68B-74B9-D0ADAE0EEC22}"/>
              </a:ext>
            </a:extLst>
          </p:cNvPr>
          <p:cNvSpPr/>
          <p:nvPr/>
        </p:nvSpPr>
        <p:spPr>
          <a:xfrm>
            <a:off x="7070224" y="5386845"/>
            <a:ext cx="4919472" cy="85096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Honesty point: </a:t>
            </a:r>
            <a:r>
              <a:rPr lang="en-US" dirty="0"/>
              <a:t>sentiment, topics, and chat improve usability; the factual verdict comes from BERT prior plus sentence-level NLI labels.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Design: What We Tested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093975"/>
            <a:ext cx="2423160" cy="54864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BERT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383970"/>
            <a:ext cx="2020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4,640 held-out samples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Test whether the classifier is a useful article-level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2152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2093975"/>
            <a:ext cx="2423160" cy="54864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NLI verifier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83970"/>
            <a:ext cx="20208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4,500 balanced NLI test pairs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 dirty="0"/>
              <a:t>Test whether retrieved evidence can be semantically matched to claims.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18504" y="2092887"/>
            <a:ext cx="242316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Fine-tuning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383970"/>
            <a:ext cx="20208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Pretrained vs fine-tuned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Measure how much domain-specific news training improves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1508760"/>
            <a:ext cx="2423160" cy="22881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34856" y="2092887"/>
            <a:ext cx="2423160" cy="54864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36024" y="1709928"/>
            <a:ext cx="202082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End-to-end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4" y="2383970"/>
            <a:ext cx="20208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sentence → evidence → label</a:t>
            </a:r>
          </a:p>
          <a:p>
            <a:pPr>
              <a:defRPr sz="1000" b="0">
                <a:solidFill>
                  <a:srgbClr val="5B6979"/>
                </a:solidFill>
                <a:latin typeface="Arial" panose="020B0604020202020204"/>
              </a:defRPr>
            </a:pPr>
            <a:r>
              <a:rPr sz="1200"/>
              <a:t>Check whether the evidence trail is understandable in a real use case.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1135" y="4556360"/>
            <a:ext cx="1267098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dirty="0"/>
              <a:t>Metrics used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8892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Accuracy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206240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Precision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62356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Recall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04088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45820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Macro F1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875521" y="4434842"/>
            <a:ext cx="1267098" cy="54864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Confusion Matrix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4619A1A-F881-49A0-9517-19CB19354F21}"/>
              </a:ext>
            </a:extLst>
          </p:cNvPr>
          <p:cNvSpPr/>
          <p:nvPr/>
        </p:nvSpPr>
        <p:spPr>
          <a:xfrm>
            <a:off x="685800" y="5491556"/>
            <a:ext cx="10981944" cy="548640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Evaluation question</a:t>
            </a:r>
          </a:p>
          <a:p>
            <a:pPr algn="ctr"/>
            <a:r>
              <a:rPr lang="en-US" dirty="0"/>
              <a:t>Are the trained components reliable enough to support a practical evidence-based verification workflow?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1: BERT Baseline Is Useful but Not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15</a:t>
            </a:r>
          </a:p>
        </p:txBody>
      </p:sp>
      <p:pic>
        <p:nvPicPr>
          <p:cNvPr id="10" name="Picture 9" descr="bert_confusion_matrix_blue_white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4663440" cy="35582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4,640 samples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66FB4"/>
                </a:solidFill>
                <a:latin typeface="Arial" panose="020B0604020202020204"/>
              </a:defRPr>
            </a:pPr>
            <a:r>
              <a:t>0.8752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Binary F1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1874519"/>
            <a:ext cx="1691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29800" y="2057400"/>
            <a:ext cx="1600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19" y="2532887"/>
            <a:ext cx="15087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337560"/>
            <a:ext cx="274320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comparison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212079"/>
            <a:ext cx="4937760" cy="13716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46520" y="4514372"/>
            <a:ext cx="749808" cy="697707"/>
          </a:xfrm>
          <a:prstGeom prst="rect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42583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0.4292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Majority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4431466"/>
            <a:ext cx="749808" cy="78061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54112" y="4175434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0.4802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Untrained BERT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3871772"/>
            <a:ext cx="749808" cy="1340307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615740"/>
            <a:ext cx="96012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0.8245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303519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3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BERT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5771604"/>
            <a:ext cx="5577840" cy="572698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Interpretation</a:t>
            </a:r>
            <a:r>
              <a:rPr lang="en-US" dirty="0"/>
              <a:t>: BERT improves after fine-tuning, but missed fake cases justify evidence-based 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Evaluation Result 2: News-specific NLI Fine-tuning Is the Main Upgrade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Held-out test set: 4,500 balanced NLI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7848DC"/>
                </a:solidFill>
                <a:latin typeface="Arial" panose="020B0604020202020204"/>
              </a:defRPr>
            </a:pPr>
            <a:r>
              <a:t>+18.36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Macro-F1 gain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79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0.8643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Fine-tuned Macro-F1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1783080"/>
            <a:ext cx="18745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965960"/>
            <a:ext cx="1783079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200" b="1" i="0">
                <a:solidFill>
                  <a:srgbClr val="279F60"/>
                </a:solidFill>
                <a:latin typeface="Arial" panose="020B0604020202020204"/>
              </a:defRPr>
            </a:pPr>
            <a:r>
              <a:t>0.9072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441448"/>
            <a:ext cx="169163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31089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Overall metric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23444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57400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93438"/>
            <a:ext cx="292608" cy="954633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560320" y="4001318"/>
            <a:ext cx="292608" cy="1146753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8327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39" y="4244352"/>
            <a:ext cx="292608" cy="903719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886200" y="4001981"/>
            <a:ext cx="292608" cy="1146090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59" y="5330952"/>
            <a:ext cx="1051560" cy="146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72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Macro-F1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4245545"/>
            <a:ext cx="292608" cy="902526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212080" y="4002113"/>
            <a:ext cx="292608" cy="1145958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68680" y="5687568"/>
            <a:ext cx="164592" cy="7315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Original DeBERTa-v3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5687568"/>
            <a:ext cx="164592" cy="73152"/>
          </a:xfrm>
          <a:prstGeom prst="rect">
            <a:avLst/>
          </a:prstGeom>
          <a:solidFill>
            <a:srgbClr val="7848DC"/>
          </a:solidFill>
          <a:ln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99232" y="5650992"/>
            <a:ext cx="1554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 i="0">
                <a:solidFill>
                  <a:srgbClr val="5B6979"/>
                </a:solidFill>
                <a:latin typeface="Arial" panose="020B0604020202020204"/>
              </a:defRPr>
            </a:pPr>
            <a:r>
              <a:t>Fine-tuned News NLI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417320"/>
            <a:ext cx="3749039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26679" y="1700784"/>
            <a:ext cx="329184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Per-class F1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233172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Contradiction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377439"/>
            <a:ext cx="59198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961120" y="2606039"/>
            <a:ext cx="772302" cy="118872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21240" y="2395727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0.647 → 0.845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333756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Neutral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3383279"/>
            <a:ext cx="607253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961120" y="3611879"/>
            <a:ext cx="769010" cy="11887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21240" y="340156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0.664 → 0.841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4343400"/>
            <a:ext cx="10972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Entailment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4389120"/>
            <a:ext cx="668152" cy="118872"/>
          </a:xfrm>
          <a:prstGeom prst="rect">
            <a:avLst/>
          </a:prstGeom>
          <a:solidFill>
            <a:srgbClr val="266FB4"/>
          </a:solidFill>
          <a:ln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61120" y="4617720"/>
            <a:ext cx="829543" cy="118872"/>
          </a:xfrm>
          <a:prstGeom prst="rect">
            <a:avLst/>
          </a:prstGeom>
          <a:solidFill>
            <a:srgbClr val="279F60"/>
          </a:solidFill>
          <a:ln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921240" y="4407408"/>
            <a:ext cx="114300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0.731 → 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5077095"/>
            <a:ext cx="3337561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50" b="1" i="0">
                <a:solidFill>
                  <a:srgbClr val="D23741"/>
                </a:solidFill>
                <a:latin typeface="Arial" panose="020B0604020202020204"/>
              </a:defRPr>
            </a:pPr>
            <a:r>
              <a:rPr sz="1200"/>
              <a:t>Operational takeaway: contradiction recall increased from 52.13% to 81.87%, reducing missed refuting evidence.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93976" y="397398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0.7200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59736" y="3781862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19856" y="4024896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85615" y="3782525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5736" y="4026089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266FB4"/>
                </a:solidFill>
              </a:defRPr>
            </a:pPr>
            <a:r>
              <a:t>0.6807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1496" y="3782657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 b="1">
                <a:solidFill>
                  <a:srgbClr val="7848DC"/>
                </a:solidFill>
              </a:defRPr>
            </a:pPr>
            <a:r>
              <a:t>0.8643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5440680"/>
            <a:ext cx="4892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B6979"/>
                </a:solidFill>
              </a:defRPr>
            </a:pPr>
            <a:r>
              <a:t>Values shown above each bar: original DeBERTa-v3 vs fine-tuned News NLI.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8860695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500" b="1" dirty="0"/>
              <a:t>Illustrative Case Study: Making the Evidence Trail Visible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500152"/>
            <a:ext cx="20116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Main error sources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4865912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77240" y="5388425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5067080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Retrieval errors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5505992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related but insufficient evidence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66160" y="4865912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566160" y="5388425"/>
            <a:ext cx="2331720" cy="54864"/>
          </a:xfrm>
          <a:prstGeom prst="rect">
            <a:avLst/>
          </a:prstGeom>
          <a:solidFill>
            <a:srgbClr val="D23741"/>
          </a:solidFill>
          <a:ln>
            <a:solidFill>
              <a:srgbClr val="D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67328" y="5067080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Snippet truncation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5505992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weak premise quality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55079" y="4865912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55079" y="5388425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56247" y="5067080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Multi-fact sentences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6247" y="5505992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sentence contains mixed claims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3999" y="4865912"/>
            <a:ext cx="2331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143999" y="5388425"/>
            <a:ext cx="2331720" cy="54864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45167" y="5067080"/>
            <a:ext cx="1929384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0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Aggregation sensitivity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7" y="5505992"/>
            <a:ext cx="192938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5B6979"/>
                </a:solidFill>
                <a:latin typeface="Arial" panose="020B0604020202020204"/>
              </a:defRPr>
            </a:pPr>
            <a:r>
              <a:t>one wrong refuted label may dominate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928A22-8E1A-DCA1-19FF-686512E9F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759098"/>
              </p:ext>
            </p:extLst>
          </p:nvPr>
        </p:nvGraphicFramePr>
        <p:xfrm>
          <a:off x="777240" y="1631696"/>
          <a:ext cx="10698480" cy="229108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3437710">
                  <a:extLst>
                    <a:ext uri="{9D8B030D-6E8A-4147-A177-3AD203B41FA5}">
                      <a16:colId xmlns:a16="http://schemas.microsoft.com/office/drawing/2014/main" val="1638427238"/>
                    </a:ext>
                  </a:extLst>
                </a:gridCol>
                <a:gridCol w="1911530">
                  <a:extLst>
                    <a:ext uri="{9D8B030D-6E8A-4147-A177-3AD203B41FA5}">
                      <a16:colId xmlns:a16="http://schemas.microsoft.com/office/drawing/2014/main" val="2179431289"/>
                    </a:ext>
                  </a:extLst>
                </a:gridCol>
                <a:gridCol w="1911532">
                  <a:extLst>
                    <a:ext uri="{9D8B030D-6E8A-4147-A177-3AD203B41FA5}">
                      <a16:colId xmlns:a16="http://schemas.microsoft.com/office/drawing/2014/main" val="1547524314"/>
                    </a:ext>
                  </a:extLst>
                </a:gridCol>
                <a:gridCol w="3437708">
                  <a:extLst>
                    <a:ext uri="{9D8B030D-6E8A-4147-A177-3AD203B41FA5}">
                      <a16:colId xmlns:a16="http://schemas.microsoft.com/office/drawing/2014/main" val="36206116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N" dirty="0"/>
                        <a:t>Sentence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Top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NLI 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Why it matters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15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N" dirty="0"/>
                        <a:t>Brockman disclosed financial ties and a nearly $30B stake.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Reuters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>
                          <a:solidFill>
                            <a:srgbClr val="00B050"/>
                          </a:solidFill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Strong evidence match for financial-interest statement.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72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N" dirty="0"/>
                        <a:t>Musk filed a lawsuit over the for-profit versus nonprofit issue.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Economic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>
                          <a:solidFill>
                            <a:srgbClr val="00B050"/>
                          </a:solidFill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Evidence directly addresses litigation context.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916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N" dirty="0"/>
                        <a:t>The trial and ChatGPT launch happened in 2022.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MarketScreener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>
                          <a:solidFill>
                            <a:srgbClr val="00B050"/>
                          </a:solidFill>
                        </a:rPr>
                        <a:t>NEI →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NLI helps avoid overreacting to unrelated numbers.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55468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F9EE2-8872-50B1-DAB7-9F08FB82E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505340E-7561-0183-249C-BE3BEF1A747A}"/>
              </a:ext>
            </a:extLst>
          </p:cNvPr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D3B563-3223-75D8-3788-67CC670A9E56}"/>
              </a:ext>
            </a:extLst>
          </p:cNvPr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217149-F712-AEB3-01B9-B38D05FF44CE}"/>
              </a:ext>
            </a:extLst>
          </p:cNvPr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AD66DC-8851-D4A6-1EAF-A4C564B923D7}"/>
              </a:ext>
            </a:extLst>
          </p:cNvPr>
          <p:cNvSpPr txBox="1"/>
          <p:nvPr/>
        </p:nvSpPr>
        <p:spPr>
          <a:xfrm>
            <a:off x="566928" y="320040"/>
            <a:ext cx="7047057" cy="47705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lang="en-US" sz="2500" b="1" dirty="0"/>
              <a:t>Demo: End-to-end Evidence Trail in </a:t>
            </a:r>
            <a:r>
              <a:rPr lang="en-US" sz="2500" b="1" dirty="0" err="1"/>
              <a:t>Streamlit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B2B754-2FC1-0772-C4FF-30EE2AB7794F}"/>
              </a:ext>
            </a:extLst>
          </p:cNvPr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8D78F69-E447-8B20-168D-A851D66160CA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4357"/>
          <a:stretch>
            <a:fillRect/>
          </a:stretch>
        </p:blipFill>
        <p:spPr>
          <a:xfrm>
            <a:off x="8145068" y="1554450"/>
            <a:ext cx="3353340" cy="31602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020AA6-67B2-27F1-1611-BA99177B622F}"/>
              </a:ext>
            </a:extLst>
          </p:cNvPr>
          <p:cNvSpPr txBox="1"/>
          <p:nvPr/>
        </p:nvSpPr>
        <p:spPr>
          <a:xfrm>
            <a:off x="685800" y="922108"/>
            <a:ext cx="10812608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lang="en-US" dirty="0"/>
              <a:t>A single article run shows how the app moves from input and BERT prior to sentence-level evidence, final verdict, sentiment, and chat interaction.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286C67-619A-726B-67B8-67D043F8630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801" y="2165426"/>
            <a:ext cx="3353340" cy="254924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512DCA-8B32-36E8-E8D0-06C1CED0798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415434" y="1554450"/>
            <a:ext cx="3353340" cy="31602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CE37FE3-1B2E-A77D-79A8-A24E1AEA4478}"/>
              </a:ext>
            </a:extLst>
          </p:cNvPr>
          <p:cNvGrpSpPr/>
          <p:nvPr/>
        </p:nvGrpSpPr>
        <p:grpSpPr>
          <a:xfrm>
            <a:off x="685800" y="4884484"/>
            <a:ext cx="3353341" cy="1451182"/>
            <a:chOff x="685800" y="1417320"/>
            <a:chExt cx="3200400" cy="2111104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BCF78283-BD36-DFC0-27A7-453541960951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85800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96ED39F-7EDF-6BB0-CC68-F54C2F308D6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85800" y="2151200"/>
              <a:ext cx="3200400" cy="54864"/>
            </a:xfrm>
            <a:prstGeom prst="rect">
              <a:avLst/>
            </a:prstGeom>
            <a:solidFill>
              <a:srgbClr val="266FB4"/>
            </a:solidFill>
            <a:ln>
              <a:solidFill>
                <a:srgbClr val="266F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4AFDA99-2D53-8482-847C-8403CAE01A27}"/>
                </a:ext>
              </a:extLst>
            </p:cNvPr>
            <p:cNvSpPr txBox="1"/>
            <p:nvPr>
              <p:custDataLst>
                <p:tags r:id="rId13"/>
              </p:custDataLst>
            </p:nvPr>
          </p:nvSpPr>
          <p:spPr>
            <a:xfrm>
              <a:off x="886968" y="1618488"/>
              <a:ext cx="2436258" cy="47012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lang="en-US" dirty="0"/>
                <a:t>Article input + verdict</a:t>
              </a:r>
              <a:endParaRPr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A137B75-3790-C419-34FD-7218E9B39D54}"/>
                </a:ext>
              </a:extLst>
            </p:cNvPr>
            <p:cNvSpPr txBox="1"/>
            <p:nvPr>
              <p:custDataLst>
                <p:tags r:id="rId14"/>
              </p:custDataLst>
            </p:nvPr>
          </p:nvSpPr>
          <p:spPr>
            <a:xfrm>
              <a:off x="886968" y="2319532"/>
              <a:ext cx="2798065" cy="12088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lang="en-US" sz="1200" dirty="0"/>
                <a:t>The app returns Likely True, confidence, supported/refuted/NEI counts, and media sentiment. </a:t>
              </a:r>
              <a:endParaRPr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9EA7E1C-CA62-C9B9-6795-88AF4F632B01}"/>
                </a:ext>
              </a:extLst>
            </p:cNvPr>
            <p:cNvSpPr txBox="1"/>
            <p:nvPr>
              <p:custDataLst>
                <p:tags r:id="rId15"/>
              </p:custDataLst>
            </p:nvPr>
          </p:nvSpPr>
          <p:spPr>
            <a:xfrm>
              <a:off x="868680" y="146304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66FB4"/>
                  </a:solidFill>
                  <a:latin typeface="Arial" panose="020B0604020202020204"/>
                </a:defRPr>
              </a:pPr>
              <a:r>
                <a:t>STEP 01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57D7634-B744-5042-DFB3-DBC9BEBA3590}"/>
              </a:ext>
            </a:extLst>
          </p:cNvPr>
          <p:cNvGrpSpPr/>
          <p:nvPr/>
        </p:nvGrpSpPr>
        <p:grpSpPr>
          <a:xfrm>
            <a:off x="4415434" y="4884484"/>
            <a:ext cx="3353340" cy="1351409"/>
            <a:chOff x="4416552" y="1417320"/>
            <a:chExt cx="3200400" cy="196596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E7219D1-E36E-5A96-D2E5-B27D6E91522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4416552" y="1417320"/>
              <a:ext cx="3200400" cy="1965960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7D9BA36-B640-2A39-0664-B69BD84EBDD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4416552" y="2140606"/>
              <a:ext cx="3200400" cy="54864"/>
            </a:xfrm>
            <a:prstGeom prst="rect">
              <a:avLst/>
            </a:prstGeom>
            <a:solidFill>
              <a:srgbClr val="FF8F00"/>
            </a:solidFill>
            <a:ln>
              <a:solidFill>
                <a:srgbClr val="FF8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DCB8637-7BB0-8DAE-4C3F-F03F3C7F87E8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4617720" y="1618488"/>
              <a:ext cx="2299735" cy="470124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lang="en-US" dirty="0"/>
                <a:t>Sentence-level evidence</a:t>
              </a:r>
              <a:endParaRPr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306CE0-FF60-A7DC-18EC-0DBFE0838FF7}"/>
                </a:ext>
              </a:extLst>
            </p:cNvPr>
            <p:cNvSpPr txBox="1"/>
            <p:nvPr>
              <p:custDataLst>
                <p:tags r:id="rId9"/>
              </p:custDataLst>
            </p:nvPr>
          </p:nvSpPr>
          <p:spPr>
            <a:xfrm>
              <a:off x="4617720" y="2319532"/>
              <a:ext cx="2798064" cy="940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lang="en-US" sz="1200" dirty="0"/>
                <a:t>Each sentence becomes a search unit; retrieved evidence is verified with NLI and linked to a source. </a:t>
              </a:r>
              <a:endParaRPr sz="12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7F394D9-EC6B-EF79-949F-50ED5A982609}"/>
                </a:ext>
              </a:extLst>
            </p:cNvPr>
            <p:cNvSpPr txBox="1"/>
            <p:nvPr>
              <p:custDataLst>
                <p:tags r:id="rId10"/>
              </p:custDataLst>
            </p:nvPr>
          </p:nvSpPr>
          <p:spPr>
            <a:xfrm>
              <a:off x="4617720" y="1459560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FF8F00"/>
                  </a:solidFill>
                  <a:latin typeface="Arial" panose="020B0604020202020204"/>
                </a:defRPr>
              </a:pPr>
              <a:r>
                <a:rPr dirty="0"/>
                <a:t>STEP 02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57AA27-F1D9-3979-C406-A6EA2D7656BC}"/>
              </a:ext>
            </a:extLst>
          </p:cNvPr>
          <p:cNvGrpSpPr/>
          <p:nvPr/>
        </p:nvGrpSpPr>
        <p:grpSpPr>
          <a:xfrm>
            <a:off x="8152861" y="4884484"/>
            <a:ext cx="3353339" cy="1351409"/>
            <a:chOff x="8147304" y="1417319"/>
            <a:chExt cx="3209547" cy="2295409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64A65C6F-12FC-70D6-C539-B4EB3F3F4B17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8147304" y="1417319"/>
              <a:ext cx="3200400" cy="2295409"/>
            </a:xfrm>
            <a:prstGeom prst="roundRect">
              <a:avLst/>
            </a:prstGeom>
            <a:solidFill>
              <a:srgbClr val="F4F7FA"/>
            </a:solidFill>
            <a:ln w="12700">
              <a:solidFill>
                <a:srgbClr val="DCE2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898BC3F-C083-CC49-D9BC-E29896902ED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8156451" y="2133894"/>
              <a:ext cx="3200400" cy="54864"/>
            </a:xfrm>
            <a:prstGeom prst="rect">
              <a:avLst/>
            </a:prstGeom>
            <a:solidFill>
              <a:srgbClr val="279F60"/>
            </a:solidFill>
            <a:ln>
              <a:solidFill>
                <a:srgbClr val="279F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5B7621E-B49A-6C06-5391-40E8A49D49DA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8348472" y="1618488"/>
              <a:ext cx="2037812" cy="548906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1500" b="1" i="0">
                  <a:solidFill>
                    <a:srgbClr val="052646"/>
                  </a:solidFill>
                  <a:latin typeface="Arial" panose="020B0604020202020204"/>
                </a:defRPr>
              </a:pPr>
              <a:r>
                <a:rPr lang="en-US" dirty="0"/>
                <a:t>Chat-style inspection</a:t>
              </a:r>
              <a:endParaRPr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88EF95-9D32-D0E8-3973-C9D69D7F795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8348472" y="2319531"/>
              <a:ext cx="2798064" cy="1097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 b="0">
                  <a:solidFill>
                    <a:srgbClr val="5B6979"/>
                  </a:solidFill>
                  <a:latin typeface="Arial" panose="020B0604020202020204"/>
                </a:defRPr>
              </a:pPr>
              <a:r>
                <a:rPr lang="en-US" sz="1200" dirty="0"/>
                <a:t>The chat tab reuses cached pipeline results for sentiment, claims, and final summary. </a:t>
              </a:r>
              <a:endParaRPr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461405-CA25-04B4-5CF2-058BADCAA5EE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8348472" y="1458468"/>
              <a:ext cx="822960" cy="201168"/>
            </a:xfrm>
            <a:prstGeom prst="rect">
              <a:avLst/>
            </a:prstGeom>
            <a:noFill/>
          </p:spPr>
          <p:txBody>
            <a:bodyPr wrap="none" anchor="t">
              <a:spAutoFit/>
            </a:bodyPr>
            <a:lstStyle/>
            <a:p>
              <a:pPr algn="l">
                <a:defRPr sz="900" b="1" i="0">
                  <a:solidFill>
                    <a:srgbClr val="279F60"/>
                  </a:solidFill>
                  <a:latin typeface="Arial" panose="020B0604020202020204"/>
                </a:defRPr>
              </a:pPr>
              <a:r>
                <a:rPr dirty="0"/>
                <a:t>STEP 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3541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2646"/>
          </a:solidFill>
          <a:ln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91695" cy="18288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54864" cy="502920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20040"/>
            <a:ext cx="1078992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5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Future Work and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519672"/>
            <a:ext cx="27432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700" b="0" i="0">
                <a:solidFill>
                  <a:srgbClr val="5B6979"/>
                </a:solidFill>
                <a:latin typeface="Arial" panose="020B0604020202020204"/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750" y="1687287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6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Next improvements</a:t>
            </a:r>
          </a:p>
        </p:txBody>
      </p:sp>
      <p:sp>
        <p:nvSpPr>
          <p:cNvPr id="11" name="Oval 10"/>
          <p:cNvSpPr/>
          <p:nvPr/>
        </p:nvSpPr>
        <p:spPr>
          <a:xfrm>
            <a:off x="1182190" y="2190207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9622" y="2272503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9390" y="2171919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Better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9390" y="2446238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sentence selection, reranking, and source filtering</a:t>
            </a:r>
          </a:p>
        </p:txBody>
      </p:sp>
      <p:sp>
        <p:nvSpPr>
          <p:cNvPr id="15" name="Oval 14"/>
          <p:cNvSpPr/>
          <p:nvPr/>
        </p:nvSpPr>
        <p:spPr>
          <a:xfrm>
            <a:off x="1182190" y="2903438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9622" y="2985734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390" y="2885150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More validated NLI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9390" y="3159471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manual claim-evidence pairs for cleaner evaluation</a:t>
            </a:r>
          </a:p>
        </p:txBody>
      </p:sp>
      <p:sp>
        <p:nvSpPr>
          <p:cNvPr id="19" name="Oval 18"/>
          <p:cNvSpPr/>
          <p:nvPr/>
        </p:nvSpPr>
        <p:spPr>
          <a:xfrm>
            <a:off x="1182190" y="3616671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09622" y="3698967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9390" y="3598383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Confidence weighting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9390" y="3872703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rPr dirty="0"/>
              <a:t>calibrated aggregation instead of simple counting</a:t>
            </a:r>
          </a:p>
        </p:txBody>
      </p:sp>
      <p:sp>
        <p:nvSpPr>
          <p:cNvPr id="23" name="Oval 22"/>
          <p:cNvSpPr/>
          <p:nvPr/>
        </p:nvSpPr>
        <p:spPr>
          <a:xfrm>
            <a:off x="1182190" y="4329903"/>
            <a:ext cx="347472" cy="347472"/>
          </a:xfrm>
          <a:prstGeom prst="ellipse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09622" y="4412199"/>
            <a:ext cx="292608" cy="10972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800" b="1" i="0">
                <a:solidFill>
                  <a:srgbClr val="FFFFFF"/>
                </a:solidFill>
                <a:latin typeface="Arial" panose="020B0604020202020204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9390" y="4311615"/>
            <a:ext cx="274320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150" b="1" i="0">
                <a:solidFill>
                  <a:srgbClr val="052646"/>
                </a:solidFill>
                <a:latin typeface="Arial" panose="020B0604020202020204"/>
              </a:defRPr>
            </a:pPr>
            <a:r>
              <a:t>Longer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9390" y="4585935"/>
            <a:ext cx="3749039" cy="1554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850" b="0" i="0">
                <a:solidFill>
                  <a:srgbClr val="5B6979"/>
                </a:solidFill>
                <a:latin typeface="Arial" panose="020B0604020202020204"/>
              </a:defRPr>
            </a:pPr>
            <a:r>
              <a:t>multi-hop evidence and long article-body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1325880"/>
            <a:ext cx="5166360" cy="4114800"/>
          </a:xfrm>
          <a:prstGeom prst="roundRect">
            <a:avLst/>
          </a:prstGeom>
          <a:solidFill>
            <a:srgbClr val="F2F7FD"/>
          </a:solidFill>
          <a:ln w="12700"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1645920"/>
            <a:ext cx="4480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 i="0">
                <a:solidFill>
                  <a:srgbClr val="052646"/>
                </a:solidFill>
                <a:latin typeface="Arial" panose="020B0604020202020204"/>
              </a:defRPr>
            </a:pPr>
            <a:r>
              <a:t>Final message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2402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6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02241" y="2304041"/>
            <a:ext cx="894797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266FB4"/>
                </a:solidFill>
                <a:latin typeface="Arial" panose="020B0604020202020204"/>
              </a:defRPr>
            </a:pPr>
            <a:r>
              <a:rPr dirty="0"/>
              <a:t>BERT prior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9260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21904" y="2989841"/>
            <a:ext cx="1255472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FF8F00"/>
                </a:solidFill>
                <a:latin typeface="Arial" panose="020B0604020202020204"/>
              </a:defRPr>
            </a:pPr>
            <a:r>
              <a:t>GNews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6118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84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9267" y="3675641"/>
            <a:ext cx="1080745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7848DC"/>
                </a:solidFill>
                <a:latin typeface="Arial" panose="020B0604020202020204"/>
              </a:defRPr>
            </a:pPr>
            <a:r>
              <a:t>NLI reasoning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97680"/>
            <a:ext cx="43434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9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44158" y="4361441"/>
            <a:ext cx="1410963" cy="2539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50" b="1" i="0">
                <a:solidFill>
                  <a:srgbClr val="279F60"/>
                </a:solidFill>
                <a:latin typeface="Arial" panose="020B0604020202020204"/>
              </a:defRPr>
            </a:pPr>
            <a:r>
              <a:t>Explainable 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877943"/>
            <a:ext cx="448056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1" i="0">
                <a:solidFill>
                  <a:srgbClr val="052646"/>
                </a:solidFill>
                <a:latin typeface="Arial" panose="020B0604020202020204"/>
              </a:defRPr>
            </a:pPr>
            <a:r>
              <a:rPr sz="1100" dirty="0"/>
              <a:t>The system is a transparent evidence-based verification assistant, not a replacement for professional fact-checking.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26522"/>
            <a:ext cx="10378440" cy="578485"/>
          </a:xfrm>
          <a:prstGeom prst="roundRect">
            <a:avLst/>
          </a:prstGeom>
          <a:solidFill>
            <a:srgbClr val="052646"/>
          </a:solidFill>
          <a:ln w="12700">
            <a:solidFill>
              <a:srgbClr val="052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Conclusion</a:t>
            </a:r>
          </a:p>
          <a:p>
            <a:pPr algn="ctr"/>
            <a:r>
              <a:rPr lang="en-US" dirty="0"/>
              <a:t>Evidence-backed sentence verification is more transparent than pure article-level fake/real classification.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3.6,&quot;left&quot;:54,&quot;top&quot;:154.8,&quot;width&quot;:853.2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54.8,&quot;left&quot;:54,&quot;top&quot;:111.6,&quot;width&quot;:839.520000000000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1743</Words>
  <Application>Microsoft Macintosh PowerPoint</Application>
  <PresentationFormat>Widescreen</PresentationFormat>
  <Paragraphs>331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Zhang Yuxuan</cp:lastModifiedBy>
  <cp:revision>109</cp:revision>
  <dcterms:created xsi:type="dcterms:W3CDTF">2013-01-27T09:14:00Z</dcterms:created>
  <dcterms:modified xsi:type="dcterms:W3CDTF">2026-05-10T14:09:46Z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4CEF0E06BD024F0F8ACA6370FC369C81_13</vt:lpwstr>
  </property>
</Properties>
</file>